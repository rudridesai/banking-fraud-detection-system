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Times New Roman Bold" charset="1" panose="02020803070505020304"/>
      <p:regular r:id="rId23"/>
    </p:embeddedFont>
    <p:embeddedFont>
      <p:font typeface="Times New Roman" charset="1" panose="02020603050405020304"/>
      <p:regular r:id="rId24"/>
    </p:embeddedFont>
    <p:embeddedFont>
      <p:font typeface="Montserrat Bold" charset="1" panose="00000800000000000000"/>
      <p:regular r:id="rId25"/>
    </p:embeddedFont>
    <p:embeddedFont>
      <p:font typeface="Montserrat Italics" charset="1" panose="00000500000000000000"/>
      <p:regular r:id="rId26"/>
    </p:embeddedFont>
    <p:embeddedFont>
      <p:font typeface="Montserrat" charset="1" panose="00000500000000000000"/>
      <p:regular r:id="rId27"/>
    </p:embeddedFont>
    <p:embeddedFont>
      <p:font typeface="Inter Bold" charset="1" panose="02000503000000020004"/>
      <p:regular r:id="rId28"/>
    </p:embeddedFont>
    <p:embeddedFont>
      <p:font typeface="Inter" charset="1" panose="020005030000000200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media/image18.png" Type="http://schemas.openxmlformats.org/officeDocument/2006/relationships/image"/><Relationship Id="rId9" Target="../media/image1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sp>
        <p:nvSpPr>
          <p:cNvPr name="Freeform 2" id="2"/>
          <p:cNvSpPr/>
          <p:nvPr/>
        </p:nvSpPr>
        <p:spPr>
          <a:xfrm flipH="false" flipV="false" rot="0">
            <a:off x="128359" y="0"/>
            <a:ext cx="2413264" cy="2413264"/>
          </a:xfrm>
          <a:custGeom>
            <a:avLst/>
            <a:gdLst/>
            <a:ahLst/>
            <a:cxnLst/>
            <a:rect r="r" b="b" t="t" l="l"/>
            <a:pathLst>
              <a:path h="2413264" w="2413264">
                <a:moveTo>
                  <a:pt x="0" y="0"/>
                </a:moveTo>
                <a:lnTo>
                  <a:pt x="2413265" y="0"/>
                </a:lnTo>
                <a:lnTo>
                  <a:pt x="2413265" y="2413264"/>
                </a:lnTo>
                <a:lnTo>
                  <a:pt x="0" y="2413264"/>
                </a:lnTo>
                <a:lnTo>
                  <a:pt x="0" y="0"/>
                </a:lnTo>
                <a:close/>
              </a:path>
            </a:pathLst>
          </a:custGeom>
          <a:blipFill>
            <a:blip r:embed="rId2"/>
            <a:stretch>
              <a:fillRect l="0" t="0" r="0" b="0"/>
            </a:stretch>
          </a:blipFill>
        </p:spPr>
      </p:sp>
      <p:sp>
        <p:nvSpPr>
          <p:cNvPr name="Freeform 3" id="3"/>
          <p:cNvSpPr/>
          <p:nvPr/>
        </p:nvSpPr>
        <p:spPr>
          <a:xfrm flipH="false" flipV="false" rot="0">
            <a:off x="15863962" y="0"/>
            <a:ext cx="2424038" cy="2413264"/>
          </a:xfrm>
          <a:custGeom>
            <a:avLst/>
            <a:gdLst/>
            <a:ahLst/>
            <a:cxnLst/>
            <a:rect r="r" b="b" t="t" l="l"/>
            <a:pathLst>
              <a:path h="2413264" w="2424038">
                <a:moveTo>
                  <a:pt x="0" y="0"/>
                </a:moveTo>
                <a:lnTo>
                  <a:pt x="2424038" y="0"/>
                </a:lnTo>
                <a:lnTo>
                  <a:pt x="2424038" y="2413264"/>
                </a:lnTo>
                <a:lnTo>
                  <a:pt x="0" y="2413264"/>
                </a:lnTo>
                <a:lnTo>
                  <a:pt x="0" y="0"/>
                </a:lnTo>
                <a:close/>
              </a:path>
            </a:pathLst>
          </a:custGeom>
          <a:blipFill>
            <a:blip r:embed="rId3"/>
            <a:stretch>
              <a:fillRect l="0" t="0" r="0" b="0"/>
            </a:stretch>
          </a:blipFill>
        </p:spPr>
      </p:sp>
      <p:sp>
        <p:nvSpPr>
          <p:cNvPr name="TextBox 4" id="4"/>
          <p:cNvSpPr txBox="true"/>
          <p:nvPr/>
        </p:nvSpPr>
        <p:spPr>
          <a:xfrm rot="0">
            <a:off x="414807" y="666570"/>
            <a:ext cx="17006528" cy="351790"/>
          </a:xfrm>
          <a:prstGeom prst="rect">
            <a:avLst/>
          </a:prstGeom>
        </p:spPr>
        <p:txBody>
          <a:bodyPr anchor="t" rtlCol="false" tIns="0" lIns="0" bIns="0" rIns="0">
            <a:spAutoFit/>
          </a:bodyPr>
          <a:lstStyle/>
          <a:p>
            <a:pPr algn="ctr" marL="0" indent="0" lvl="0">
              <a:lnSpc>
                <a:spcPts val="2599"/>
              </a:lnSpc>
            </a:pPr>
            <a:r>
              <a:rPr lang="en-US" b="true" sz="2599">
                <a:solidFill>
                  <a:srgbClr val="1F1F1F"/>
                </a:solidFill>
                <a:latin typeface="Times New Roman Bold"/>
                <a:ea typeface="Times New Roman Bold"/>
                <a:cs typeface="Times New Roman Bold"/>
                <a:sym typeface="Times New Roman Bold"/>
              </a:rPr>
              <a:t>SARVAJANIK COLLEGE OF ENGINEERING AND TECHNOLOGY</a:t>
            </a:r>
          </a:p>
        </p:txBody>
      </p:sp>
      <p:sp>
        <p:nvSpPr>
          <p:cNvPr name="TextBox 5" id="5"/>
          <p:cNvSpPr txBox="true"/>
          <p:nvPr/>
        </p:nvSpPr>
        <p:spPr>
          <a:xfrm rot="0">
            <a:off x="3270111" y="923925"/>
            <a:ext cx="11747778" cy="781051"/>
          </a:xfrm>
          <a:prstGeom prst="rect">
            <a:avLst/>
          </a:prstGeom>
        </p:spPr>
        <p:txBody>
          <a:bodyPr anchor="t" rtlCol="false" tIns="0" lIns="0" bIns="0" rIns="0">
            <a:spAutoFit/>
          </a:bodyPr>
          <a:lstStyle/>
          <a:p>
            <a:pPr algn="ctr">
              <a:lnSpc>
                <a:spcPts val="6299"/>
              </a:lnSpc>
              <a:spcBef>
                <a:spcPct val="0"/>
              </a:spcBef>
            </a:pPr>
            <a:r>
              <a:rPr lang="en-US" b="true" sz="4499" u="sng">
                <a:solidFill>
                  <a:srgbClr val="1F1F1F"/>
                </a:solidFill>
                <a:latin typeface="Times New Roman Bold"/>
                <a:ea typeface="Times New Roman Bold"/>
                <a:cs typeface="Times New Roman Bold"/>
                <a:sym typeface="Times New Roman Bold"/>
              </a:rPr>
              <a:t>COMPUTER ENGINEERING DEPARTMENT</a:t>
            </a:r>
          </a:p>
        </p:txBody>
      </p:sp>
      <p:sp>
        <p:nvSpPr>
          <p:cNvPr name="TextBox 6" id="6"/>
          <p:cNvSpPr txBox="true"/>
          <p:nvPr/>
        </p:nvSpPr>
        <p:spPr>
          <a:xfrm rot="0">
            <a:off x="7207567" y="2097943"/>
            <a:ext cx="3872865" cy="1047750"/>
          </a:xfrm>
          <a:prstGeom prst="rect">
            <a:avLst/>
          </a:prstGeom>
        </p:spPr>
        <p:txBody>
          <a:bodyPr anchor="t" rtlCol="false" tIns="0" lIns="0" bIns="0" rIns="0">
            <a:spAutoFit/>
          </a:bodyPr>
          <a:lstStyle/>
          <a:p>
            <a:pPr algn="ctr">
              <a:lnSpc>
                <a:spcPts val="4479"/>
              </a:lnSpc>
            </a:pPr>
            <a:r>
              <a:rPr lang="en-US" sz="3199" b="true">
                <a:solidFill>
                  <a:srgbClr val="1F1F1F"/>
                </a:solidFill>
                <a:latin typeface="Times New Roman Bold"/>
                <a:ea typeface="Times New Roman Bold"/>
                <a:cs typeface="Times New Roman Bold"/>
                <a:sym typeface="Times New Roman Bold"/>
              </a:rPr>
              <a:t>B.TECH  III ,SEM-VI</a:t>
            </a:r>
          </a:p>
          <a:p>
            <a:pPr algn="ctr">
              <a:lnSpc>
                <a:spcPts val="3199"/>
              </a:lnSpc>
            </a:pPr>
            <a:r>
              <a:rPr lang="en-US" b="true" sz="3199">
                <a:solidFill>
                  <a:srgbClr val="1F1F1F"/>
                </a:solidFill>
                <a:latin typeface="Times New Roman Bold"/>
                <a:ea typeface="Times New Roman Bold"/>
                <a:cs typeface="Times New Roman Bold"/>
                <a:sym typeface="Times New Roman Bold"/>
              </a:rPr>
              <a:t>(EVEN-2026)</a:t>
            </a:r>
          </a:p>
        </p:txBody>
      </p:sp>
      <p:sp>
        <p:nvSpPr>
          <p:cNvPr name="TextBox 7" id="7"/>
          <p:cNvSpPr txBox="true"/>
          <p:nvPr/>
        </p:nvSpPr>
        <p:spPr>
          <a:xfrm rot="0">
            <a:off x="6402229" y="3896360"/>
            <a:ext cx="5483543" cy="1292225"/>
          </a:xfrm>
          <a:prstGeom prst="rect">
            <a:avLst/>
          </a:prstGeom>
        </p:spPr>
        <p:txBody>
          <a:bodyPr anchor="t" rtlCol="false" tIns="0" lIns="0" bIns="0" rIns="0">
            <a:spAutoFit/>
          </a:bodyPr>
          <a:lstStyle/>
          <a:p>
            <a:pPr algn="ctr">
              <a:lnSpc>
                <a:spcPts val="3639"/>
              </a:lnSpc>
            </a:pPr>
            <a:r>
              <a:rPr lang="en-US" sz="2599">
                <a:solidFill>
                  <a:srgbClr val="1F1F1F"/>
                </a:solidFill>
                <a:latin typeface="Times New Roman"/>
                <a:ea typeface="Times New Roman"/>
                <a:cs typeface="Times New Roman"/>
                <a:sym typeface="Times New Roman"/>
              </a:rPr>
              <a:t>Open Ended Problem (OEP) Presentation</a:t>
            </a:r>
          </a:p>
          <a:p>
            <a:pPr algn="ctr">
              <a:lnSpc>
                <a:spcPts val="2599"/>
              </a:lnSpc>
            </a:pPr>
            <a:r>
              <a:rPr lang="en-US" sz="2599">
                <a:solidFill>
                  <a:srgbClr val="1F1F1F"/>
                </a:solidFill>
                <a:latin typeface="Times New Roman"/>
                <a:ea typeface="Times New Roman"/>
                <a:cs typeface="Times New Roman"/>
                <a:sym typeface="Times New Roman"/>
              </a:rPr>
              <a:t>on</a:t>
            </a:r>
          </a:p>
          <a:p>
            <a:pPr algn="ctr">
              <a:lnSpc>
                <a:spcPts val="4059"/>
              </a:lnSpc>
              <a:spcBef>
                <a:spcPct val="0"/>
              </a:spcBef>
            </a:pPr>
            <a:r>
              <a:rPr lang="en-US" b="true" sz="2899">
                <a:solidFill>
                  <a:srgbClr val="1F1F1F"/>
                </a:solidFill>
                <a:latin typeface="Times New Roman Bold"/>
                <a:ea typeface="Times New Roman Bold"/>
                <a:cs typeface="Times New Roman Bold"/>
                <a:sym typeface="Times New Roman Bold"/>
              </a:rPr>
              <a:t>“</a:t>
            </a:r>
            <a:r>
              <a:rPr lang="en-US" b="true" sz="2899">
                <a:solidFill>
                  <a:srgbClr val="FF3131"/>
                </a:solidFill>
                <a:latin typeface="Times New Roman Bold"/>
                <a:ea typeface="Times New Roman Bold"/>
                <a:cs typeface="Times New Roman Bold"/>
                <a:sym typeface="Times New Roman Bold"/>
              </a:rPr>
              <a:t>Bank Fraud Detection System</a:t>
            </a:r>
            <a:r>
              <a:rPr lang="en-US" b="true" sz="2899">
                <a:solidFill>
                  <a:srgbClr val="1F1F1F"/>
                </a:solidFill>
                <a:latin typeface="Times New Roman Bold"/>
                <a:ea typeface="Times New Roman Bold"/>
                <a:cs typeface="Times New Roman Bold"/>
                <a:sym typeface="Times New Roman Bold"/>
              </a:rPr>
              <a:t>”  </a:t>
            </a:r>
          </a:p>
        </p:txBody>
      </p:sp>
      <p:sp>
        <p:nvSpPr>
          <p:cNvPr name="TextBox 8" id="8"/>
          <p:cNvSpPr txBox="true"/>
          <p:nvPr/>
        </p:nvSpPr>
        <p:spPr>
          <a:xfrm rot="0">
            <a:off x="5476101" y="5721735"/>
            <a:ext cx="7335798" cy="431800"/>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Times New Roman Bold"/>
                <a:ea typeface="Times New Roman Bold"/>
                <a:cs typeface="Times New Roman Bold"/>
                <a:sym typeface="Times New Roman Bold"/>
              </a:rPr>
              <a:t>Subject  Name :</a:t>
            </a:r>
            <a:r>
              <a:rPr lang="en-US" sz="2499">
                <a:solidFill>
                  <a:srgbClr val="000000"/>
                </a:solidFill>
                <a:latin typeface="Times New Roman"/>
                <a:ea typeface="Times New Roman"/>
                <a:cs typeface="Times New Roman"/>
                <a:sym typeface="Times New Roman"/>
              </a:rPr>
              <a:t> Python For Data Science (BTCO13602)</a:t>
            </a:r>
          </a:p>
        </p:txBody>
      </p:sp>
      <p:sp>
        <p:nvSpPr>
          <p:cNvPr name="TextBox 9" id="9"/>
          <p:cNvSpPr txBox="true"/>
          <p:nvPr/>
        </p:nvSpPr>
        <p:spPr>
          <a:xfrm rot="0">
            <a:off x="4116513" y="6734560"/>
            <a:ext cx="9603116" cy="3060700"/>
          </a:xfrm>
          <a:prstGeom prst="rect">
            <a:avLst/>
          </a:prstGeom>
        </p:spPr>
        <p:txBody>
          <a:bodyPr anchor="t" rtlCol="false" tIns="0" lIns="0" bIns="0" rIns="0">
            <a:spAutoFit/>
          </a:bodyPr>
          <a:lstStyle/>
          <a:p>
            <a:pPr algn="ctr">
              <a:lnSpc>
                <a:spcPts val="3499"/>
              </a:lnSpc>
            </a:pPr>
            <a:r>
              <a:rPr lang="en-US" b="true" sz="2499" u="sng">
                <a:solidFill>
                  <a:srgbClr val="000000"/>
                </a:solidFill>
                <a:latin typeface="Times New Roman Bold"/>
                <a:ea typeface="Times New Roman Bold"/>
                <a:cs typeface="Times New Roman Bold"/>
                <a:sym typeface="Times New Roman Bold"/>
              </a:rPr>
              <a:t>Prepared and Presented by (Group No . :</a:t>
            </a:r>
            <a:r>
              <a:rPr lang="en-US" b="true" sz="2499" u="sng">
                <a:solidFill>
                  <a:srgbClr val="FF3131"/>
                </a:solidFill>
                <a:latin typeface="Times New Roman Bold"/>
                <a:ea typeface="Times New Roman Bold"/>
                <a:cs typeface="Times New Roman Bold"/>
                <a:sym typeface="Times New Roman Bold"/>
              </a:rPr>
              <a:t> 6</a:t>
            </a:r>
            <a:r>
              <a:rPr lang="en-US" b="true" sz="2499" u="sng">
                <a:solidFill>
                  <a:srgbClr val="000000"/>
                </a:solidFill>
                <a:latin typeface="Times New Roman Bold"/>
                <a:ea typeface="Times New Roman Bold"/>
                <a:cs typeface="Times New Roman Bold"/>
                <a:sym typeface="Times New Roman Bold"/>
              </a:rPr>
              <a:t>)</a:t>
            </a:r>
          </a:p>
          <a:p>
            <a:pPr algn="ctr">
              <a:lnSpc>
                <a:spcPts val="3499"/>
              </a:lnSpc>
            </a:pPr>
            <a:r>
              <a:rPr lang="en-US" sz="2499">
                <a:solidFill>
                  <a:srgbClr val="000000"/>
                </a:solidFill>
                <a:latin typeface="Times New Roman"/>
                <a:ea typeface="Times New Roman"/>
                <a:cs typeface="Times New Roman"/>
                <a:sym typeface="Times New Roman"/>
              </a:rPr>
              <a:t>Rudri Desai (ET23BTCO008)</a:t>
            </a:r>
          </a:p>
          <a:p>
            <a:pPr algn="ctr">
              <a:lnSpc>
                <a:spcPts val="3499"/>
              </a:lnSpc>
            </a:pPr>
            <a:r>
              <a:rPr lang="en-US" sz="2499">
                <a:solidFill>
                  <a:srgbClr val="000000"/>
                </a:solidFill>
                <a:latin typeface="Times New Roman"/>
                <a:ea typeface="Times New Roman"/>
                <a:cs typeface="Times New Roman"/>
                <a:sym typeface="Times New Roman"/>
              </a:rPr>
              <a:t>Krisha Dhola (ET23BTCO009)</a:t>
            </a:r>
          </a:p>
          <a:p>
            <a:pPr algn="ctr">
              <a:lnSpc>
                <a:spcPts val="3499"/>
              </a:lnSpc>
            </a:pPr>
            <a:r>
              <a:rPr lang="en-US" sz="2499">
                <a:solidFill>
                  <a:srgbClr val="000000"/>
                </a:solidFill>
                <a:latin typeface="Times New Roman"/>
                <a:ea typeface="Times New Roman"/>
                <a:cs typeface="Times New Roman"/>
                <a:sym typeface="Times New Roman"/>
              </a:rPr>
              <a:t>Diya Patel (ET23BTCO010)</a:t>
            </a:r>
          </a:p>
          <a:p>
            <a:pPr algn="ctr">
              <a:lnSpc>
                <a:spcPts val="3499"/>
              </a:lnSpc>
            </a:pPr>
            <a:r>
              <a:rPr lang="en-US" sz="2499">
                <a:solidFill>
                  <a:srgbClr val="000000"/>
                </a:solidFill>
                <a:latin typeface="Times New Roman"/>
                <a:ea typeface="Times New Roman"/>
                <a:cs typeface="Times New Roman"/>
                <a:sym typeface="Times New Roman"/>
              </a:rPr>
              <a:t>Kavya Patel (ET23BTCO016)</a:t>
            </a:r>
          </a:p>
          <a:p>
            <a:pPr algn="ctr">
              <a:lnSpc>
                <a:spcPts val="3499"/>
              </a:lnSpc>
            </a:pPr>
            <a:r>
              <a:rPr lang="en-US" sz="2499">
                <a:solidFill>
                  <a:srgbClr val="000000"/>
                </a:solidFill>
                <a:latin typeface="Times New Roman"/>
                <a:ea typeface="Times New Roman"/>
                <a:cs typeface="Times New Roman"/>
                <a:sym typeface="Times New Roman"/>
              </a:rPr>
              <a:t>Masoom Parekh (ET23BTCO031)</a:t>
            </a:r>
          </a:p>
          <a:p>
            <a:pPr algn="ctr">
              <a:lnSpc>
                <a:spcPts val="3499"/>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sp>
        <p:nvSpPr>
          <p:cNvPr name="Freeform 2" id="2"/>
          <p:cNvSpPr/>
          <p:nvPr/>
        </p:nvSpPr>
        <p:spPr>
          <a:xfrm flipH="true" flipV="false" rot="0">
            <a:off x="16609617" y="462248"/>
            <a:ext cx="1223166" cy="2069972"/>
          </a:xfrm>
          <a:custGeom>
            <a:avLst/>
            <a:gdLst/>
            <a:ahLst/>
            <a:cxnLst/>
            <a:rect r="r" b="b" t="t" l="l"/>
            <a:pathLst>
              <a:path h="2069972" w="1223166">
                <a:moveTo>
                  <a:pt x="1223166" y="0"/>
                </a:moveTo>
                <a:lnTo>
                  <a:pt x="0" y="0"/>
                </a:lnTo>
                <a:lnTo>
                  <a:pt x="0" y="2069973"/>
                </a:lnTo>
                <a:lnTo>
                  <a:pt x="1223166" y="2069973"/>
                </a:lnTo>
                <a:lnTo>
                  <a:pt x="1223166"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51486" y="2532221"/>
            <a:ext cx="5925711" cy="789323"/>
            <a:chOff x="0" y="0"/>
            <a:chExt cx="7900948" cy="1052431"/>
          </a:xfrm>
        </p:grpSpPr>
        <p:grpSp>
          <p:nvGrpSpPr>
            <p:cNvPr name="Group 4" id="4"/>
            <p:cNvGrpSpPr/>
            <p:nvPr/>
          </p:nvGrpSpPr>
          <p:grpSpPr>
            <a:xfrm rot="0">
              <a:off x="0" y="0"/>
              <a:ext cx="7900948" cy="1052431"/>
              <a:chOff x="0" y="0"/>
              <a:chExt cx="1560681" cy="207888"/>
            </a:xfrm>
          </p:grpSpPr>
          <p:sp>
            <p:nvSpPr>
              <p:cNvPr name="Freeform 5" id="5"/>
              <p:cNvSpPr/>
              <p:nvPr/>
            </p:nvSpPr>
            <p:spPr>
              <a:xfrm flipH="false" flipV="false" rot="0">
                <a:off x="0" y="0"/>
                <a:ext cx="1560681" cy="207888"/>
              </a:xfrm>
              <a:custGeom>
                <a:avLst/>
                <a:gdLst/>
                <a:ahLst/>
                <a:cxnLst/>
                <a:rect r="r" b="b" t="t" l="l"/>
                <a:pathLst>
                  <a:path h="207888" w="1560681">
                    <a:moveTo>
                      <a:pt x="66631" y="0"/>
                    </a:moveTo>
                    <a:lnTo>
                      <a:pt x="1494050" y="0"/>
                    </a:lnTo>
                    <a:cubicBezTo>
                      <a:pt x="1511721" y="0"/>
                      <a:pt x="1528669" y="7020"/>
                      <a:pt x="1541165" y="19516"/>
                    </a:cubicBezTo>
                    <a:cubicBezTo>
                      <a:pt x="1553661" y="32012"/>
                      <a:pt x="1560681" y="48960"/>
                      <a:pt x="1560681" y="66631"/>
                    </a:cubicBezTo>
                    <a:lnTo>
                      <a:pt x="1560681" y="141256"/>
                    </a:lnTo>
                    <a:cubicBezTo>
                      <a:pt x="1560681" y="178056"/>
                      <a:pt x="1530849" y="207888"/>
                      <a:pt x="1494050" y="207888"/>
                    </a:cubicBezTo>
                    <a:lnTo>
                      <a:pt x="66631" y="207888"/>
                    </a:lnTo>
                    <a:cubicBezTo>
                      <a:pt x="29832" y="207888"/>
                      <a:pt x="0" y="178056"/>
                      <a:pt x="0" y="141256"/>
                    </a:cubicBezTo>
                    <a:lnTo>
                      <a:pt x="0" y="66631"/>
                    </a:lnTo>
                    <a:cubicBezTo>
                      <a:pt x="0" y="29832"/>
                      <a:pt x="29832" y="0"/>
                      <a:pt x="66631" y="0"/>
                    </a:cubicBezTo>
                    <a:close/>
                  </a:path>
                </a:pathLst>
              </a:custGeom>
              <a:solidFill>
                <a:srgbClr val="D1FAE5">
                  <a:alpha val="49804"/>
                </a:srgbClr>
              </a:solidFill>
              <a:ln w="47625" cap="rnd">
                <a:solidFill>
                  <a:srgbClr val="AE977F">
                    <a:alpha val="49804"/>
                  </a:srgbClr>
                </a:solidFill>
                <a:prstDash val="solid"/>
                <a:round/>
              </a:ln>
            </p:spPr>
          </p:sp>
          <p:sp>
            <p:nvSpPr>
              <p:cNvPr name="TextBox 6" id="6"/>
              <p:cNvSpPr txBox="true"/>
              <p:nvPr/>
            </p:nvSpPr>
            <p:spPr>
              <a:xfrm>
                <a:off x="0" y="-38100"/>
                <a:ext cx="1560681" cy="245988"/>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0" y="3610"/>
              <a:ext cx="7853764" cy="826135"/>
            </a:xfrm>
            <a:prstGeom prst="rect">
              <a:avLst/>
            </a:prstGeom>
          </p:spPr>
          <p:txBody>
            <a:bodyPr anchor="t" rtlCol="false" tIns="0" lIns="0" bIns="0" rIns="0">
              <a:spAutoFit/>
            </a:bodyPr>
            <a:lstStyle/>
            <a:p>
              <a:pPr algn="ctr">
                <a:lnSpc>
                  <a:spcPts val="5940"/>
                </a:lnSpc>
              </a:pPr>
              <a:r>
                <a:rPr lang="en-US" sz="3000" b="true">
                  <a:solidFill>
                    <a:srgbClr val="000000"/>
                  </a:solidFill>
                  <a:latin typeface="Montserrat Bold"/>
                  <a:ea typeface="Montserrat Bold"/>
                  <a:cs typeface="Montserrat Bold"/>
                  <a:sym typeface="Montserrat Bold"/>
                </a:rPr>
                <a:t>Topcis Covered</a:t>
              </a:r>
            </a:p>
          </p:txBody>
        </p:sp>
      </p:grpSp>
      <p:sp>
        <p:nvSpPr>
          <p:cNvPr name="Freeform 8" id="8"/>
          <p:cNvSpPr/>
          <p:nvPr/>
        </p:nvSpPr>
        <p:spPr>
          <a:xfrm flipH="false" flipV="true" rot="0">
            <a:off x="15241525" y="6724781"/>
            <a:ext cx="1223166" cy="2069972"/>
          </a:xfrm>
          <a:custGeom>
            <a:avLst/>
            <a:gdLst/>
            <a:ahLst/>
            <a:cxnLst/>
            <a:rect r="r" b="b" t="t" l="l"/>
            <a:pathLst>
              <a:path h="2069972" w="1223166">
                <a:moveTo>
                  <a:pt x="0" y="2069972"/>
                </a:moveTo>
                <a:lnTo>
                  <a:pt x="1223165" y="2069972"/>
                </a:lnTo>
                <a:lnTo>
                  <a:pt x="1223165" y="0"/>
                </a:lnTo>
                <a:lnTo>
                  <a:pt x="0" y="0"/>
                </a:lnTo>
                <a:lnTo>
                  <a:pt x="0" y="206997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184998" y="4606167"/>
            <a:ext cx="5892200" cy="789323"/>
            <a:chOff x="0" y="0"/>
            <a:chExt cx="7856266" cy="1052431"/>
          </a:xfrm>
        </p:grpSpPr>
        <p:grpSp>
          <p:nvGrpSpPr>
            <p:cNvPr name="Group 10" id="10"/>
            <p:cNvGrpSpPr/>
            <p:nvPr/>
          </p:nvGrpSpPr>
          <p:grpSpPr>
            <a:xfrm rot="0">
              <a:off x="185455" y="0"/>
              <a:ext cx="7670811" cy="1052431"/>
              <a:chOff x="0" y="0"/>
              <a:chExt cx="1515222" cy="207888"/>
            </a:xfrm>
          </p:grpSpPr>
          <p:sp>
            <p:nvSpPr>
              <p:cNvPr name="Freeform 11" id="11"/>
              <p:cNvSpPr/>
              <p:nvPr/>
            </p:nvSpPr>
            <p:spPr>
              <a:xfrm flipH="false" flipV="false" rot="0">
                <a:off x="0" y="0"/>
                <a:ext cx="1515222" cy="207888"/>
              </a:xfrm>
              <a:custGeom>
                <a:avLst/>
                <a:gdLst/>
                <a:ahLst/>
                <a:cxnLst/>
                <a:rect r="r" b="b" t="t" l="l"/>
                <a:pathLst>
                  <a:path h="207888" w="1515222">
                    <a:moveTo>
                      <a:pt x="68630" y="0"/>
                    </a:moveTo>
                    <a:lnTo>
                      <a:pt x="1446592" y="0"/>
                    </a:lnTo>
                    <a:cubicBezTo>
                      <a:pt x="1484495" y="0"/>
                      <a:pt x="1515222" y="30727"/>
                      <a:pt x="1515222" y="68630"/>
                    </a:cubicBezTo>
                    <a:lnTo>
                      <a:pt x="1515222" y="139257"/>
                    </a:lnTo>
                    <a:cubicBezTo>
                      <a:pt x="1515222" y="157459"/>
                      <a:pt x="1507991" y="174915"/>
                      <a:pt x="1495121" y="187786"/>
                    </a:cubicBezTo>
                    <a:cubicBezTo>
                      <a:pt x="1482250" y="200657"/>
                      <a:pt x="1464794" y="207888"/>
                      <a:pt x="1446592" y="207888"/>
                    </a:cubicBezTo>
                    <a:lnTo>
                      <a:pt x="68630" y="207888"/>
                    </a:lnTo>
                    <a:cubicBezTo>
                      <a:pt x="30727" y="207888"/>
                      <a:pt x="0" y="177161"/>
                      <a:pt x="0" y="139257"/>
                    </a:cubicBezTo>
                    <a:lnTo>
                      <a:pt x="0" y="68630"/>
                    </a:lnTo>
                    <a:cubicBezTo>
                      <a:pt x="0" y="30727"/>
                      <a:pt x="30727" y="0"/>
                      <a:pt x="68630" y="0"/>
                    </a:cubicBezTo>
                    <a:close/>
                  </a:path>
                </a:pathLst>
              </a:custGeom>
              <a:solidFill>
                <a:srgbClr val="D1FAE5">
                  <a:alpha val="49804"/>
                </a:srgbClr>
              </a:solidFill>
              <a:ln w="47625" cap="rnd">
                <a:solidFill>
                  <a:srgbClr val="AE977F">
                    <a:alpha val="49804"/>
                  </a:srgbClr>
                </a:solidFill>
                <a:prstDash val="solid"/>
                <a:round/>
              </a:ln>
            </p:spPr>
          </p:sp>
          <p:sp>
            <p:nvSpPr>
              <p:cNvPr name="TextBox 12" id="12"/>
              <p:cNvSpPr txBox="true"/>
              <p:nvPr/>
            </p:nvSpPr>
            <p:spPr>
              <a:xfrm>
                <a:off x="0" y="-38100"/>
                <a:ext cx="1515222" cy="24598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0" y="293258"/>
              <a:ext cx="7850070" cy="552450"/>
            </a:xfrm>
            <a:prstGeom prst="rect">
              <a:avLst/>
            </a:prstGeom>
          </p:spPr>
          <p:txBody>
            <a:bodyPr anchor="t" rtlCol="false" tIns="0" lIns="0" bIns="0" rIns="0">
              <a:spAutoFit/>
            </a:bodyPr>
            <a:lstStyle/>
            <a:p>
              <a:pPr algn="ctr">
                <a:lnSpc>
                  <a:spcPts val="3000"/>
                </a:lnSpc>
              </a:pPr>
              <a:r>
                <a:rPr lang="en-US" sz="3000" b="true">
                  <a:solidFill>
                    <a:srgbClr val="000000"/>
                  </a:solidFill>
                  <a:latin typeface="Montserrat Bold"/>
                  <a:ea typeface="Montserrat Bold"/>
                  <a:cs typeface="Montserrat Bold"/>
                  <a:sym typeface="Montserrat Bold"/>
                </a:rPr>
                <a:t>Exploratory Data Analysis</a:t>
              </a:r>
            </a:p>
          </p:txBody>
        </p:sp>
      </p:grpSp>
      <p:grpSp>
        <p:nvGrpSpPr>
          <p:cNvPr name="Group 14" id="14"/>
          <p:cNvGrpSpPr/>
          <p:nvPr/>
        </p:nvGrpSpPr>
        <p:grpSpPr>
          <a:xfrm rot="0">
            <a:off x="1238616" y="6680113"/>
            <a:ext cx="5838582" cy="789323"/>
            <a:chOff x="0" y="0"/>
            <a:chExt cx="7784776" cy="1052431"/>
          </a:xfrm>
        </p:grpSpPr>
        <p:grpSp>
          <p:nvGrpSpPr>
            <p:cNvPr name="Group 15" id="15"/>
            <p:cNvGrpSpPr/>
            <p:nvPr/>
          </p:nvGrpSpPr>
          <p:grpSpPr>
            <a:xfrm rot="0">
              <a:off x="0" y="0"/>
              <a:ext cx="7784776" cy="1052431"/>
              <a:chOff x="0" y="0"/>
              <a:chExt cx="1537733" cy="207888"/>
            </a:xfrm>
          </p:grpSpPr>
          <p:sp>
            <p:nvSpPr>
              <p:cNvPr name="Freeform 16" id="16"/>
              <p:cNvSpPr/>
              <p:nvPr/>
            </p:nvSpPr>
            <p:spPr>
              <a:xfrm flipH="false" flipV="false" rot="0">
                <a:off x="0" y="0"/>
                <a:ext cx="1537733" cy="207888"/>
              </a:xfrm>
              <a:custGeom>
                <a:avLst/>
                <a:gdLst/>
                <a:ahLst/>
                <a:cxnLst/>
                <a:rect r="r" b="b" t="t" l="l"/>
                <a:pathLst>
                  <a:path h="207888" w="1537733">
                    <a:moveTo>
                      <a:pt x="67626" y="0"/>
                    </a:moveTo>
                    <a:lnTo>
                      <a:pt x="1470108" y="0"/>
                    </a:lnTo>
                    <a:cubicBezTo>
                      <a:pt x="1507456" y="0"/>
                      <a:pt x="1537733" y="30277"/>
                      <a:pt x="1537733" y="67626"/>
                    </a:cubicBezTo>
                    <a:lnTo>
                      <a:pt x="1537733" y="140262"/>
                    </a:lnTo>
                    <a:cubicBezTo>
                      <a:pt x="1537733" y="177610"/>
                      <a:pt x="1507456" y="207888"/>
                      <a:pt x="1470108" y="207888"/>
                    </a:cubicBezTo>
                    <a:lnTo>
                      <a:pt x="67626" y="207888"/>
                    </a:lnTo>
                    <a:cubicBezTo>
                      <a:pt x="30277" y="207888"/>
                      <a:pt x="0" y="177610"/>
                      <a:pt x="0" y="140262"/>
                    </a:cubicBezTo>
                    <a:lnTo>
                      <a:pt x="0" y="67626"/>
                    </a:lnTo>
                    <a:cubicBezTo>
                      <a:pt x="0" y="30277"/>
                      <a:pt x="30277" y="0"/>
                      <a:pt x="67626" y="0"/>
                    </a:cubicBezTo>
                    <a:close/>
                  </a:path>
                </a:pathLst>
              </a:custGeom>
              <a:solidFill>
                <a:srgbClr val="D1FAE5">
                  <a:alpha val="49804"/>
                </a:srgbClr>
              </a:solidFill>
              <a:ln w="47625" cap="rnd">
                <a:solidFill>
                  <a:srgbClr val="AE977F">
                    <a:alpha val="49804"/>
                  </a:srgbClr>
                </a:solidFill>
                <a:prstDash val="solid"/>
                <a:round/>
              </a:ln>
            </p:spPr>
          </p:sp>
          <p:sp>
            <p:nvSpPr>
              <p:cNvPr name="TextBox 17" id="17"/>
              <p:cNvSpPr txBox="true"/>
              <p:nvPr/>
            </p:nvSpPr>
            <p:spPr>
              <a:xfrm>
                <a:off x="0" y="-38100"/>
                <a:ext cx="1537733" cy="24598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8" id="18"/>
            <p:cNvSpPr txBox="true"/>
            <p:nvPr/>
          </p:nvSpPr>
          <p:spPr>
            <a:xfrm rot="0">
              <a:off x="0" y="3610"/>
              <a:ext cx="7738285" cy="826135"/>
            </a:xfrm>
            <a:prstGeom prst="rect">
              <a:avLst/>
            </a:prstGeom>
          </p:spPr>
          <p:txBody>
            <a:bodyPr anchor="t" rtlCol="false" tIns="0" lIns="0" bIns="0" rIns="0">
              <a:spAutoFit/>
            </a:bodyPr>
            <a:lstStyle/>
            <a:p>
              <a:pPr algn="ctr">
                <a:lnSpc>
                  <a:spcPts val="5940"/>
                </a:lnSpc>
              </a:pPr>
              <a:r>
                <a:rPr lang="en-US" sz="3000" b="true">
                  <a:solidFill>
                    <a:srgbClr val="000000"/>
                  </a:solidFill>
                  <a:latin typeface="Montserrat Bold"/>
                  <a:ea typeface="Montserrat Bold"/>
                  <a:cs typeface="Montserrat Bold"/>
                  <a:sym typeface="Montserrat Bold"/>
                </a:rPr>
                <a:t>Prediction on Unseen Data</a:t>
              </a:r>
            </a:p>
          </p:txBody>
        </p:sp>
      </p:grpSp>
      <p:grpSp>
        <p:nvGrpSpPr>
          <p:cNvPr name="Group 19" id="19"/>
          <p:cNvGrpSpPr/>
          <p:nvPr/>
        </p:nvGrpSpPr>
        <p:grpSpPr>
          <a:xfrm rot="0">
            <a:off x="1151486" y="8754059"/>
            <a:ext cx="5925711" cy="789323"/>
            <a:chOff x="0" y="0"/>
            <a:chExt cx="7900948" cy="1052431"/>
          </a:xfrm>
        </p:grpSpPr>
        <p:grpSp>
          <p:nvGrpSpPr>
            <p:cNvPr name="Group 20" id="20"/>
            <p:cNvGrpSpPr/>
            <p:nvPr/>
          </p:nvGrpSpPr>
          <p:grpSpPr>
            <a:xfrm rot="0">
              <a:off x="186510" y="0"/>
              <a:ext cx="7714438" cy="1052431"/>
              <a:chOff x="0" y="0"/>
              <a:chExt cx="1523840" cy="207888"/>
            </a:xfrm>
          </p:grpSpPr>
          <p:sp>
            <p:nvSpPr>
              <p:cNvPr name="Freeform 21" id="21"/>
              <p:cNvSpPr/>
              <p:nvPr/>
            </p:nvSpPr>
            <p:spPr>
              <a:xfrm flipH="false" flipV="false" rot="0">
                <a:off x="0" y="0"/>
                <a:ext cx="1523840" cy="207888"/>
              </a:xfrm>
              <a:custGeom>
                <a:avLst/>
                <a:gdLst/>
                <a:ahLst/>
                <a:cxnLst/>
                <a:rect r="r" b="b" t="t" l="l"/>
                <a:pathLst>
                  <a:path h="207888" w="1523840">
                    <a:moveTo>
                      <a:pt x="68242" y="0"/>
                    </a:moveTo>
                    <a:lnTo>
                      <a:pt x="1455597" y="0"/>
                    </a:lnTo>
                    <a:cubicBezTo>
                      <a:pt x="1493287" y="0"/>
                      <a:pt x="1523840" y="30553"/>
                      <a:pt x="1523840" y="68242"/>
                    </a:cubicBezTo>
                    <a:lnTo>
                      <a:pt x="1523840" y="139645"/>
                    </a:lnTo>
                    <a:cubicBezTo>
                      <a:pt x="1523840" y="177334"/>
                      <a:pt x="1493287" y="207888"/>
                      <a:pt x="1455597" y="207888"/>
                    </a:cubicBezTo>
                    <a:lnTo>
                      <a:pt x="68242" y="207888"/>
                    </a:lnTo>
                    <a:cubicBezTo>
                      <a:pt x="30553" y="207888"/>
                      <a:pt x="0" y="177334"/>
                      <a:pt x="0" y="139645"/>
                    </a:cubicBezTo>
                    <a:lnTo>
                      <a:pt x="0" y="68242"/>
                    </a:lnTo>
                    <a:cubicBezTo>
                      <a:pt x="0" y="30553"/>
                      <a:pt x="30553" y="0"/>
                      <a:pt x="68242" y="0"/>
                    </a:cubicBezTo>
                    <a:close/>
                  </a:path>
                </a:pathLst>
              </a:custGeom>
              <a:solidFill>
                <a:srgbClr val="D1FAE5">
                  <a:alpha val="49804"/>
                </a:srgbClr>
              </a:solidFill>
              <a:ln w="47625" cap="rnd">
                <a:solidFill>
                  <a:srgbClr val="AE977F">
                    <a:alpha val="49804"/>
                  </a:srgbClr>
                </a:solidFill>
                <a:prstDash val="solid"/>
                <a:round/>
              </a:ln>
            </p:spPr>
          </p:sp>
          <p:sp>
            <p:nvSpPr>
              <p:cNvPr name="TextBox 22" id="22"/>
              <p:cNvSpPr txBox="true"/>
              <p:nvPr/>
            </p:nvSpPr>
            <p:spPr>
              <a:xfrm>
                <a:off x="0" y="-38100"/>
                <a:ext cx="1523840" cy="24598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3" id="23"/>
            <p:cNvSpPr txBox="true"/>
            <p:nvPr/>
          </p:nvSpPr>
          <p:spPr>
            <a:xfrm rot="0">
              <a:off x="0" y="17033"/>
              <a:ext cx="7761066" cy="826135"/>
            </a:xfrm>
            <a:prstGeom prst="rect">
              <a:avLst/>
            </a:prstGeom>
          </p:spPr>
          <p:txBody>
            <a:bodyPr anchor="t" rtlCol="false" tIns="0" lIns="0" bIns="0" rIns="0">
              <a:spAutoFit/>
            </a:bodyPr>
            <a:lstStyle/>
            <a:p>
              <a:pPr algn="ctr">
                <a:lnSpc>
                  <a:spcPts val="5940"/>
                </a:lnSpc>
              </a:pPr>
              <a:r>
                <a:rPr lang="en-US" b="true" sz="3000">
                  <a:solidFill>
                    <a:srgbClr val="000000"/>
                  </a:solidFill>
                  <a:latin typeface="Montserrat Bold"/>
                  <a:ea typeface="Montserrat Bold"/>
                  <a:cs typeface="Montserrat Bold"/>
                  <a:sym typeface="Montserrat Bold"/>
                </a:rPr>
                <a:t>Conclusion</a:t>
              </a:r>
            </a:p>
          </p:txBody>
        </p:sp>
      </p:grpSp>
      <p:grpSp>
        <p:nvGrpSpPr>
          <p:cNvPr name="Group 24" id="24"/>
          <p:cNvGrpSpPr/>
          <p:nvPr/>
        </p:nvGrpSpPr>
        <p:grpSpPr>
          <a:xfrm rot="0">
            <a:off x="1184998" y="1497235"/>
            <a:ext cx="5892200" cy="789323"/>
            <a:chOff x="0" y="0"/>
            <a:chExt cx="7856266" cy="1052431"/>
          </a:xfrm>
        </p:grpSpPr>
        <p:grpSp>
          <p:nvGrpSpPr>
            <p:cNvPr name="Group 25" id="25"/>
            <p:cNvGrpSpPr/>
            <p:nvPr/>
          </p:nvGrpSpPr>
          <p:grpSpPr>
            <a:xfrm rot="0">
              <a:off x="0" y="0"/>
              <a:ext cx="7809903" cy="1052431"/>
              <a:chOff x="0" y="0"/>
              <a:chExt cx="1542697" cy="207888"/>
            </a:xfrm>
          </p:grpSpPr>
          <p:sp>
            <p:nvSpPr>
              <p:cNvPr name="Freeform 26" id="26"/>
              <p:cNvSpPr/>
              <p:nvPr/>
            </p:nvSpPr>
            <p:spPr>
              <a:xfrm flipH="false" flipV="false" rot="0">
                <a:off x="0" y="0"/>
                <a:ext cx="1542697" cy="207888"/>
              </a:xfrm>
              <a:custGeom>
                <a:avLst/>
                <a:gdLst/>
                <a:ahLst/>
                <a:cxnLst/>
                <a:rect r="r" b="b" t="t" l="l"/>
                <a:pathLst>
                  <a:path h="207888" w="1542697">
                    <a:moveTo>
                      <a:pt x="67408" y="0"/>
                    </a:moveTo>
                    <a:lnTo>
                      <a:pt x="1475289" y="0"/>
                    </a:lnTo>
                    <a:cubicBezTo>
                      <a:pt x="1493167" y="0"/>
                      <a:pt x="1510312" y="7102"/>
                      <a:pt x="1522953" y="19743"/>
                    </a:cubicBezTo>
                    <a:cubicBezTo>
                      <a:pt x="1535595" y="32385"/>
                      <a:pt x="1542697" y="49530"/>
                      <a:pt x="1542697" y="67408"/>
                    </a:cubicBezTo>
                    <a:lnTo>
                      <a:pt x="1542697" y="140479"/>
                    </a:lnTo>
                    <a:cubicBezTo>
                      <a:pt x="1542697" y="158357"/>
                      <a:pt x="1535595" y="175503"/>
                      <a:pt x="1522953" y="188144"/>
                    </a:cubicBezTo>
                    <a:cubicBezTo>
                      <a:pt x="1510312" y="200786"/>
                      <a:pt x="1493167" y="207888"/>
                      <a:pt x="1475289" y="207888"/>
                    </a:cubicBezTo>
                    <a:lnTo>
                      <a:pt x="67408" y="207888"/>
                    </a:lnTo>
                    <a:cubicBezTo>
                      <a:pt x="49530" y="207888"/>
                      <a:pt x="32385" y="200786"/>
                      <a:pt x="19743" y="188144"/>
                    </a:cubicBezTo>
                    <a:cubicBezTo>
                      <a:pt x="7102" y="175503"/>
                      <a:pt x="0" y="158357"/>
                      <a:pt x="0" y="140479"/>
                    </a:cubicBezTo>
                    <a:lnTo>
                      <a:pt x="0" y="67408"/>
                    </a:lnTo>
                    <a:cubicBezTo>
                      <a:pt x="0" y="49530"/>
                      <a:pt x="7102" y="32385"/>
                      <a:pt x="19743" y="19743"/>
                    </a:cubicBezTo>
                    <a:cubicBezTo>
                      <a:pt x="32385" y="7102"/>
                      <a:pt x="49530" y="0"/>
                      <a:pt x="67408" y="0"/>
                    </a:cubicBezTo>
                    <a:close/>
                  </a:path>
                </a:pathLst>
              </a:custGeom>
              <a:ln w="47625" cap="rnd">
                <a:solidFill>
                  <a:srgbClr val="AE977F"/>
                </a:solidFill>
                <a:prstDash val="solid"/>
                <a:round/>
              </a:ln>
            </p:spPr>
          </p:sp>
          <p:sp>
            <p:nvSpPr>
              <p:cNvPr name="TextBox 27" id="27"/>
              <p:cNvSpPr txBox="true"/>
              <p:nvPr/>
            </p:nvSpPr>
            <p:spPr>
              <a:xfrm>
                <a:off x="0" y="-38100"/>
                <a:ext cx="1542697" cy="245988"/>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139091" y="20430"/>
              <a:ext cx="7717175" cy="826135"/>
            </a:xfrm>
            <a:prstGeom prst="rect">
              <a:avLst/>
            </a:prstGeom>
          </p:spPr>
          <p:txBody>
            <a:bodyPr anchor="t" rtlCol="false" tIns="0" lIns="0" bIns="0" rIns="0">
              <a:spAutoFit/>
            </a:bodyPr>
            <a:lstStyle/>
            <a:p>
              <a:pPr algn="ctr">
                <a:lnSpc>
                  <a:spcPts val="5940"/>
                </a:lnSpc>
              </a:pPr>
              <a:r>
                <a:rPr lang="en-US" b="true" sz="3000">
                  <a:solidFill>
                    <a:srgbClr val="000000"/>
                  </a:solidFill>
                  <a:latin typeface="Montserrat Bold"/>
                  <a:ea typeface="Montserrat Bold"/>
                  <a:cs typeface="Montserrat Bold"/>
                  <a:sym typeface="Montserrat Bold"/>
                </a:rPr>
                <a:t>Introduction</a:t>
              </a:r>
            </a:p>
          </p:txBody>
        </p:sp>
      </p:grpSp>
      <p:grpSp>
        <p:nvGrpSpPr>
          <p:cNvPr name="Group 29" id="29"/>
          <p:cNvGrpSpPr/>
          <p:nvPr/>
        </p:nvGrpSpPr>
        <p:grpSpPr>
          <a:xfrm rot="0">
            <a:off x="1164891" y="3569194"/>
            <a:ext cx="5912306" cy="789323"/>
            <a:chOff x="0" y="0"/>
            <a:chExt cx="7883075" cy="1052431"/>
          </a:xfrm>
        </p:grpSpPr>
        <p:grpSp>
          <p:nvGrpSpPr>
            <p:cNvPr name="Group 30" id="30"/>
            <p:cNvGrpSpPr/>
            <p:nvPr/>
          </p:nvGrpSpPr>
          <p:grpSpPr>
            <a:xfrm rot="0">
              <a:off x="93596" y="0"/>
              <a:ext cx="7789479" cy="1052431"/>
              <a:chOff x="0" y="0"/>
              <a:chExt cx="1538663" cy="207888"/>
            </a:xfrm>
          </p:grpSpPr>
          <p:sp>
            <p:nvSpPr>
              <p:cNvPr name="Freeform 31" id="31"/>
              <p:cNvSpPr/>
              <p:nvPr/>
            </p:nvSpPr>
            <p:spPr>
              <a:xfrm flipH="false" flipV="false" rot="0">
                <a:off x="0" y="0"/>
                <a:ext cx="1538663" cy="207888"/>
              </a:xfrm>
              <a:custGeom>
                <a:avLst/>
                <a:gdLst/>
                <a:ahLst/>
                <a:cxnLst/>
                <a:rect r="r" b="b" t="t" l="l"/>
                <a:pathLst>
                  <a:path h="207888" w="1538663">
                    <a:moveTo>
                      <a:pt x="67585" y="0"/>
                    </a:moveTo>
                    <a:lnTo>
                      <a:pt x="1471078" y="0"/>
                    </a:lnTo>
                    <a:cubicBezTo>
                      <a:pt x="1489002" y="0"/>
                      <a:pt x="1506193" y="7121"/>
                      <a:pt x="1518867" y="19795"/>
                    </a:cubicBezTo>
                    <a:cubicBezTo>
                      <a:pt x="1531542" y="32470"/>
                      <a:pt x="1538663" y="49660"/>
                      <a:pt x="1538663" y="67585"/>
                    </a:cubicBezTo>
                    <a:lnTo>
                      <a:pt x="1538663" y="140303"/>
                    </a:lnTo>
                    <a:cubicBezTo>
                      <a:pt x="1538663" y="158227"/>
                      <a:pt x="1531542" y="175418"/>
                      <a:pt x="1518867" y="188092"/>
                    </a:cubicBezTo>
                    <a:cubicBezTo>
                      <a:pt x="1506193" y="200767"/>
                      <a:pt x="1489002" y="207888"/>
                      <a:pt x="1471078" y="207888"/>
                    </a:cubicBezTo>
                    <a:lnTo>
                      <a:pt x="67585" y="207888"/>
                    </a:lnTo>
                    <a:cubicBezTo>
                      <a:pt x="30259" y="207888"/>
                      <a:pt x="0" y="177629"/>
                      <a:pt x="0" y="140303"/>
                    </a:cubicBezTo>
                    <a:lnTo>
                      <a:pt x="0" y="67585"/>
                    </a:lnTo>
                    <a:cubicBezTo>
                      <a:pt x="0" y="49660"/>
                      <a:pt x="7121" y="32470"/>
                      <a:pt x="19795" y="19795"/>
                    </a:cubicBezTo>
                    <a:cubicBezTo>
                      <a:pt x="32470" y="7121"/>
                      <a:pt x="49660" y="0"/>
                      <a:pt x="67585" y="0"/>
                    </a:cubicBezTo>
                    <a:close/>
                  </a:path>
                </a:pathLst>
              </a:custGeom>
              <a:ln w="47625" cap="rnd">
                <a:solidFill>
                  <a:srgbClr val="AE977F"/>
                </a:solidFill>
                <a:prstDash val="solid"/>
                <a:round/>
              </a:ln>
            </p:spPr>
          </p:sp>
          <p:sp>
            <p:nvSpPr>
              <p:cNvPr name="TextBox 32" id="32"/>
              <p:cNvSpPr txBox="true"/>
              <p:nvPr/>
            </p:nvSpPr>
            <p:spPr>
              <a:xfrm>
                <a:off x="0" y="-38100"/>
                <a:ext cx="1538663" cy="245988"/>
              </a:xfrm>
              <a:prstGeom prst="rect">
                <a:avLst/>
              </a:prstGeom>
            </p:spPr>
            <p:txBody>
              <a:bodyPr anchor="ctr" rtlCol="false" tIns="50800" lIns="50800" bIns="50800" rIns="50800"/>
              <a:lstStyle/>
              <a:p>
                <a:pPr algn="ctr">
                  <a:lnSpc>
                    <a:spcPts val="2659"/>
                  </a:lnSpc>
                </a:pPr>
              </a:p>
            </p:txBody>
          </p:sp>
        </p:grpSp>
        <p:sp>
          <p:nvSpPr>
            <p:cNvPr name="TextBox 33" id="33"/>
            <p:cNvSpPr txBox="true"/>
            <p:nvPr/>
          </p:nvSpPr>
          <p:spPr>
            <a:xfrm rot="0">
              <a:off x="0" y="317935"/>
              <a:ext cx="7789479" cy="552450"/>
            </a:xfrm>
            <a:prstGeom prst="rect">
              <a:avLst/>
            </a:prstGeom>
          </p:spPr>
          <p:txBody>
            <a:bodyPr anchor="t" rtlCol="false" tIns="0" lIns="0" bIns="0" rIns="0">
              <a:spAutoFit/>
            </a:bodyPr>
            <a:lstStyle/>
            <a:p>
              <a:pPr algn="ctr">
                <a:lnSpc>
                  <a:spcPts val="3000"/>
                </a:lnSpc>
              </a:pPr>
              <a:r>
                <a:rPr lang="en-US" sz="3000" b="true">
                  <a:solidFill>
                    <a:srgbClr val="000000"/>
                  </a:solidFill>
                  <a:latin typeface="Montserrat Bold"/>
                  <a:ea typeface="Montserrat Bold"/>
                  <a:cs typeface="Montserrat Bold"/>
                  <a:sym typeface="Montserrat Bold"/>
                </a:rPr>
                <a:t>Dataset Overview</a:t>
              </a:r>
            </a:p>
          </p:txBody>
        </p:sp>
      </p:grpSp>
      <p:grpSp>
        <p:nvGrpSpPr>
          <p:cNvPr name="Group 34" id="34"/>
          <p:cNvGrpSpPr/>
          <p:nvPr/>
        </p:nvGrpSpPr>
        <p:grpSpPr>
          <a:xfrm rot="0">
            <a:off x="1184998" y="5643140"/>
            <a:ext cx="5892200" cy="789323"/>
            <a:chOff x="0" y="0"/>
            <a:chExt cx="7856266" cy="1052431"/>
          </a:xfrm>
        </p:grpSpPr>
        <p:grpSp>
          <p:nvGrpSpPr>
            <p:cNvPr name="Group 35" id="35"/>
            <p:cNvGrpSpPr/>
            <p:nvPr/>
          </p:nvGrpSpPr>
          <p:grpSpPr>
            <a:xfrm rot="0">
              <a:off x="0" y="0"/>
              <a:ext cx="7856266" cy="1052431"/>
              <a:chOff x="0" y="0"/>
              <a:chExt cx="1551855" cy="207888"/>
            </a:xfrm>
          </p:grpSpPr>
          <p:sp>
            <p:nvSpPr>
              <p:cNvPr name="Freeform 36" id="36"/>
              <p:cNvSpPr/>
              <p:nvPr/>
            </p:nvSpPr>
            <p:spPr>
              <a:xfrm flipH="false" flipV="false" rot="0">
                <a:off x="0" y="0"/>
                <a:ext cx="1551855" cy="207888"/>
              </a:xfrm>
              <a:custGeom>
                <a:avLst/>
                <a:gdLst/>
                <a:ahLst/>
                <a:cxnLst/>
                <a:rect r="r" b="b" t="t" l="l"/>
                <a:pathLst>
                  <a:path h="207888" w="1551855">
                    <a:moveTo>
                      <a:pt x="67010" y="0"/>
                    </a:moveTo>
                    <a:lnTo>
                      <a:pt x="1484845" y="0"/>
                    </a:lnTo>
                    <a:cubicBezTo>
                      <a:pt x="1521854" y="0"/>
                      <a:pt x="1551855" y="30002"/>
                      <a:pt x="1551855" y="67010"/>
                    </a:cubicBezTo>
                    <a:lnTo>
                      <a:pt x="1551855" y="140877"/>
                    </a:lnTo>
                    <a:cubicBezTo>
                      <a:pt x="1551855" y="177886"/>
                      <a:pt x="1521854" y="207888"/>
                      <a:pt x="1484845" y="207888"/>
                    </a:cubicBezTo>
                    <a:lnTo>
                      <a:pt x="67010" y="207888"/>
                    </a:lnTo>
                    <a:cubicBezTo>
                      <a:pt x="30002" y="207888"/>
                      <a:pt x="0" y="177886"/>
                      <a:pt x="0" y="140877"/>
                    </a:cubicBezTo>
                    <a:lnTo>
                      <a:pt x="0" y="67010"/>
                    </a:lnTo>
                    <a:cubicBezTo>
                      <a:pt x="0" y="30002"/>
                      <a:pt x="30002" y="0"/>
                      <a:pt x="67010" y="0"/>
                    </a:cubicBezTo>
                    <a:close/>
                  </a:path>
                </a:pathLst>
              </a:custGeom>
              <a:ln w="47625" cap="rnd">
                <a:solidFill>
                  <a:srgbClr val="AE977F"/>
                </a:solidFill>
                <a:prstDash val="solid"/>
                <a:round/>
              </a:ln>
            </p:spPr>
          </p:sp>
          <p:sp>
            <p:nvSpPr>
              <p:cNvPr name="TextBox 37" id="37"/>
              <p:cNvSpPr txBox="true"/>
              <p:nvPr/>
            </p:nvSpPr>
            <p:spPr>
              <a:xfrm>
                <a:off x="0" y="-38100"/>
                <a:ext cx="1551855" cy="245988"/>
              </a:xfrm>
              <a:prstGeom prst="rect">
                <a:avLst/>
              </a:prstGeom>
            </p:spPr>
            <p:txBody>
              <a:bodyPr anchor="ctr" rtlCol="false" tIns="50800" lIns="50800" bIns="50800" rIns="50800"/>
              <a:lstStyle/>
              <a:p>
                <a:pPr algn="ctr">
                  <a:lnSpc>
                    <a:spcPts val="2659"/>
                  </a:lnSpc>
                </a:pPr>
              </a:p>
            </p:txBody>
          </p:sp>
        </p:grpSp>
        <p:sp>
          <p:nvSpPr>
            <p:cNvPr name="TextBox 38" id="38"/>
            <p:cNvSpPr txBox="true"/>
            <p:nvPr/>
          </p:nvSpPr>
          <p:spPr>
            <a:xfrm rot="0">
              <a:off x="93278" y="17033"/>
              <a:ext cx="7762988" cy="826135"/>
            </a:xfrm>
            <a:prstGeom prst="rect">
              <a:avLst/>
            </a:prstGeom>
          </p:spPr>
          <p:txBody>
            <a:bodyPr anchor="t" rtlCol="false" tIns="0" lIns="0" bIns="0" rIns="0">
              <a:spAutoFit/>
            </a:bodyPr>
            <a:lstStyle/>
            <a:p>
              <a:pPr algn="ctr">
                <a:lnSpc>
                  <a:spcPts val="5940"/>
                </a:lnSpc>
              </a:pPr>
              <a:r>
                <a:rPr lang="en-US" sz="3000" b="true">
                  <a:solidFill>
                    <a:srgbClr val="000000"/>
                  </a:solidFill>
                  <a:latin typeface="Montserrat Bold"/>
                  <a:ea typeface="Montserrat Bold"/>
                  <a:cs typeface="Montserrat Bold"/>
                  <a:sym typeface="Montserrat Bold"/>
                </a:rPr>
                <a:t>Model Implementation</a:t>
              </a:r>
            </a:p>
          </p:txBody>
        </p:sp>
      </p:grpSp>
      <p:grpSp>
        <p:nvGrpSpPr>
          <p:cNvPr name="Group 39" id="39"/>
          <p:cNvGrpSpPr/>
          <p:nvPr/>
        </p:nvGrpSpPr>
        <p:grpSpPr>
          <a:xfrm rot="0">
            <a:off x="1184998" y="7717086"/>
            <a:ext cx="5892200" cy="789323"/>
            <a:chOff x="0" y="0"/>
            <a:chExt cx="7856266" cy="1052431"/>
          </a:xfrm>
        </p:grpSpPr>
        <p:grpSp>
          <p:nvGrpSpPr>
            <p:cNvPr name="Group 40" id="40"/>
            <p:cNvGrpSpPr/>
            <p:nvPr/>
          </p:nvGrpSpPr>
          <p:grpSpPr>
            <a:xfrm rot="0">
              <a:off x="93278" y="0"/>
              <a:ext cx="7762988" cy="1052431"/>
              <a:chOff x="0" y="0"/>
              <a:chExt cx="1533430" cy="207888"/>
            </a:xfrm>
          </p:grpSpPr>
          <p:sp>
            <p:nvSpPr>
              <p:cNvPr name="Freeform 41" id="41"/>
              <p:cNvSpPr/>
              <p:nvPr/>
            </p:nvSpPr>
            <p:spPr>
              <a:xfrm flipH="false" flipV="false" rot="0">
                <a:off x="0" y="0"/>
                <a:ext cx="1533430" cy="207888"/>
              </a:xfrm>
              <a:custGeom>
                <a:avLst/>
                <a:gdLst/>
                <a:ahLst/>
                <a:cxnLst/>
                <a:rect r="r" b="b" t="t" l="l"/>
                <a:pathLst>
                  <a:path h="207888" w="1533430">
                    <a:moveTo>
                      <a:pt x="67815" y="0"/>
                    </a:moveTo>
                    <a:lnTo>
                      <a:pt x="1465614" y="0"/>
                    </a:lnTo>
                    <a:cubicBezTo>
                      <a:pt x="1483600" y="0"/>
                      <a:pt x="1500849" y="7145"/>
                      <a:pt x="1513567" y="19863"/>
                    </a:cubicBezTo>
                    <a:cubicBezTo>
                      <a:pt x="1526285" y="32581"/>
                      <a:pt x="1533430" y="49830"/>
                      <a:pt x="1533430" y="67815"/>
                    </a:cubicBezTo>
                    <a:lnTo>
                      <a:pt x="1533430" y="140072"/>
                    </a:lnTo>
                    <a:cubicBezTo>
                      <a:pt x="1533430" y="177526"/>
                      <a:pt x="1503068" y="207888"/>
                      <a:pt x="1465614" y="207888"/>
                    </a:cubicBezTo>
                    <a:lnTo>
                      <a:pt x="67815" y="207888"/>
                    </a:lnTo>
                    <a:cubicBezTo>
                      <a:pt x="30362" y="207888"/>
                      <a:pt x="0" y="177526"/>
                      <a:pt x="0" y="140072"/>
                    </a:cubicBezTo>
                    <a:lnTo>
                      <a:pt x="0" y="67815"/>
                    </a:lnTo>
                    <a:cubicBezTo>
                      <a:pt x="0" y="30362"/>
                      <a:pt x="30362" y="0"/>
                      <a:pt x="67815" y="0"/>
                    </a:cubicBezTo>
                    <a:close/>
                  </a:path>
                </a:pathLst>
              </a:custGeom>
              <a:ln w="47625" cap="rnd">
                <a:solidFill>
                  <a:srgbClr val="AE977F"/>
                </a:solidFill>
                <a:prstDash val="solid"/>
                <a:round/>
              </a:ln>
            </p:spPr>
          </p:sp>
          <p:sp>
            <p:nvSpPr>
              <p:cNvPr name="TextBox 42" id="42"/>
              <p:cNvSpPr txBox="true"/>
              <p:nvPr/>
            </p:nvSpPr>
            <p:spPr>
              <a:xfrm>
                <a:off x="0" y="-38100"/>
                <a:ext cx="1533430" cy="245988"/>
              </a:xfrm>
              <a:prstGeom prst="rect">
                <a:avLst/>
              </a:prstGeom>
            </p:spPr>
            <p:txBody>
              <a:bodyPr anchor="ctr" rtlCol="false" tIns="50800" lIns="50800" bIns="50800" rIns="50800"/>
              <a:lstStyle/>
              <a:p>
                <a:pPr algn="ctr">
                  <a:lnSpc>
                    <a:spcPts val="2659"/>
                  </a:lnSpc>
                </a:pPr>
              </a:p>
            </p:txBody>
          </p:sp>
        </p:grpSp>
        <p:sp>
          <p:nvSpPr>
            <p:cNvPr name="TextBox 43" id="43"/>
            <p:cNvSpPr txBox="true"/>
            <p:nvPr/>
          </p:nvSpPr>
          <p:spPr>
            <a:xfrm rot="0">
              <a:off x="0" y="41710"/>
              <a:ext cx="7762988" cy="826135"/>
            </a:xfrm>
            <a:prstGeom prst="rect">
              <a:avLst/>
            </a:prstGeom>
          </p:spPr>
          <p:txBody>
            <a:bodyPr anchor="t" rtlCol="false" tIns="0" lIns="0" bIns="0" rIns="0">
              <a:spAutoFit/>
            </a:bodyPr>
            <a:lstStyle/>
            <a:p>
              <a:pPr algn="ctr">
                <a:lnSpc>
                  <a:spcPts val="5940"/>
                </a:lnSpc>
              </a:pPr>
              <a:r>
                <a:rPr lang="en-US" sz="3000" b="true">
                  <a:solidFill>
                    <a:srgbClr val="000000"/>
                  </a:solidFill>
                  <a:latin typeface="Montserrat Bold"/>
                  <a:ea typeface="Montserrat Bold"/>
                  <a:cs typeface="Montserrat Bold"/>
                  <a:sym typeface="Montserrat Bold"/>
                </a:rPr>
                <a:t>Observations</a:t>
              </a:r>
            </a:p>
          </p:txBody>
        </p:sp>
      </p:grpSp>
      <p:sp>
        <p:nvSpPr>
          <p:cNvPr name="TextBox 44" id="44"/>
          <p:cNvSpPr txBox="true"/>
          <p:nvPr/>
        </p:nvSpPr>
        <p:spPr>
          <a:xfrm rot="0">
            <a:off x="183557" y="241300"/>
            <a:ext cx="8056624" cy="869950"/>
          </a:xfrm>
          <a:prstGeom prst="rect">
            <a:avLst/>
          </a:prstGeom>
        </p:spPr>
        <p:txBody>
          <a:bodyPr anchor="t" rtlCol="false" tIns="0" lIns="0" bIns="0" rIns="0">
            <a:spAutoFit/>
          </a:bodyPr>
          <a:lstStyle/>
          <a:p>
            <a:pPr algn="ctr">
              <a:lnSpc>
                <a:spcPts val="6500"/>
              </a:lnSpc>
            </a:pPr>
            <a:r>
              <a:rPr lang="en-US" b="true" sz="6500">
                <a:solidFill>
                  <a:srgbClr val="000000"/>
                </a:solidFill>
                <a:latin typeface="Montserrat Bold"/>
                <a:ea typeface="Montserrat Bold"/>
                <a:cs typeface="Montserrat Bold"/>
                <a:sym typeface="Montserrat Bold"/>
              </a:rPr>
              <a:t>Table of Contents</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3F4F6"/>
        </a:solidFill>
      </p:bgPr>
    </p:bg>
    <p:spTree>
      <p:nvGrpSpPr>
        <p:cNvPr id="1" name=""/>
        <p:cNvGrpSpPr/>
        <p:nvPr/>
      </p:nvGrpSpPr>
      <p:grpSpPr>
        <a:xfrm>
          <a:off x="0" y="0"/>
          <a:ext cx="0" cy="0"/>
          <a:chOff x="0" y="0"/>
          <a:chExt cx="0" cy="0"/>
        </a:xfrm>
      </p:grpSpPr>
      <p:sp>
        <p:nvSpPr>
          <p:cNvPr name="TextBox 2" id="2"/>
          <p:cNvSpPr txBox="true"/>
          <p:nvPr/>
        </p:nvSpPr>
        <p:spPr>
          <a:xfrm rot="0">
            <a:off x="0" y="-90712"/>
            <a:ext cx="5678066" cy="1120775"/>
          </a:xfrm>
          <a:prstGeom prst="rect">
            <a:avLst/>
          </a:prstGeom>
        </p:spPr>
        <p:txBody>
          <a:bodyPr anchor="t" rtlCol="false" tIns="0" lIns="0" bIns="0" rIns="0">
            <a:spAutoFit/>
          </a:bodyPr>
          <a:lstStyle/>
          <a:p>
            <a:pPr algn="ctr">
              <a:lnSpc>
                <a:spcPts val="9100"/>
              </a:lnSpc>
              <a:spcBef>
                <a:spcPct val="0"/>
              </a:spcBef>
            </a:pPr>
            <a:r>
              <a:rPr lang="en-US" b="true" sz="6500">
                <a:solidFill>
                  <a:srgbClr val="000000"/>
                </a:solidFill>
                <a:latin typeface="Montserrat Bold"/>
                <a:ea typeface="Montserrat Bold"/>
                <a:cs typeface="Montserrat Bold"/>
                <a:sym typeface="Montserrat Bold"/>
              </a:rPr>
              <a:t>Introduction</a:t>
            </a:r>
          </a:p>
        </p:txBody>
      </p:sp>
      <p:sp>
        <p:nvSpPr>
          <p:cNvPr name="TextBox 3" id="3"/>
          <p:cNvSpPr txBox="true"/>
          <p:nvPr/>
        </p:nvSpPr>
        <p:spPr>
          <a:xfrm rot="0">
            <a:off x="7774728" y="3215814"/>
            <a:ext cx="634673" cy="396240"/>
          </a:xfrm>
          <a:prstGeom prst="rect">
            <a:avLst/>
          </a:prstGeom>
        </p:spPr>
        <p:txBody>
          <a:bodyPr anchor="t" rtlCol="false" tIns="0" lIns="0" bIns="0" rIns="0">
            <a:spAutoFit/>
          </a:bodyPr>
          <a:lstStyle/>
          <a:p>
            <a:pPr algn="r" marL="0" indent="0" lvl="0">
              <a:lnSpc>
                <a:spcPts val="3359"/>
              </a:lnSpc>
              <a:spcBef>
                <a:spcPct val="0"/>
              </a:spcBef>
            </a:pPr>
          </a:p>
        </p:txBody>
      </p:sp>
      <p:sp>
        <p:nvSpPr>
          <p:cNvPr name="TextBox 4" id="4"/>
          <p:cNvSpPr txBox="true"/>
          <p:nvPr/>
        </p:nvSpPr>
        <p:spPr>
          <a:xfrm rot="0">
            <a:off x="7774728" y="4066296"/>
            <a:ext cx="634673" cy="396240"/>
          </a:xfrm>
          <a:prstGeom prst="rect">
            <a:avLst/>
          </a:prstGeom>
        </p:spPr>
        <p:txBody>
          <a:bodyPr anchor="t" rtlCol="false" tIns="0" lIns="0" bIns="0" rIns="0">
            <a:spAutoFit/>
          </a:bodyPr>
          <a:lstStyle/>
          <a:p>
            <a:pPr algn="r" marL="0" indent="0" lvl="0">
              <a:lnSpc>
                <a:spcPts val="3359"/>
              </a:lnSpc>
              <a:spcBef>
                <a:spcPct val="0"/>
              </a:spcBef>
            </a:pPr>
          </a:p>
        </p:txBody>
      </p:sp>
      <p:sp>
        <p:nvSpPr>
          <p:cNvPr name="TextBox 5" id="5"/>
          <p:cNvSpPr txBox="true"/>
          <p:nvPr/>
        </p:nvSpPr>
        <p:spPr>
          <a:xfrm rot="0">
            <a:off x="7774728" y="4792164"/>
            <a:ext cx="634673" cy="396240"/>
          </a:xfrm>
          <a:prstGeom prst="rect">
            <a:avLst/>
          </a:prstGeom>
        </p:spPr>
        <p:txBody>
          <a:bodyPr anchor="t" rtlCol="false" tIns="0" lIns="0" bIns="0" rIns="0">
            <a:spAutoFit/>
          </a:bodyPr>
          <a:lstStyle/>
          <a:p>
            <a:pPr algn="r" marL="0" indent="0" lvl="0">
              <a:lnSpc>
                <a:spcPts val="3359"/>
              </a:lnSpc>
              <a:spcBef>
                <a:spcPct val="0"/>
              </a:spcBef>
            </a:pPr>
          </a:p>
        </p:txBody>
      </p:sp>
      <p:sp>
        <p:nvSpPr>
          <p:cNvPr name="TextBox 6" id="6"/>
          <p:cNvSpPr txBox="true"/>
          <p:nvPr/>
        </p:nvSpPr>
        <p:spPr>
          <a:xfrm rot="0">
            <a:off x="7776518" y="5631634"/>
            <a:ext cx="634673" cy="396240"/>
          </a:xfrm>
          <a:prstGeom prst="rect">
            <a:avLst/>
          </a:prstGeom>
        </p:spPr>
        <p:txBody>
          <a:bodyPr anchor="t" rtlCol="false" tIns="0" lIns="0" bIns="0" rIns="0">
            <a:spAutoFit/>
          </a:bodyPr>
          <a:lstStyle/>
          <a:p>
            <a:pPr algn="r" marL="0" indent="0" lvl="0">
              <a:lnSpc>
                <a:spcPts val="3359"/>
              </a:lnSpc>
              <a:spcBef>
                <a:spcPct val="0"/>
              </a:spcBef>
            </a:pPr>
          </a:p>
        </p:txBody>
      </p:sp>
      <p:grpSp>
        <p:nvGrpSpPr>
          <p:cNvPr name="Group 7" id="7"/>
          <p:cNvGrpSpPr/>
          <p:nvPr/>
        </p:nvGrpSpPr>
        <p:grpSpPr>
          <a:xfrm rot="0">
            <a:off x="312629" y="5143500"/>
            <a:ext cx="7885096" cy="3912054"/>
            <a:chOff x="0" y="0"/>
            <a:chExt cx="2076733" cy="1030335"/>
          </a:xfrm>
        </p:grpSpPr>
        <p:sp>
          <p:nvSpPr>
            <p:cNvPr name="Freeform 8" id="8"/>
            <p:cNvSpPr/>
            <p:nvPr/>
          </p:nvSpPr>
          <p:spPr>
            <a:xfrm flipH="false" flipV="false" rot="0">
              <a:off x="0" y="0"/>
              <a:ext cx="2076733" cy="1030335"/>
            </a:xfrm>
            <a:custGeom>
              <a:avLst/>
              <a:gdLst/>
              <a:ahLst/>
              <a:cxnLst/>
              <a:rect r="r" b="b" t="t" l="l"/>
              <a:pathLst>
                <a:path h="1030335" w="2076733">
                  <a:moveTo>
                    <a:pt x="982" y="0"/>
                  </a:moveTo>
                  <a:lnTo>
                    <a:pt x="2075751" y="0"/>
                  </a:lnTo>
                  <a:cubicBezTo>
                    <a:pt x="2076011" y="0"/>
                    <a:pt x="2076261" y="103"/>
                    <a:pt x="2076445" y="288"/>
                  </a:cubicBezTo>
                  <a:cubicBezTo>
                    <a:pt x="2076629" y="472"/>
                    <a:pt x="2076733" y="721"/>
                    <a:pt x="2076733" y="982"/>
                  </a:cubicBezTo>
                  <a:lnTo>
                    <a:pt x="2076733" y="1029353"/>
                  </a:lnTo>
                  <a:cubicBezTo>
                    <a:pt x="2076733" y="1029614"/>
                    <a:pt x="2076629" y="1029864"/>
                    <a:pt x="2076445" y="1030048"/>
                  </a:cubicBezTo>
                  <a:cubicBezTo>
                    <a:pt x="2076261" y="1030232"/>
                    <a:pt x="2076011" y="1030335"/>
                    <a:pt x="2075751" y="1030335"/>
                  </a:cubicBezTo>
                  <a:lnTo>
                    <a:pt x="982" y="1030335"/>
                  </a:lnTo>
                  <a:cubicBezTo>
                    <a:pt x="721" y="1030335"/>
                    <a:pt x="472" y="1030232"/>
                    <a:pt x="288" y="1030048"/>
                  </a:cubicBezTo>
                  <a:cubicBezTo>
                    <a:pt x="103" y="1029864"/>
                    <a:pt x="0" y="1029614"/>
                    <a:pt x="0" y="1029353"/>
                  </a:cubicBezTo>
                  <a:lnTo>
                    <a:pt x="0" y="982"/>
                  </a:lnTo>
                  <a:cubicBezTo>
                    <a:pt x="0" y="721"/>
                    <a:pt x="103" y="472"/>
                    <a:pt x="288" y="288"/>
                  </a:cubicBezTo>
                  <a:cubicBezTo>
                    <a:pt x="472" y="103"/>
                    <a:pt x="721" y="0"/>
                    <a:pt x="982" y="0"/>
                  </a:cubicBezTo>
                  <a:close/>
                </a:path>
              </a:pathLst>
            </a:custGeom>
            <a:solidFill>
              <a:srgbClr val="D1FAE5"/>
            </a:solidFill>
          </p:spPr>
        </p:sp>
        <p:sp>
          <p:nvSpPr>
            <p:cNvPr name="TextBox 9" id="9"/>
            <p:cNvSpPr txBox="true"/>
            <p:nvPr/>
          </p:nvSpPr>
          <p:spPr>
            <a:xfrm>
              <a:off x="0" y="-38100"/>
              <a:ext cx="2076733" cy="1068435"/>
            </a:xfrm>
            <a:prstGeom prst="rect">
              <a:avLst/>
            </a:prstGeom>
          </p:spPr>
          <p:txBody>
            <a:bodyPr anchor="ctr" rtlCol="false" tIns="50800" lIns="50800" bIns="50800" rIns="50800"/>
            <a:lstStyle/>
            <a:p>
              <a:pPr algn="ctr" marL="0" indent="0" lvl="0">
                <a:lnSpc>
                  <a:spcPts val="3499"/>
                </a:lnSpc>
              </a:pPr>
            </a:p>
          </p:txBody>
        </p:sp>
      </p:grpSp>
      <p:sp>
        <p:nvSpPr>
          <p:cNvPr name="TextBox 10" id="10"/>
          <p:cNvSpPr txBox="true"/>
          <p:nvPr/>
        </p:nvSpPr>
        <p:spPr>
          <a:xfrm rot="0">
            <a:off x="437680" y="5288736"/>
            <a:ext cx="4332713" cy="380999"/>
          </a:xfrm>
          <a:prstGeom prst="rect">
            <a:avLst/>
          </a:prstGeom>
        </p:spPr>
        <p:txBody>
          <a:bodyPr anchor="t" rtlCol="false" tIns="0" lIns="0" bIns="0" rIns="0">
            <a:spAutoFit/>
          </a:bodyPr>
          <a:lstStyle/>
          <a:p>
            <a:pPr algn="ctr">
              <a:lnSpc>
                <a:spcPts val="2999"/>
              </a:lnSpc>
            </a:pPr>
            <a:r>
              <a:rPr lang="en-US" b="true" sz="2999">
                <a:solidFill>
                  <a:srgbClr val="6B7280"/>
                </a:solidFill>
                <a:latin typeface="Montserrat Bold"/>
                <a:ea typeface="Montserrat Bold"/>
                <a:cs typeface="Montserrat Bold"/>
                <a:sym typeface="Montserrat Bold"/>
              </a:rPr>
              <a:t>Problem Statement</a:t>
            </a:r>
          </a:p>
        </p:txBody>
      </p:sp>
      <p:sp>
        <p:nvSpPr>
          <p:cNvPr name="TextBox 11" id="11"/>
          <p:cNvSpPr txBox="true"/>
          <p:nvPr/>
        </p:nvSpPr>
        <p:spPr>
          <a:xfrm rot="0">
            <a:off x="555208" y="6319781"/>
            <a:ext cx="7219520" cy="1543050"/>
          </a:xfrm>
          <a:prstGeom prst="rect">
            <a:avLst/>
          </a:prstGeom>
        </p:spPr>
        <p:txBody>
          <a:bodyPr anchor="t" rtlCol="false" tIns="0" lIns="0" bIns="0" rIns="0">
            <a:spAutoFit/>
          </a:bodyPr>
          <a:lstStyle/>
          <a:p>
            <a:pPr algn="just">
              <a:lnSpc>
                <a:spcPts val="3000"/>
              </a:lnSpc>
            </a:pPr>
            <a:r>
              <a:rPr lang="en-US" sz="3000" i="true">
                <a:solidFill>
                  <a:srgbClr val="6B7280"/>
                </a:solidFill>
                <a:latin typeface="Montserrat Italics"/>
                <a:ea typeface="Montserrat Italics"/>
                <a:cs typeface="Montserrat Italics"/>
                <a:sym typeface="Montserrat Italics"/>
              </a:rPr>
              <a:t>Detect fra</a:t>
            </a:r>
            <a:r>
              <a:rPr lang="en-US" sz="3000" i="true">
                <a:solidFill>
                  <a:srgbClr val="6B7280"/>
                </a:solidFill>
                <a:latin typeface="Montserrat Italics"/>
                <a:ea typeface="Montserrat Italics"/>
                <a:cs typeface="Montserrat Italics"/>
                <a:sym typeface="Montserrat Italics"/>
              </a:rPr>
              <a:t>udulent transactions by identifying anomalies and unusual patterns that deviate from normal banking transaction behavior.</a:t>
            </a:r>
          </a:p>
        </p:txBody>
      </p:sp>
      <p:grpSp>
        <p:nvGrpSpPr>
          <p:cNvPr name="Group 12" id="12"/>
          <p:cNvGrpSpPr/>
          <p:nvPr/>
        </p:nvGrpSpPr>
        <p:grpSpPr>
          <a:xfrm rot="0">
            <a:off x="10696643" y="4997607"/>
            <a:ext cx="6562657" cy="4130249"/>
            <a:chOff x="0" y="0"/>
            <a:chExt cx="1728436" cy="1087802"/>
          </a:xfrm>
        </p:grpSpPr>
        <p:sp>
          <p:nvSpPr>
            <p:cNvPr name="Freeform 13" id="13"/>
            <p:cNvSpPr/>
            <p:nvPr/>
          </p:nvSpPr>
          <p:spPr>
            <a:xfrm flipH="false" flipV="false" rot="0">
              <a:off x="0" y="0"/>
              <a:ext cx="1728436" cy="1087802"/>
            </a:xfrm>
            <a:custGeom>
              <a:avLst/>
              <a:gdLst/>
              <a:ahLst/>
              <a:cxnLst/>
              <a:rect r="r" b="b" t="t" l="l"/>
              <a:pathLst>
                <a:path h="1087802" w="1728436">
                  <a:moveTo>
                    <a:pt x="2359" y="0"/>
                  </a:moveTo>
                  <a:lnTo>
                    <a:pt x="1726077" y="0"/>
                  </a:lnTo>
                  <a:cubicBezTo>
                    <a:pt x="1727380" y="0"/>
                    <a:pt x="1728436" y="1056"/>
                    <a:pt x="1728436" y="2359"/>
                  </a:cubicBezTo>
                  <a:lnTo>
                    <a:pt x="1728436" y="1085443"/>
                  </a:lnTo>
                  <a:cubicBezTo>
                    <a:pt x="1728436" y="1086746"/>
                    <a:pt x="1727380" y="1087802"/>
                    <a:pt x="1726077" y="1087802"/>
                  </a:cubicBezTo>
                  <a:lnTo>
                    <a:pt x="2359" y="1087802"/>
                  </a:lnTo>
                  <a:cubicBezTo>
                    <a:pt x="1056" y="1087802"/>
                    <a:pt x="0" y="1086746"/>
                    <a:pt x="0" y="1085443"/>
                  </a:cubicBezTo>
                  <a:lnTo>
                    <a:pt x="0" y="2359"/>
                  </a:lnTo>
                  <a:cubicBezTo>
                    <a:pt x="0" y="1056"/>
                    <a:pt x="1056" y="0"/>
                    <a:pt x="2359" y="0"/>
                  </a:cubicBezTo>
                  <a:close/>
                </a:path>
              </a:pathLst>
            </a:custGeom>
            <a:solidFill>
              <a:srgbClr val="D1FAE5"/>
            </a:solidFill>
          </p:spPr>
        </p:sp>
        <p:sp>
          <p:nvSpPr>
            <p:cNvPr name="TextBox 14" id="14"/>
            <p:cNvSpPr txBox="true"/>
            <p:nvPr/>
          </p:nvSpPr>
          <p:spPr>
            <a:xfrm>
              <a:off x="0" y="-38100"/>
              <a:ext cx="1728436" cy="1125902"/>
            </a:xfrm>
            <a:prstGeom prst="rect">
              <a:avLst/>
            </a:prstGeom>
          </p:spPr>
          <p:txBody>
            <a:bodyPr anchor="ctr" rtlCol="false" tIns="50800" lIns="50800" bIns="50800" rIns="50800"/>
            <a:lstStyle/>
            <a:p>
              <a:pPr algn="ctr" marL="0" indent="0" lvl="0">
                <a:lnSpc>
                  <a:spcPts val="3499"/>
                </a:lnSpc>
              </a:pPr>
            </a:p>
          </p:txBody>
        </p:sp>
      </p:grpSp>
      <p:sp>
        <p:nvSpPr>
          <p:cNvPr name="TextBox 15" id="15"/>
          <p:cNvSpPr txBox="true"/>
          <p:nvPr/>
        </p:nvSpPr>
        <p:spPr>
          <a:xfrm rot="0">
            <a:off x="11059781" y="5059471"/>
            <a:ext cx="2114907" cy="495301"/>
          </a:xfrm>
          <a:prstGeom prst="rect">
            <a:avLst/>
          </a:prstGeom>
        </p:spPr>
        <p:txBody>
          <a:bodyPr anchor="t" rtlCol="false" tIns="0" lIns="0" bIns="0" rIns="0">
            <a:spAutoFit/>
          </a:bodyPr>
          <a:lstStyle/>
          <a:p>
            <a:pPr algn="ctr">
              <a:lnSpc>
                <a:spcPts val="4199"/>
              </a:lnSpc>
              <a:spcBef>
                <a:spcPct val="0"/>
              </a:spcBef>
            </a:pPr>
            <a:r>
              <a:rPr lang="en-US" b="true" sz="2999">
                <a:solidFill>
                  <a:srgbClr val="6B7280"/>
                </a:solidFill>
                <a:latin typeface="Montserrat Bold"/>
                <a:ea typeface="Montserrat Bold"/>
                <a:cs typeface="Montserrat Bold"/>
                <a:sym typeface="Montserrat Bold"/>
              </a:rPr>
              <a:t>Objectives</a:t>
            </a:r>
          </a:p>
        </p:txBody>
      </p:sp>
      <p:sp>
        <p:nvSpPr>
          <p:cNvPr name="TextBox 16" id="16"/>
          <p:cNvSpPr txBox="true"/>
          <p:nvPr/>
        </p:nvSpPr>
        <p:spPr>
          <a:xfrm rot="0">
            <a:off x="10696643" y="5775510"/>
            <a:ext cx="6035341" cy="3149600"/>
          </a:xfrm>
          <a:prstGeom prst="rect">
            <a:avLst/>
          </a:prstGeom>
        </p:spPr>
        <p:txBody>
          <a:bodyPr anchor="t" rtlCol="false" tIns="0" lIns="0" bIns="0" rIns="0">
            <a:spAutoFit/>
          </a:bodyPr>
          <a:lstStyle/>
          <a:p>
            <a:pPr algn="just" marL="539749" indent="-269875" lvl="1">
              <a:lnSpc>
                <a:spcPts val="2499"/>
              </a:lnSpc>
              <a:buFont typeface="Arial"/>
              <a:buChar char="•"/>
            </a:pPr>
            <a:r>
              <a:rPr lang="en-US" sz="2499">
                <a:solidFill>
                  <a:srgbClr val="6B7280"/>
                </a:solidFill>
                <a:latin typeface="Montserrat"/>
                <a:ea typeface="Montserrat"/>
                <a:cs typeface="Montserrat"/>
                <a:sym typeface="Montserrat"/>
              </a:rPr>
              <a:t>Perf</a:t>
            </a:r>
            <a:r>
              <a:rPr lang="en-US" sz="2499">
                <a:solidFill>
                  <a:srgbClr val="6B7280"/>
                </a:solidFill>
                <a:latin typeface="Montserrat"/>
                <a:ea typeface="Montserrat"/>
                <a:cs typeface="Montserrat"/>
                <a:sym typeface="Montserrat"/>
              </a:rPr>
              <a:t>orm data preprocessing and EDA</a:t>
            </a:r>
          </a:p>
          <a:p>
            <a:pPr algn="just" marL="539749" indent="-269875" lvl="1">
              <a:lnSpc>
                <a:spcPts val="2499"/>
              </a:lnSpc>
              <a:buFont typeface="Arial"/>
              <a:buChar char="•"/>
            </a:pPr>
            <a:r>
              <a:rPr lang="en-US" sz="2499">
                <a:solidFill>
                  <a:srgbClr val="6B7280"/>
                </a:solidFill>
                <a:latin typeface="Montserrat"/>
                <a:ea typeface="Montserrat"/>
                <a:cs typeface="Montserrat"/>
                <a:sym typeface="Montserrat"/>
              </a:rPr>
              <a:t>Identify important features influencing fraud</a:t>
            </a:r>
          </a:p>
          <a:p>
            <a:pPr algn="just" marL="539749" indent="-269875" lvl="1">
              <a:lnSpc>
                <a:spcPts val="2499"/>
              </a:lnSpc>
              <a:buFont typeface="Arial"/>
              <a:buChar char="•"/>
            </a:pPr>
            <a:r>
              <a:rPr lang="en-US" sz="2499">
                <a:solidFill>
                  <a:srgbClr val="6B7280"/>
                </a:solidFill>
                <a:latin typeface="Montserrat"/>
                <a:ea typeface="Montserrat"/>
                <a:cs typeface="Montserrat"/>
                <a:sym typeface="Montserrat"/>
              </a:rPr>
              <a:t>Apply K-Means and Z-Score for anomaly detection.</a:t>
            </a:r>
          </a:p>
          <a:p>
            <a:pPr algn="just" marL="539749" indent="-269875" lvl="1">
              <a:lnSpc>
                <a:spcPts val="2499"/>
              </a:lnSpc>
              <a:buFont typeface="Arial"/>
              <a:buChar char="•"/>
            </a:pPr>
            <a:r>
              <a:rPr lang="en-US" sz="2499">
                <a:solidFill>
                  <a:srgbClr val="6B7280"/>
                </a:solidFill>
                <a:latin typeface="Montserrat"/>
                <a:ea typeface="Montserrat"/>
                <a:cs typeface="Montserrat"/>
                <a:sym typeface="Montserrat"/>
              </a:rPr>
              <a:t>Build a Logistic Regression model for fraud prediction</a:t>
            </a:r>
          </a:p>
          <a:p>
            <a:pPr algn="just" marL="539749" indent="-269875" lvl="1">
              <a:lnSpc>
                <a:spcPts val="2499"/>
              </a:lnSpc>
              <a:buFont typeface="Arial"/>
              <a:buChar char="•"/>
            </a:pPr>
            <a:r>
              <a:rPr lang="en-US" sz="2499">
                <a:solidFill>
                  <a:srgbClr val="6B7280"/>
                </a:solidFill>
                <a:latin typeface="Montserrat"/>
                <a:ea typeface="Montserrat"/>
                <a:cs typeface="Montserrat"/>
                <a:sym typeface="Montserrat"/>
              </a:rPr>
              <a:t>Evaluate model performance using appropriate metrics.</a:t>
            </a:r>
          </a:p>
        </p:txBody>
      </p:sp>
      <p:sp>
        <p:nvSpPr>
          <p:cNvPr name="TextBox 17" id="17"/>
          <p:cNvSpPr txBox="true"/>
          <p:nvPr/>
        </p:nvSpPr>
        <p:spPr>
          <a:xfrm rot="0">
            <a:off x="153810" y="1572988"/>
            <a:ext cx="17105490" cy="2250966"/>
          </a:xfrm>
          <a:prstGeom prst="rect">
            <a:avLst/>
          </a:prstGeom>
        </p:spPr>
        <p:txBody>
          <a:bodyPr anchor="t" rtlCol="false" tIns="0" lIns="0" bIns="0" rIns="0">
            <a:spAutoFit/>
          </a:bodyPr>
          <a:lstStyle/>
          <a:p>
            <a:pPr algn="just">
              <a:lnSpc>
                <a:spcPts val="3625"/>
              </a:lnSpc>
              <a:spcBef>
                <a:spcPct val="0"/>
              </a:spcBef>
            </a:pPr>
            <a:r>
              <a:rPr lang="en-US" sz="2589">
                <a:solidFill>
                  <a:srgbClr val="000000"/>
                </a:solidFill>
                <a:latin typeface="Montserrat"/>
                <a:ea typeface="Montserrat"/>
                <a:cs typeface="Montserrat"/>
                <a:sym typeface="Montserrat"/>
              </a:rPr>
              <a:t>Banking systems generate large v</a:t>
            </a:r>
            <a:r>
              <a:rPr lang="en-US" sz="2589">
                <a:solidFill>
                  <a:srgbClr val="000000"/>
                </a:solidFill>
                <a:latin typeface="Montserrat"/>
                <a:ea typeface="Montserrat"/>
                <a:cs typeface="Montserrat"/>
                <a:sym typeface="Montserrat"/>
              </a:rPr>
              <a:t>olumes of transaction data daily. Banking fraud refers to unauthorized or illegal transactions carried out to gain financial benefit, and with the rise of digital banking, the risk of such fraudulent activities has significantly increased. Detecting fraud is crucial to prevent financial losses and ensure customer security. Therefore, data science techniques are used to identify unusual patterns and effectively detect and prevent fraudulent transactions.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sp>
        <p:nvSpPr>
          <p:cNvPr name="TextBox 2" id="2"/>
          <p:cNvSpPr txBox="true"/>
          <p:nvPr/>
        </p:nvSpPr>
        <p:spPr>
          <a:xfrm rot="0">
            <a:off x="386903" y="66675"/>
            <a:ext cx="8312264" cy="1120775"/>
          </a:xfrm>
          <a:prstGeom prst="rect">
            <a:avLst/>
          </a:prstGeom>
        </p:spPr>
        <p:txBody>
          <a:bodyPr anchor="t" rtlCol="false" tIns="0" lIns="0" bIns="0" rIns="0">
            <a:spAutoFit/>
          </a:bodyPr>
          <a:lstStyle/>
          <a:p>
            <a:pPr algn="l" marL="0" indent="0" lvl="0">
              <a:lnSpc>
                <a:spcPts val="9100"/>
              </a:lnSpc>
            </a:pPr>
            <a:r>
              <a:rPr lang="en-US" b="true" sz="6500">
                <a:solidFill>
                  <a:srgbClr val="1F1F1F"/>
                </a:solidFill>
                <a:latin typeface="Montserrat Bold"/>
                <a:ea typeface="Montserrat Bold"/>
                <a:cs typeface="Montserrat Bold"/>
                <a:sym typeface="Montserrat Bold"/>
              </a:rPr>
              <a:t>Topics Covered</a:t>
            </a:r>
          </a:p>
        </p:txBody>
      </p:sp>
      <p:grpSp>
        <p:nvGrpSpPr>
          <p:cNvPr name="Group 3" id="3"/>
          <p:cNvGrpSpPr/>
          <p:nvPr/>
        </p:nvGrpSpPr>
        <p:grpSpPr>
          <a:xfrm rot="0">
            <a:off x="738934" y="1787525"/>
            <a:ext cx="8598436" cy="8390017"/>
            <a:chOff x="0" y="0"/>
            <a:chExt cx="11464582" cy="11186690"/>
          </a:xfrm>
        </p:grpSpPr>
        <p:grpSp>
          <p:nvGrpSpPr>
            <p:cNvPr name="Group 4" id="4"/>
            <p:cNvGrpSpPr/>
            <p:nvPr/>
          </p:nvGrpSpPr>
          <p:grpSpPr>
            <a:xfrm rot="0">
              <a:off x="0" y="0"/>
              <a:ext cx="11464582" cy="11186690"/>
              <a:chOff x="0" y="0"/>
              <a:chExt cx="2264609" cy="2209716"/>
            </a:xfrm>
          </p:grpSpPr>
          <p:sp>
            <p:nvSpPr>
              <p:cNvPr name="Freeform 5" id="5"/>
              <p:cNvSpPr/>
              <p:nvPr/>
            </p:nvSpPr>
            <p:spPr>
              <a:xfrm flipH="false" flipV="false" rot="0">
                <a:off x="0" y="0"/>
                <a:ext cx="2264609" cy="2209716"/>
              </a:xfrm>
              <a:custGeom>
                <a:avLst/>
                <a:gdLst/>
                <a:ahLst/>
                <a:cxnLst/>
                <a:rect r="r" b="b" t="t" l="l"/>
                <a:pathLst>
                  <a:path h="2209716" w="2264609">
                    <a:moveTo>
                      <a:pt x="32414" y="0"/>
                    </a:moveTo>
                    <a:lnTo>
                      <a:pt x="2232195" y="0"/>
                    </a:lnTo>
                    <a:cubicBezTo>
                      <a:pt x="2240792" y="0"/>
                      <a:pt x="2249036" y="3415"/>
                      <a:pt x="2255115" y="9494"/>
                    </a:cubicBezTo>
                    <a:cubicBezTo>
                      <a:pt x="2261194" y="15573"/>
                      <a:pt x="2264609" y="23817"/>
                      <a:pt x="2264609" y="32414"/>
                    </a:cubicBezTo>
                    <a:lnTo>
                      <a:pt x="2264609" y="2177303"/>
                    </a:lnTo>
                    <a:cubicBezTo>
                      <a:pt x="2264609" y="2185899"/>
                      <a:pt x="2261194" y="2194144"/>
                      <a:pt x="2255115" y="2200223"/>
                    </a:cubicBezTo>
                    <a:cubicBezTo>
                      <a:pt x="2249036" y="2206301"/>
                      <a:pt x="2240792" y="2209716"/>
                      <a:pt x="2232195" y="2209716"/>
                    </a:cubicBezTo>
                    <a:lnTo>
                      <a:pt x="32414" y="2209716"/>
                    </a:lnTo>
                    <a:cubicBezTo>
                      <a:pt x="23817" y="2209716"/>
                      <a:pt x="15573" y="2206301"/>
                      <a:pt x="9494" y="2200223"/>
                    </a:cubicBezTo>
                    <a:cubicBezTo>
                      <a:pt x="3415" y="2194144"/>
                      <a:pt x="0" y="2185899"/>
                      <a:pt x="0" y="2177303"/>
                    </a:cubicBezTo>
                    <a:lnTo>
                      <a:pt x="0" y="32414"/>
                    </a:lnTo>
                    <a:cubicBezTo>
                      <a:pt x="0" y="23817"/>
                      <a:pt x="3415" y="15573"/>
                      <a:pt x="9494" y="9494"/>
                    </a:cubicBezTo>
                    <a:cubicBezTo>
                      <a:pt x="15573" y="3415"/>
                      <a:pt x="23817" y="0"/>
                      <a:pt x="32414" y="0"/>
                    </a:cubicBezTo>
                    <a:close/>
                  </a:path>
                </a:pathLst>
              </a:custGeom>
              <a:solidFill>
                <a:srgbClr val="D1FAE5"/>
              </a:solidFill>
            </p:spPr>
          </p:sp>
          <p:sp>
            <p:nvSpPr>
              <p:cNvPr name="TextBox 6" id="6"/>
              <p:cNvSpPr txBox="true"/>
              <p:nvPr/>
            </p:nvSpPr>
            <p:spPr>
              <a:xfrm>
                <a:off x="0" y="-38100"/>
                <a:ext cx="2264609" cy="2247816"/>
              </a:xfrm>
              <a:prstGeom prst="rect">
                <a:avLst/>
              </a:prstGeom>
            </p:spPr>
            <p:txBody>
              <a:bodyPr anchor="ctr" rtlCol="false" tIns="50800" lIns="50800" bIns="50800" rIns="50800"/>
              <a:lstStyle/>
              <a:p>
                <a:pPr algn="ctr" marL="0" indent="0" lvl="0">
                  <a:lnSpc>
                    <a:spcPts val="3499"/>
                  </a:lnSpc>
                </a:pPr>
              </a:p>
            </p:txBody>
          </p:sp>
        </p:grpSp>
        <p:sp>
          <p:nvSpPr>
            <p:cNvPr name="Freeform 7" id="7"/>
            <p:cNvSpPr/>
            <p:nvPr/>
          </p:nvSpPr>
          <p:spPr>
            <a:xfrm flipH="false" flipV="false" rot="0">
              <a:off x="3256174" y="5046277"/>
              <a:ext cx="6762113" cy="418854"/>
            </a:xfrm>
            <a:custGeom>
              <a:avLst/>
              <a:gdLst/>
              <a:ahLst/>
              <a:cxnLst/>
              <a:rect r="r" b="b" t="t" l="l"/>
              <a:pathLst>
                <a:path h="418854" w="6762113">
                  <a:moveTo>
                    <a:pt x="0" y="0"/>
                  </a:moveTo>
                  <a:lnTo>
                    <a:pt x="6762113" y="0"/>
                  </a:lnTo>
                  <a:lnTo>
                    <a:pt x="6762113" y="418854"/>
                  </a:lnTo>
                  <a:lnTo>
                    <a:pt x="0" y="418854"/>
                  </a:lnTo>
                  <a:lnTo>
                    <a:pt x="0" y="0"/>
                  </a:lnTo>
                  <a:close/>
                </a:path>
              </a:pathLst>
            </a:custGeom>
            <a:blipFill>
              <a:blip r:embed="rId2">
                <a:alphaModFix amt="44999"/>
              </a:blip>
              <a:stretch>
                <a:fillRect l="0" t="-84925" r="0" b="0"/>
              </a:stretch>
            </a:blipFill>
          </p:spPr>
        </p:sp>
        <p:grpSp>
          <p:nvGrpSpPr>
            <p:cNvPr name="Group 8" id="8"/>
            <p:cNvGrpSpPr/>
            <p:nvPr/>
          </p:nvGrpSpPr>
          <p:grpSpPr>
            <a:xfrm rot="0">
              <a:off x="2625328" y="634102"/>
              <a:ext cx="8400223" cy="1336349"/>
              <a:chOff x="0" y="0"/>
              <a:chExt cx="1659303" cy="263970"/>
            </a:xfrm>
          </p:grpSpPr>
          <p:sp>
            <p:nvSpPr>
              <p:cNvPr name="Freeform 9" id="9"/>
              <p:cNvSpPr/>
              <p:nvPr/>
            </p:nvSpPr>
            <p:spPr>
              <a:xfrm flipH="false" flipV="false" rot="0">
                <a:off x="0" y="0"/>
                <a:ext cx="1659303" cy="263970"/>
              </a:xfrm>
              <a:custGeom>
                <a:avLst/>
                <a:gdLst/>
                <a:ahLst/>
                <a:cxnLst/>
                <a:rect r="r" b="b" t="t" l="l"/>
                <a:pathLst>
                  <a:path h="263970" w="1659303">
                    <a:moveTo>
                      <a:pt x="14746" y="0"/>
                    </a:moveTo>
                    <a:lnTo>
                      <a:pt x="1644557" y="0"/>
                    </a:lnTo>
                    <a:cubicBezTo>
                      <a:pt x="1652701" y="0"/>
                      <a:pt x="1659303" y="6602"/>
                      <a:pt x="1659303" y="14746"/>
                    </a:cubicBezTo>
                    <a:lnTo>
                      <a:pt x="1659303" y="249224"/>
                    </a:lnTo>
                    <a:cubicBezTo>
                      <a:pt x="1659303" y="257368"/>
                      <a:pt x="1652701" y="263970"/>
                      <a:pt x="1644557" y="263970"/>
                    </a:cubicBezTo>
                    <a:lnTo>
                      <a:pt x="14746" y="263970"/>
                    </a:lnTo>
                    <a:cubicBezTo>
                      <a:pt x="10835" y="263970"/>
                      <a:pt x="7084" y="262417"/>
                      <a:pt x="4319" y="259651"/>
                    </a:cubicBezTo>
                    <a:cubicBezTo>
                      <a:pt x="1554" y="256886"/>
                      <a:pt x="0" y="253135"/>
                      <a:pt x="0" y="249224"/>
                    </a:cubicBezTo>
                    <a:lnTo>
                      <a:pt x="0" y="14746"/>
                    </a:lnTo>
                    <a:cubicBezTo>
                      <a:pt x="0" y="6602"/>
                      <a:pt x="6602" y="0"/>
                      <a:pt x="14746" y="0"/>
                    </a:cubicBezTo>
                    <a:close/>
                  </a:path>
                </a:pathLst>
              </a:custGeom>
              <a:solidFill>
                <a:srgbClr val="FFFFFF"/>
              </a:solidFill>
            </p:spPr>
          </p:sp>
          <p:sp>
            <p:nvSpPr>
              <p:cNvPr name="TextBox 10" id="10"/>
              <p:cNvSpPr txBox="true"/>
              <p:nvPr/>
            </p:nvSpPr>
            <p:spPr>
              <a:xfrm>
                <a:off x="0" y="-38100"/>
                <a:ext cx="1659303" cy="302070"/>
              </a:xfrm>
              <a:prstGeom prst="rect">
                <a:avLst/>
              </a:prstGeom>
            </p:spPr>
            <p:txBody>
              <a:bodyPr anchor="ctr" rtlCol="false" tIns="50800" lIns="50800" bIns="50800" rIns="50800"/>
              <a:lstStyle/>
              <a:p>
                <a:pPr algn="ctr">
                  <a:lnSpc>
                    <a:spcPts val="2520"/>
                  </a:lnSpc>
                </a:pPr>
              </a:p>
            </p:txBody>
          </p:sp>
        </p:grpSp>
        <p:sp>
          <p:nvSpPr>
            <p:cNvPr name="TextBox 11" id="11"/>
            <p:cNvSpPr txBox="true"/>
            <p:nvPr/>
          </p:nvSpPr>
          <p:spPr>
            <a:xfrm rot="0">
              <a:off x="2889963" y="663678"/>
              <a:ext cx="7870954" cy="988272"/>
            </a:xfrm>
            <a:prstGeom prst="rect">
              <a:avLst/>
            </a:prstGeom>
          </p:spPr>
          <p:txBody>
            <a:bodyPr anchor="t" rtlCol="false" tIns="0" lIns="0" bIns="0" rIns="0">
              <a:spAutoFit/>
            </a:bodyPr>
            <a:lstStyle/>
            <a:p>
              <a:pPr algn="just">
                <a:lnSpc>
                  <a:spcPts val="1900"/>
                </a:lnSpc>
              </a:pPr>
              <a:r>
                <a:rPr lang="en-US" sz="1900" b="true">
                  <a:solidFill>
                    <a:srgbClr val="000000"/>
                  </a:solidFill>
                  <a:latin typeface="Montserrat Bold"/>
                  <a:ea typeface="Montserrat Bold"/>
                  <a:cs typeface="Montserrat Bold"/>
                  <a:sym typeface="Montserrat Bold"/>
                </a:rPr>
                <a:t>Numpy,Pandas,Matplotlib,Seaborn,Scikitlearn,Scipy,</a:t>
              </a:r>
            </a:p>
            <a:p>
              <a:pPr algn="just" marL="0" indent="0" lvl="0">
                <a:lnSpc>
                  <a:spcPts val="1900"/>
                </a:lnSpc>
              </a:pPr>
              <a:r>
                <a:rPr lang="en-US" b="true" sz="1900">
                  <a:solidFill>
                    <a:srgbClr val="000000"/>
                  </a:solidFill>
                  <a:latin typeface="Montserrat Bold"/>
                  <a:ea typeface="Montserrat Bold"/>
                  <a:cs typeface="Montserrat Bold"/>
                  <a:sym typeface="Montserrat Bold"/>
                </a:rPr>
                <a:t>Data Munging</a:t>
              </a:r>
            </a:p>
          </p:txBody>
        </p:sp>
        <p:grpSp>
          <p:nvGrpSpPr>
            <p:cNvPr name="Group 12" id="12"/>
            <p:cNvGrpSpPr/>
            <p:nvPr/>
          </p:nvGrpSpPr>
          <p:grpSpPr>
            <a:xfrm rot="0">
              <a:off x="2625328" y="2513738"/>
              <a:ext cx="8400223" cy="1031126"/>
              <a:chOff x="0" y="0"/>
              <a:chExt cx="1659303" cy="203679"/>
            </a:xfrm>
          </p:grpSpPr>
          <p:sp>
            <p:nvSpPr>
              <p:cNvPr name="Freeform 13" id="13"/>
              <p:cNvSpPr/>
              <p:nvPr/>
            </p:nvSpPr>
            <p:spPr>
              <a:xfrm flipH="false" flipV="false" rot="0">
                <a:off x="0" y="0"/>
                <a:ext cx="1659303" cy="203679"/>
              </a:xfrm>
              <a:custGeom>
                <a:avLst/>
                <a:gdLst/>
                <a:ahLst/>
                <a:cxnLst/>
                <a:rect r="r" b="b" t="t" l="l"/>
                <a:pathLst>
                  <a:path h="203679" w="1659303">
                    <a:moveTo>
                      <a:pt x="14746" y="0"/>
                    </a:moveTo>
                    <a:lnTo>
                      <a:pt x="1644557" y="0"/>
                    </a:lnTo>
                    <a:cubicBezTo>
                      <a:pt x="1652701" y="0"/>
                      <a:pt x="1659303" y="6602"/>
                      <a:pt x="1659303" y="14746"/>
                    </a:cubicBezTo>
                    <a:lnTo>
                      <a:pt x="1659303" y="188933"/>
                    </a:lnTo>
                    <a:cubicBezTo>
                      <a:pt x="1659303" y="197077"/>
                      <a:pt x="1652701" y="203679"/>
                      <a:pt x="1644557" y="203679"/>
                    </a:cubicBezTo>
                    <a:lnTo>
                      <a:pt x="14746" y="203679"/>
                    </a:lnTo>
                    <a:cubicBezTo>
                      <a:pt x="6602" y="203679"/>
                      <a:pt x="0" y="197077"/>
                      <a:pt x="0" y="188933"/>
                    </a:cubicBezTo>
                    <a:lnTo>
                      <a:pt x="0" y="14746"/>
                    </a:lnTo>
                    <a:cubicBezTo>
                      <a:pt x="0" y="6602"/>
                      <a:pt x="6602" y="0"/>
                      <a:pt x="14746" y="0"/>
                    </a:cubicBezTo>
                    <a:close/>
                  </a:path>
                </a:pathLst>
              </a:custGeom>
              <a:solidFill>
                <a:srgbClr val="FFFFFF"/>
              </a:solidFill>
            </p:spPr>
          </p:sp>
          <p:sp>
            <p:nvSpPr>
              <p:cNvPr name="TextBox 14" id="14"/>
              <p:cNvSpPr txBox="true"/>
              <p:nvPr/>
            </p:nvSpPr>
            <p:spPr>
              <a:xfrm>
                <a:off x="0" y="-38100"/>
                <a:ext cx="1659303" cy="241779"/>
              </a:xfrm>
              <a:prstGeom prst="rect">
                <a:avLst/>
              </a:prstGeom>
            </p:spPr>
            <p:txBody>
              <a:bodyPr anchor="ctr" rtlCol="false" tIns="50800" lIns="50800" bIns="50800" rIns="50800"/>
              <a:lstStyle/>
              <a:p>
                <a:pPr algn="ctr">
                  <a:lnSpc>
                    <a:spcPts val="2520"/>
                  </a:lnSpc>
                </a:pPr>
              </a:p>
            </p:txBody>
          </p:sp>
        </p:grpSp>
        <p:grpSp>
          <p:nvGrpSpPr>
            <p:cNvPr name="Group 15" id="15"/>
            <p:cNvGrpSpPr/>
            <p:nvPr/>
          </p:nvGrpSpPr>
          <p:grpSpPr>
            <a:xfrm rot="0">
              <a:off x="2625328" y="4090964"/>
              <a:ext cx="8400223" cy="1164740"/>
              <a:chOff x="0" y="0"/>
              <a:chExt cx="1659303" cy="230072"/>
            </a:xfrm>
          </p:grpSpPr>
          <p:sp>
            <p:nvSpPr>
              <p:cNvPr name="Freeform 16" id="16"/>
              <p:cNvSpPr/>
              <p:nvPr/>
            </p:nvSpPr>
            <p:spPr>
              <a:xfrm flipH="false" flipV="false" rot="0">
                <a:off x="0" y="0"/>
                <a:ext cx="1659303" cy="230072"/>
              </a:xfrm>
              <a:custGeom>
                <a:avLst/>
                <a:gdLst/>
                <a:ahLst/>
                <a:cxnLst/>
                <a:rect r="r" b="b" t="t" l="l"/>
                <a:pathLst>
                  <a:path h="230072" w="1659303">
                    <a:moveTo>
                      <a:pt x="14746" y="0"/>
                    </a:moveTo>
                    <a:lnTo>
                      <a:pt x="1644557" y="0"/>
                    </a:lnTo>
                    <a:cubicBezTo>
                      <a:pt x="1652701" y="0"/>
                      <a:pt x="1659303" y="6602"/>
                      <a:pt x="1659303" y="14746"/>
                    </a:cubicBezTo>
                    <a:lnTo>
                      <a:pt x="1659303" y="215326"/>
                    </a:lnTo>
                    <a:cubicBezTo>
                      <a:pt x="1659303" y="223470"/>
                      <a:pt x="1652701" y="230072"/>
                      <a:pt x="1644557" y="230072"/>
                    </a:cubicBezTo>
                    <a:lnTo>
                      <a:pt x="14746" y="230072"/>
                    </a:lnTo>
                    <a:cubicBezTo>
                      <a:pt x="6602" y="230072"/>
                      <a:pt x="0" y="223470"/>
                      <a:pt x="0" y="215326"/>
                    </a:cubicBezTo>
                    <a:lnTo>
                      <a:pt x="0" y="14746"/>
                    </a:lnTo>
                    <a:cubicBezTo>
                      <a:pt x="0" y="6602"/>
                      <a:pt x="6602" y="0"/>
                      <a:pt x="14746" y="0"/>
                    </a:cubicBezTo>
                    <a:close/>
                  </a:path>
                </a:pathLst>
              </a:custGeom>
              <a:solidFill>
                <a:srgbClr val="FFFFFF"/>
              </a:solidFill>
            </p:spPr>
          </p:sp>
          <p:sp>
            <p:nvSpPr>
              <p:cNvPr name="TextBox 17" id="17"/>
              <p:cNvSpPr txBox="true"/>
              <p:nvPr/>
            </p:nvSpPr>
            <p:spPr>
              <a:xfrm>
                <a:off x="0" y="-38100"/>
                <a:ext cx="1659303" cy="268172"/>
              </a:xfrm>
              <a:prstGeom prst="rect">
                <a:avLst/>
              </a:prstGeom>
            </p:spPr>
            <p:txBody>
              <a:bodyPr anchor="ctr" rtlCol="false" tIns="50800" lIns="50800" bIns="50800" rIns="50800"/>
              <a:lstStyle/>
              <a:p>
                <a:pPr algn="ctr">
                  <a:lnSpc>
                    <a:spcPts val="2520"/>
                  </a:lnSpc>
                </a:pPr>
              </a:p>
            </p:txBody>
          </p:sp>
        </p:grpSp>
        <p:grpSp>
          <p:nvGrpSpPr>
            <p:cNvPr name="Group 18" id="18"/>
            <p:cNvGrpSpPr/>
            <p:nvPr/>
          </p:nvGrpSpPr>
          <p:grpSpPr>
            <a:xfrm rot="0">
              <a:off x="2625328" y="5990474"/>
              <a:ext cx="8400223" cy="1210480"/>
              <a:chOff x="0" y="0"/>
              <a:chExt cx="1659303" cy="239107"/>
            </a:xfrm>
          </p:grpSpPr>
          <p:sp>
            <p:nvSpPr>
              <p:cNvPr name="Freeform 19" id="19"/>
              <p:cNvSpPr/>
              <p:nvPr/>
            </p:nvSpPr>
            <p:spPr>
              <a:xfrm flipH="false" flipV="false" rot="0">
                <a:off x="0" y="0"/>
                <a:ext cx="1659303" cy="239107"/>
              </a:xfrm>
              <a:custGeom>
                <a:avLst/>
                <a:gdLst/>
                <a:ahLst/>
                <a:cxnLst/>
                <a:rect r="r" b="b" t="t" l="l"/>
                <a:pathLst>
                  <a:path h="239107" w="1659303">
                    <a:moveTo>
                      <a:pt x="14746" y="0"/>
                    </a:moveTo>
                    <a:lnTo>
                      <a:pt x="1644557" y="0"/>
                    </a:lnTo>
                    <a:cubicBezTo>
                      <a:pt x="1652701" y="0"/>
                      <a:pt x="1659303" y="6602"/>
                      <a:pt x="1659303" y="14746"/>
                    </a:cubicBezTo>
                    <a:lnTo>
                      <a:pt x="1659303" y="224361"/>
                    </a:lnTo>
                    <a:cubicBezTo>
                      <a:pt x="1659303" y="232505"/>
                      <a:pt x="1652701" y="239107"/>
                      <a:pt x="1644557" y="239107"/>
                    </a:cubicBezTo>
                    <a:lnTo>
                      <a:pt x="14746" y="239107"/>
                    </a:lnTo>
                    <a:cubicBezTo>
                      <a:pt x="6602" y="239107"/>
                      <a:pt x="0" y="232505"/>
                      <a:pt x="0" y="224361"/>
                    </a:cubicBezTo>
                    <a:lnTo>
                      <a:pt x="0" y="14746"/>
                    </a:lnTo>
                    <a:cubicBezTo>
                      <a:pt x="0" y="6602"/>
                      <a:pt x="6602" y="0"/>
                      <a:pt x="14746" y="0"/>
                    </a:cubicBezTo>
                    <a:close/>
                  </a:path>
                </a:pathLst>
              </a:custGeom>
              <a:solidFill>
                <a:srgbClr val="FFFFFF"/>
              </a:solidFill>
            </p:spPr>
          </p:sp>
          <p:sp>
            <p:nvSpPr>
              <p:cNvPr name="TextBox 20" id="20"/>
              <p:cNvSpPr txBox="true"/>
              <p:nvPr/>
            </p:nvSpPr>
            <p:spPr>
              <a:xfrm>
                <a:off x="0" y="-38100"/>
                <a:ext cx="1659303" cy="277207"/>
              </a:xfrm>
              <a:prstGeom prst="rect">
                <a:avLst/>
              </a:prstGeom>
            </p:spPr>
            <p:txBody>
              <a:bodyPr anchor="ctr" rtlCol="false" tIns="50800" lIns="50800" bIns="50800" rIns="50800"/>
              <a:lstStyle/>
              <a:p>
                <a:pPr algn="just">
                  <a:lnSpc>
                    <a:spcPts val="2520"/>
                  </a:lnSpc>
                </a:pPr>
              </a:p>
            </p:txBody>
          </p:sp>
        </p:grpSp>
        <p:grpSp>
          <p:nvGrpSpPr>
            <p:cNvPr name="Group 21" id="21"/>
            <p:cNvGrpSpPr/>
            <p:nvPr/>
          </p:nvGrpSpPr>
          <p:grpSpPr>
            <a:xfrm rot="0">
              <a:off x="2625328" y="7852992"/>
              <a:ext cx="8400223" cy="1207135"/>
              <a:chOff x="0" y="0"/>
              <a:chExt cx="1659303" cy="238446"/>
            </a:xfrm>
          </p:grpSpPr>
          <p:sp>
            <p:nvSpPr>
              <p:cNvPr name="Freeform 22" id="22"/>
              <p:cNvSpPr/>
              <p:nvPr/>
            </p:nvSpPr>
            <p:spPr>
              <a:xfrm flipH="false" flipV="false" rot="0">
                <a:off x="0" y="0"/>
                <a:ext cx="1659303" cy="238446"/>
              </a:xfrm>
              <a:custGeom>
                <a:avLst/>
                <a:gdLst/>
                <a:ahLst/>
                <a:cxnLst/>
                <a:rect r="r" b="b" t="t" l="l"/>
                <a:pathLst>
                  <a:path h="238446" w="1659303">
                    <a:moveTo>
                      <a:pt x="14746" y="0"/>
                    </a:moveTo>
                    <a:lnTo>
                      <a:pt x="1644557" y="0"/>
                    </a:lnTo>
                    <a:cubicBezTo>
                      <a:pt x="1652701" y="0"/>
                      <a:pt x="1659303" y="6602"/>
                      <a:pt x="1659303" y="14746"/>
                    </a:cubicBezTo>
                    <a:lnTo>
                      <a:pt x="1659303" y="223700"/>
                    </a:lnTo>
                    <a:cubicBezTo>
                      <a:pt x="1659303" y="231844"/>
                      <a:pt x="1652701" y="238446"/>
                      <a:pt x="1644557" y="238446"/>
                    </a:cubicBezTo>
                    <a:lnTo>
                      <a:pt x="14746" y="238446"/>
                    </a:lnTo>
                    <a:cubicBezTo>
                      <a:pt x="6602" y="238446"/>
                      <a:pt x="0" y="231844"/>
                      <a:pt x="0" y="223700"/>
                    </a:cubicBezTo>
                    <a:lnTo>
                      <a:pt x="0" y="14746"/>
                    </a:lnTo>
                    <a:cubicBezTo>
                      <a:pt x="0" y="6602"/>
                      <a:pt x="6602" y="0"/>
                      <a:pt x="14746" y="0"/>
                    </a:cubicBezTo>
                    <a:close/>
                  </a:path>
                </a:pathLst>
              </a:custGeom>
              <a:solidFill>
                <a:srgbClr val="FFFFFF"/>
              </a:solidFill>
            </p:spPr>
          </p:sp>
          <p:sp>
            <p:nvSpPr>
              <p:cNvPr name="TextBox 23" id="23"/>
              <p:cNvSpPr txBox="true"/>
              <p:nvPr/>
            </p:nvSpPr>
            <p:spPr>
              <a:xfrm>
                <a:off x="0" y="-38100"/>
                <a:ext cx="1659303" cy="276546"/>
              </a:xfrm>
              <a:prstGeom prst="rect">
                <a:avLst/>
              </a:prstGeom>
            </p:spPr>
            <p:txBody>
              <a:bodyPr anchor="ctr" rtlCol="false" tIns="50800" lIns="50800" bIns="50800" rIns="50800"/>
              <a:lstStyle/>
              <a:p>
                <a:pPr algn="ctr">
                  <a:lnSpc>
                    <a:spcPts val="2520"/>
                  </a:lnSpc>
                </a:pPr>
              </a:p>
            </p:txBody>
          </p:sp>
        </p:grpSp>
        <p:grpSp>
          <p:nvGrpSpPr>
            <p:cNvPr name="Group 24" id="24"/>
            <p:cNvGrpSpPr/>
            <p:nvPr/>
          </p:nvGrpSpPr>
          <p:grpSpPr>
            <a:xfrm rot="0">
              <a:off x="2625328" y="9580827"/>
              <a:ext cx="8400223" cy="1171330"/>
              <a:chOff x="0" y="0"/>
              <a:chExt cx="1659303" cy="231374"/>
            </a:xfrm>
          </p:grpSpPr>
          <p:sp>
            <p:nvSpPr>
              <p:cNvPr name="Freeform 25" id="25"/>
              <p:cNvSpPr/>
              <p:nvPr/>
            </p:nvSpPr>
            <p:spPr>
              <a:xfrm flipH="false" flipV="false" rot="0">
                <a:off x="0" y="0"/>
                <a:ext cx="1659303" cy="231374"/>
              </a:xfrm>
              <a:custGeom>
                <a:avLst/>
                <a:gdLst/>
                <a:ahLst/>
                <a:cxnLst/>
                <a:rect r="r" b="b" t="t" l="l"/>
                <a:pathLst>
                  <a:path h="231374" w="1659303">
                    <a:moveTo>
                      <a:pt x="14746" y="0"/>
                    </a:moveTo>
                    <a:lnTo>
                      <a:pt x="1644557" y="0"/>
                    </a:lnTo>
                    <a:cubicBezTo>
                      <a:pt x="1652701" y="0"/>
                      <a:pt x="1659303" y="6602"/>
                      <a:pt x="1659303" y="14746"/>
                    </a:cubicBezTo>
                    <a:lnTo>
                      <a:pt x="1659303" y="216628"/>
                    </a:lnTo>
                    <a:cubicBezTo>
                      <a:pt x="1659303" y="224772"/>
                      <a:pt x="1652701" y="231374"/>
                      <a:pt x="1644557" y="231374"/>
                    </a:cubicBezTo>
                    <a:lnTo>
                      <a:pt x="14746" y="231374"/>
                    </a:lnTo>
                    <a:cubicBezTo>
                      <a:pt x="6602" y="231374"/>
                      <a:pt x="0" y="224772"/>
                      <a:pt x="0" y="216628"/>
                    </a:cubicBezTo>
                    <a:lnTo>
                      <a:pt x="0" y="14746"/>
                    </a:lnTo>
                    <a:cubicBezTo>
                      <a:pt x="0" y="6602"/>
                      <a:pt x="6602" y="0"/>
                      <a:pt x="14746" y="0"/>
                    </a:cubicBezTo>
                    <a:close/>
                  </a:path>
                </a:pathLst>
              </a:custGeom>
              <a:solidFill>
                <a:srgbClr val="FFFFFF"/>
              </a:solidFill>
            </p:spPr>
          </p:sp>
          <p:sp>
            <p:nvSpPr>
              <p:cNvPr name="TextBox 26" id="26"/>
              <p:cNvSpPr txBox="true"/>
              <p:nvPr/>
            </p:nvSpPr>
            <p:spPr>
              <a:xfrm>
                <a:off x="0" y="-38100"/>
                <a:ext cx="1659303" cy="269474"/>
              </a:xfrm>
              <a:prstGeom prst="rect">
                <a:avLst/>
              </a:prstGeom>
            </p:spPr>
            <p:txBody>
              <a:bodyPr anchor="ctr" rtlCol="false" tIns="50800" lIns="50800" bIns="50800" rIns="50800"/>
              <a:lstStyle/>
              <a:p>
                <a:pPr algn="ctr">
                  <a:lnSpc>
                    <a:spcPts val="2520"/>
                  </a:lnSpc>
                </a:pPr>
              </a:p>
            </p:txBody>
          </p:sp>
        </p:grpSp>
        <p:grpSp>
          <p:nvGrpSpPr>
            <p:cNvPr name="Group 27" id="27"/>
            <p:cNvGrpSpPr/>
            <p:nvPr/>
          </p:nvGrpSpPr>
          <p:grpSpPr>
            <a:xfrm rot="0">
              <a:off x="599322" y="563603"/>
              <a:ext cx="1336349" cy="1336349"/>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2F56"/>
              </a:solidFill>
            </p:spPr>
          </p:sp>
          <p:sp>
            <p:nvSpPr>
              <p:cNvPr name="TextBox 29" id="29"/>
              <p:cNvSpPr txBox="true"/>
              <p:nvPr/>
            </p:nvSpPr>
            <p:spPr>
              <a:xfrm>
                <a:off x="76200" y="28575"/>
                <a:ext cx="660400" cy="708025"/>
              </a:xfrm>
              <a:prstGeom prst="rect">
                <a:avLst/>
              </a:prstGeom>
            </p:spPr>
            <p:txBody>
              <a:bodyPr anchor="ctr" rtlCol="false" tIns="50800" lIns="50800" bIns="50800" rIns="50800"/>
              <a:lstStyle/>
              <a:p>
                <a:pPr algn="ctr" marL="0" indent="0" lvl="0">
                  <a:lnSpc>
                    <a:spcPts val="4199"/>
                  </a:lnSpc>
                  <a:spcBef>
                    <a:spcPct val="0"/>
                  </a:spcBef>
                </a:pPr>
                <a:r>
                  <a:rPr lang="en-US" b="true" sz="2999">
                    <a:solidFill>
                      <a:srgbClr val="FFFFFF"/>
                    </a:solidFill>
                    <a:latin typeface="Montserrat Bold"/>
                    <a:ea typeface="Montserrat Bold"/>
                    <a:cs typeface="Montserrat Bold"/>
                    <a:sym typeface="Montserrat Bold"/>
                  </a:rPr>
                  <a:t>01</a:t>
                </a:r>
              </a:p>
            </p:txBody>
          </p:sp>
        </p:grpSp>
        <p:grpSp>
          <p:nvGrpSpPr>
            <p:cNvPr name="Group 30" id="30"/>
            <p:cNvGrpSpPr/>
            <p:nvPr/>
          </p:nvGrpSpPr>
          <p:grpSpPr>
            <a:xfrm rot="0">
              <a:off x="599322" y="5990474"/>
              <a:ext cx="1336349" cy="1336349"/>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A6A4"/>
              </a:solidFill>
            </p:spPr>
          </p:sp>
          <p:sp>
            <p:nvSpPr>
              <p:cNvPr name="TextBox 32" id="32"/>
              <p:cNvSpPr txBox="true"/>
              <p:nvPr/>
            </p:nvSpPr>
            <p:spPr>
              <a:xfrm>
                <a:off x="76200" y="28575"/>
                <a:ext cx="660400" cy="708025"/>
              </a:xfrm>
              <a:prstGeom prst="rect">
                <a:avLst/>
              </a:prstGeom>
            </p:spPr>
            <p:txBody>
              <a:bodyPr anchor="ctr" rtlCol="false" tIns="50800" lIns="50800" bIns="50800" rIns="50800"/>
              <a:lstStyle/>
              <a:p>
                <a:pPr algn="ctr" marL="0" indent="0" lvl="0">
                  <a:lnSpc>
                    <a:spcPts val="4199"/>
                  </a:lnSpc>
                  <a:spcBef>
                    <a:spcPct val="0"/>
                  </a:spcBef>
                </a:pPr>
                <a:r>
                  <a:rPr lang="en-US" b="true" sz="2999">
                    <a:solidFill>
                      <a:srgbClr val="000000"/>
                    </a:solidFill>
                    <a:latin typeface="Montserrat Bold"/>
                    <a:ea typeface="Montserrat Bold"/>
                    <a:cs typeface="Montserrat Bold"/>
                    <a:sym typeface="Montserrat Bold"/>
                  </a:rPr>
                  <a:t>04</a:t>
                </a:r>
              </a:p>
            </p:txBody>
          </p:sp>
        </p:grpSp>
        <p:grpSp>
          <p:nvGrpSpPr>
            <p:cNvPr name="Group 33" id="33"/>
            <p:cNvGrpSpPr/>
            <p:nvPr/>
          </p:nvGrpSpPr>
          <p:grpSpPr>
            <a:xfrm rot="0">
              <a:off x="599322" y="2452023"/>
              <a:ext cx="1336349" cy="1336349"/>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4B7B"/>
              </a:solidFill>
            </p:spPr>
          </p:sp>
          <p:sp>
            <p:nvSpPr>
              <p:cNvPr name="TextBox 35" id="35"/>
              <p:cNvSpPr txBox="true"/>
              <p:nvPr/>
            </p:nvSpPr>
            <p:spPr>
              <a:xfrm>
                <a:off x="76200" y="28575"/>
                <a:ext cx="660400" cy="708025"/>
              </a:xfrm>
              <a:prstGeom prst="rect">
                <a:avLst/>
              </a:prstGeom>
            </p:spPr>
            <p:txBody>
              <a:bodyPr anchor="ctr" rtlCol="false" tIns="50800" lIns="50800" bIns="50800" rIns="50800"/>
              <a:lstStyle/>
              <a:p>
                <a:pPr algn="ctr" marL="0" indent="0" lvl="0">
                  <a:lnSpc>
                    <a:spcPts val="4199"/>
                  </a:lnSpc>
                  <a:spcBef>
                    <a:spcPct val="0"/>
                  </a:spcBef>
                </a:pPr>
                <a:r>
                  <a:rPr lang="en-US" b="true" sz="2999">
                    <a:solidFill>
                      <a:srgbClr val="FFFFFF"/>
                    </a:solidFill>
                    <a:latin typeface="Montserrat Bold"/>
                    <a:ea typeface="Montserrat Bold"/>
                    <a:cs typeface="Montserrat Bold"/>
                    <a:sym typeface="Montserrat Bold"/>
                  </a:rPr>
                  <a:t>02</a:t>
                </a:r>
              </a:p>
            </p:txBody>
          </p:sp>
        </p:grpSp>
        <p:grpSp>
          <p:nvGrpSpPr>
            <p:cNvPr name="Group 36" id="36"/>
            <p:cNvGrpSpPr/>
            <p:nvPr/>
          </p:nvGrpSpPr>
          <p:grpSpPr>
            <a:xfrm rot="0">
              <a:off x="599322" y="7788385"/>
              <a:ext cx="1336349" cy="1336349"/>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C79D"/>
              </a:solidFill>
            </p:spPr>
          </p:sp>
          <p:sp>
            <p:nvSpPr>
              <p:cNvPr name="TextBox 38" id="38"/>
              <p:cNvSpPr txBox="true"/>
              <p:nvPr/>
            </p:nvSpPr>
            <p:spPr>
              <a:xfrm>
                <a:off x="76200" y="28575"/>
                <a:ext cx="660400" cy="708025"/>
              </a:xfrm>
              <a:prstGeom prst="rect">
                <a:avLst/>
              </a:prstGeom>
            </p:spPr>
            <p:txBody>
              <a:bodyPr anchor="ctr" rtlCol="false" tIns="50800" lIns="50800" bIns="50800" rIns="50800"/>
              <a:lstStyle/>
              <a:p>
                <a:pPr algn="ctr" marL="0" indent="0" lvl="0">
                  <a:lnSpc>
                    <a:spcPts val="4199"/>
                  </a:lnSpc>
                  <a:spcBef>
                    <a:spcPct val="0"/>
                  </a:spcBef>
                </a:pPr>
                <a:r>
                  <a:rPr lang="en-US" b="true" sz="2999">
                    <a:solidFill>
                      <a:srgbClr val="000000"/>
                    </a:solidFill>
                    <a:latin typeface="Montserrat Bold"/>
                    <a:ea typeface="Montserrat Bold"/>
                    <a:cs typeface="Montserrat Bold"/>
                    <a:sym typeface="Montserrat Bold"/>
                  </a:rPr>
                  <a:t>06</a:t>
                </a:r>
              </a:p>
            </p:txBody>
          </p:sp>
        </p:grpSp>
        <p:grpSp>
          <p:nvGrpSpPr>
            <p:cNvPr name="Group 39" id="39"/>
            <p:cNvGrpSpPr/>
            <p:nvPr/>
          </p:nvGrpSpPr>
          <p:grpSpPr>
            <a:xfrm rot="0">
              <a:off x="599322" y="4192564"/>
              <a:ext cx="1336349" cy="1336349"/>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6A95"/>
              </a:solidFill>
            </p:spPr>
          </p:sp>
          <p:sp>
            <p:nvSpPr>
              <p:cNvPr name="TextBox 41" id="41"/>
              <p:cNvSpPr txBox="true"/>
              <p:nvPr/>
            </p:nvSpPr>
            <p:spPr>
              <a:xfrm>
                <a:off x="76200" y="28575"/>
                <a:ext cx="660400" cy="708025"/>
              </a:xfrm>
              <a:prstGeom prst="rect">
                <a:avLst/>
              </a:prstGeom>
            </p:spPr>
            <p:txBody>
              <a:bodyPr anchor="ctr" rtlCol="false" tIns="50800" lIns="50800" bIns="50800" rIns="50800"/>
              <a:lstStyle/>
              <a:p>
                <a:pPr algn="ctr" marL="0" indent="0" lvl="0">
                  <a:lnSpc>
                    <a:spcPts val="4199"/>
                  </a:lnSpc>
                  <a:spcBef>
                    <a:spcPct val="0"/>
                  </a:spcBef>
                </a:pPr>
                <a:r>
                  <a:rPr lang="en-US" b="true" sz="2999">
                    <a:solidFill>
                      <a:srgbClr val="FFFFFF"/>
                    </a:solidFill>
                    <a:latin typeface="Montserrat Bold"/>
                    <a:ea typeface="Montserrat Bold"/>
                    <a:cs typeface="Montserrat Bold"/>
                    <a:sym typeface="Montserrat Bold"/>
                  </a:rPr>
                  <a:t>03</a:t>
                </a:r>
              </a:p>
            </p:txBody>
          </p:sp>
        </p:grpSp>
        <p:grpSp>
          <p:nvGrpSpPr>
            <p:cNvPr name="Group 42" id="42"/>
            <p:cNvGrpSpPr/>
            <p:nvPr/>
          </p:nvGrpSpPr>
          <p:grpSpPr>
            <a:xfrm rot="0">
              <a:off x="599322" y="9531134"/>
              <a:ext cx="1336349" cy="1336349"/>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3E387"/>
              </a:solidFill>
            </p:spPr>
          </p:sp>
          <p:sp>
            <p:nvSpPr>
              <p:cNvPr name="TextBox 44" id="44"/>
              <p:cNvSpPr txBox="true"/>
              <p:nvPr/>
            </p:nvSpPr>
            <p:spPr>
              <a:xfrm>
                <a:off x="76200" y="28575"/>
                <a:ext cx="660400" cy="708025"/>
              </a:xfrm>
              <a:prstGeom prst="rect">
                <a:avLst/>
              </a:prstGeom>
            </p:spPr>
            <p:txBody>
              <a:bodyPr anchor="ctr" rtlCol="false" tIns="50800" lIns="50800" bIns="50800" rIns="50800"/>
              <a:lstStyle/>
              <a:p>
                <a:pPr algn="ctr" marL="0" indent="0" lvl="0">
                  <a:lnSpc>
                    <a:spcPts val="4199"/>
                  </a:lnSpc>
                  <a:spcBef>
                    <a:spcPct val="0"/>
                  </a:spcBef>
                </a:pPr>
                <a:r>
                  <a:rPr lang="en-US" b="true" sz="2999">
                    <a:solidFill>
                      <a:srgbClr val="000000"/>
                    </a:solidFill>
                    <a:latin typeface="Montserrat Bold"/>
                    <a:ea typeface="Montserrat Bold"/>
                    <a:cs typeface="Montserrat Bold"/>
                    <a:sym typeface="Montserrat Bold"/>
                  </a:rPr>
                  <a:t>07</a:t>
                </a:r>
              </a:p>
            </p:txBody>
          </p:sp>
        </p:grpSp>
        <p:sp>
          <p:nvSpPr>
            <p:cNvPr name="TextBox 45" id="45"/>
            <p:cNvSpPr txBox="true"/>
            <p:nvPr/>
          </p:nvSpPr>
          <p:spPr>
            <a:xfrm rot="0">
              <a:off x="2889963" y="2601659"/>
              <a:ext cx="7870954" cy="670772"/>
            </a:xfrm>
            <a:prstGeom prst="rect">
              <a:avLst/>
            </a:prstGeom>
          </p:spPr>
          <p:txBody>
            <a:bodyPr anchor="t" rtlCol="false" tIns="0" lIns="0" bIns="0" rIns="0">
              <a:spAutoFit/>
            </a:bodyPr>
            <a:lstStyle/>
            <a:p>
              <a:pPr algn="just" marL="0" indent="0" lvl="0">
                <a:lnSpc>
                  <a:spcPts val="1900"/>
                </a:lnSpc>
              </a:pPr>
              <a:r>
                <a:rPr lang="en-US" b="true" sz="1900">
                  <a:solidFill>
                    <a:srgbClr val="000000"/>
                  </a:solidFill>
                  <a:latin typeface="Montserrat Bold"/>
                  <a:ea typeface="Montserrat Bold"/>
                  <a:cs typeface="Montserrat Bold"/>
                  <a:sym typeface="Montserrat Bold"/>
                </a:rPr>
                <a:t>Data loading-csv formate ,Storage -csv formate</a:t>
              </a:r>
            </a:p>
          </p:txBody>
        </p:sp>
        <p:sp>
          <p:nvSpPr>
            <p:cNvPr name="TextBox 46" id="46"/>
            <p:cNvSpPr txBox="true"/>
            <p:nvPr/>
          </p:nvSpPr>
          <p:spPr>
            <a:xfrm rot="0">
              <a:off x="2889963" y="4058005"/>
              <a:ext cx="7870954" cy="988272"/>
            </a:xfrm>
            <a:prstGeom prst="rect">
              <a:avLst/>
            </a:prstGeom>
          </p:spPr>
          <p:txBody>
            <a:bodyPr anchor="t" rtlCol="false" tIns="0" lIns="0" bIns="0" rIns="0">
              <a:spAutoFit/>
            </a:bodyPr>
            <a:lstStyle/>
            <a:p>
              <a:pPr algn="just">
                <a:lnSpc>
                  <a:spcPts val="1900"/>
                </a:lnSpc>
              </a:pPr>
              <a:r>
                <a:rPr lang="en-US" sz="1900" b="true">
                  <a:solidFill>
                    <a:srgbClr val="000000"/>
                  </a:solidFill>
                  <a:latin typeface="Montserrat Bold"/>
                  <a:ea typeface="Montserrat Bold"/>
                  <a:cs typeface="Montserrat Bold"/>
                  <a:sym typeface="Montserrat Bold"/>
                </a:rPr>
                <a:t>DataFrame -updating ,creating ,Exporting, importing</a:t>
              </a:r>
            </a:p>
            <a:p>
              <a:pPr algn="just" marL="0" indent="0" lvl="0">
                <a:lnSpc>
                  <a:spcPts val="1900"/>
                </a:lnSpc>
              </a:pPr>
              <a:r>
                <a:rPr lang="en-US" b="true" sz="1900">
                  <a:solidFill>
                    <a:srgbClr val="000000"/>
                  </a:solidFill>
                  <a:latin typeface="Montserrat Bold"/>
                  <a:ea typeface="Montserrat Bold"/>
                  <a:cs typeface="Montserrat Bold"/>
                  <a:sym typeface="Montserrat Bold"/>
                </a:rPr>
                <a:t>Apply Functions: Column &amp; Row Wise</a:t>
              </a:r>
            </a:p>
          </p:txBody>
        </p:sp>
        <p:sp>
          <p:nvSpPr>
            <p:cNvPr name="TextBox 47" id="47"/>
            <p:cNvSpPr txBox="true"/>
            <p:nvPr/>
          </p:nvSpPr>
          <p:spPr>
            <a:xfrm rot="0">
              <a:off x="2889963" y="6169349"/>
              <a:ext cx="6762113" cy="680449"/>
            </a:xfrm>
            <a:prstGeom prst="rect">
              <a:avLst/>
            </a:prstGeom>
          </p:spPr>
          <p:txBody>
            <a:bodyPr anchor="t" rtlCol="false" tIns="0" lIns="0" bIns="0" rIns="0">
              <a:spAutoFit/>
            </a:bodyPr>
            <a:lstStyle/>
            <a:p>
              <a:pPr algn="just">
                <a:lnSpc>
                  <a:spcPts val="1998"/>
                </a:lnSpc>
              </a:pPr>
              <a:r>
                <a:rPr lang="en-US" b="true" sz="1998">
                  <a:solidFill>
                    <a:srgbClr val="000000"/>
                  </a:solidFill>
                  <a:latin typeface="Montserrat Bold"/>
                  <a:ea typeface="Montserrat Bold"/>
                  <a:cs typeface="Montserrat Bold"/>
                  <a:sym typeface="Montserrat Bold"/>
                </a:rPr>
                <a:t>Descriptive Statistical Analysis: Spread,Correlation,Outlier Treatment</a:t>
              </a:r>
            </a:p>
          </p:txBody>
        </p:sp>
        <p:sp>
          <p:nvSpPr>
            <p:cNvPr name="TextBox 48" id="48"/>
            <p:cNvSpPr txBox="true"/>
            <p:nvPr/>
          </p:nvSpPr>
          <p:spPr>
            <a:xfrm rot="0">
              <a:off x="2889963" y="7965492"/>
              <a:ext cx="6762113" cy="1020234"/>
            </a:xfrm>
            <a:prstGeom prst="rect">
              <a:avLst/>
            </a:prstGeom>
          </p:spPr>
          <p:txBody>
            <a:bodyPr anchor="t" rtlCol="false" tIns="0" lIns="0" bIns="0" rIns="0">
              <a:spAutoFit/>
            </a:bodyPr>
            <a:lstStyle/>
            <a:p>
              <a:pPr algn="just">
                <a:lnSpc>
                  <a:spcPts val="2000"/>
                </a:lnSpc>
              </a:pPr>
              <a:r>
                <a:rPr lang="en-US" b="true" sz="2000">
                  <a:solidFill>
                    <a:srgbClr val="000000"/>
                  </a:solidFill>
                  <a:latin typeface="Montserrat Bold"/>
                  <a:ea typeface="Montserrat Bold"/>
                  <a:cs typeface="Montserrat Bold"/>
                  <a:sym typeface="Montserrat Bold"/>
                </a:rPr>
                <a:t>Graphics for univariate, bivariate, multivariate,histograms,scatterplot, box plat, pair plot,pie plot</a:t>
              </a:r>
            </a:p>
          </p:txBody>
        </p:sp>
        <p:sp>
          <p:nvSpPr>
            <p:cNvPr name="TextBox 49" id="49"/>
            <p:cNvSpPr txBox="true"/>
            <p:nvPr/>
          </p:nvSpPr>
          <p:spPr>
            <a:xfrm rot="0">
              <a:off x="2889963" y="9725176"/>
              <a:ext cx="7870954" cy="1380066"/>
            </a:xfrm>
            <a:prstGeom prst="rect">
              <a:avLst/>
            </a:prstGeom>
          </p:spPr>
          <p:txBody>
            <a:bodyPr anchor="t" rtlCol="false" tIns="0" lIns="0" bIns="0" rIns="0">
              <a:spAutoFit/>
            </a:bodyPr>
            <a:lstStyle/>
            <a:p>
              <a:pPr algn="just">
                <a:lnSpc>
                  <a:spcPts val="2800"/>
                </a:lnSpc>
              </a:pPr>
              <a:r>
                <a:rPr lang="en-US" sz="2000" b="true">
                  <a:solidFill>
                    <a:srgbClr val="000000"/>
                  </a:solidFill>
                  <a:latin typeface="Montserrat Bold"/>
                  <a:ea typeface="Montserrat Bold"/>
                  <a:cs typeface="Montserrat Bold"/>
                  <a:sym typeface="Montserrat Bold"/>
                </a:rPr>
                <a:t>Apply unsupervised(K Means) </a:t>
              </a:r>
            </a:p>
            <a:p>
              <a:pPr algn="just">
                <a:lnSpc>
                  <a:spcPts val="2800"/>
                </a:lnSpc>
                <a:spcBef>
                  <a:spcPct val="0"/>
                </a:spcBef>
              </a:pPr>
              <a:r>
                <a:rPr lang="en-US" b="true" sz="2000">
                  <a:solidFill>
                    <a:srgbClr val="000000"/>
                  </a:solidFill>
                  <a:latin typeface="Montserrat Bold"/>
                  <a:ea typeface="Montserrat Bold"/>
                  <a:cs typeface="Montserrat Bold"/>
                  <a:sym typeface="Montserrat Bold"/>
                </a:rPr>
                <a:t>Supervised(Logistic Regression)</a:t>
              </a:r>
            </a:p>
            <a:p>
              <a:pPr algn="just">
                <a:lnSpc>
                  <a:spcPts val="2800"/>
                </a:lnSpc>
                <a:spcBef>
                  <a:spcPct val="0"/>
                </a:spcBef>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sp>
        <p:nvSpPr>
          <p:cNvPr name="Freeform 2" id="2"/>
          <p:cNvSpPr/>
          <p:nvPr/>
        </p:nvSpPr>
        <p:spPr>
          <a:xfrm flipH="false" flipV="false" rot="0">
            <a:off x="11824193" y="5143500"/>
            <a:ext cx="5293699" cy="4645581"/>
          </a:xfrm>
          <a:custGeom>
            <a:avLst/>
            <a:gdLst/>
            <a:ahLst/>
            <a:cxnLst/>
            <a:rect r="r" b="b" t="t" l="l"/>
            <a:pathLst>
              <a:path h="4645581" w="5293699">
                <a:moveTo>
                  <a:pt x="0" y="0"/>
                </a:moveTo>
                <a:lnTo>
                  <a:pt x="5293699" y="0"/>
                </a:lnTo>
                <a:lnTo>
                  <a:pt x="5293699" y="4645581"/>
                </a:lnTo>
                <a:lnTo>
                  <a:pt x="0" y="4645581"/>
                </a:lnTo>
                <a:lnTo>
                  <a:pt x="0" y="0"/>
                </a:lnTo>
                <a:close/>
              </a:path>
            </a:pathLst>
          </a:custGeom>
          <a:blipFill>
            <a:blip r:embed="rId2"/>
            <a:stretch>
              <a:fillRect l="0" t="-9228" r="0" b="-3769"/>
            </a:stretch>
          </a:blipFill>
          <a:ln w="38100" cap="sq">
            <a:solidFill>
              <a:srgbClr val="000000"/>
            </a:solidFill>
            <a:prstDash val="solid"/>
            <a:miter/>
          </a:ln>
        </p:spPr>
      </p:sp>
      <p:sp>
        <p:nvSpPr>
          <p:cNvPr name="TextBox 3" id="3"/>
          <p:cNvSpPr txBox="true"/>
          <p:nvPr/>
        </p:nvSpPr>
        <p:spPr>
          <a:xfrm rot="0">
            <a:off x="95799" y="42477"/>
            <a:ext cx="9973526" cy="1120775"/>
          </a:xfrm>
          <a:prstGeom prst="rect">
            <a:avLst/>
          </a:prstGeom>
        </p:spPr>
        <p:txBody>
          <a:bodyPr anchor="t" rtlCol="false" tIns="0" lIns="0" bIns="0" rIns="0">
            <a:spAutoFit/>
          </a:bodyPr>
          <a:lstStyle/>
          <a:p>
            <a:pPr algn="l" marL="0" indent="0" lvl="0">
              <a:lnSpc>
                <a:spcPts val="9100"/>
              </a:lnSpc>
            </a:pPr>
            <a:r>
              <a:rPr lang="en-US" b="true" sz="6500">
                <a:solidFill>
                  <a:srgbClr val="1F1F1F"/>
                </a:solidFill>
                <a:latin typeface="Montserrat Bold"/>
                <a:ea typeface="Montserrat Bold"/>
                <a:cs typeface="Montserrat Bold"/>
                <a:sym typeface="Montserrat Bold"/>
              </a:rPr>
              <a:t>Dataset Overview</a:t>
            </a:r>
          </a:p>
        </p:txBody>
      </p:sp>
      <p:sp>
        <p:nvSpPr>
          <p:cNvPr name="Freeform 4" id="4"/>
          <p:cNvSpPr/>
          <p:nvPr/>
        </p:nvSpPr>
        <p:spPr>
          <a:xfrm flipH="false" flipV="false" rot="0">
            <a:off x="2006409" y="1534727"/>
            <a:ext cx="1110128" cy="1201122"/>
          </a:xfrm>
          <a:custGeom>
            <a:avLst/>
            <a:gdLst/>
            <a:ahLst/>
            <a:cxnLst/>
            <a:rect r="r" b="b" t="t" l="l"/>
            <a:pathLst>
              <a:path h="1201122" w="1110128">
                <a:moveTo>
                  <a:pt x="0" y="0"/>
                </a:moveTo>
                <a:lnTo>
                  <a:pt x="1110128" y="0"/>
                </a:lnTo>
                <a:lnTo>
                  <a:pt x="1110128" y="1201121"/>
                </a:lnTo>
                <a:lnTo>
                  <a:pt x="0" y="1201121"/>
                </a:lnTo>
                <a:lnTo>
                  <a:pt x="0" y="0"/>
                </a:lnTo>
                <a:close/>
              </a:path>
            </a:pathLst>
          </a:custGeom>
          <a:blipFill>
            <a:blip r:embed="rId3"/>
            <a:stretch>
              <a:fillRect l="0" t="0" r="0" b="0"/>
            </a:stretch>
          </a:blipFill>
        </p:spPr>
      </p:sp>
      <p:grpSp>
        <p:nvGrpSpPr>
          <p:cNvPr name="Group 5" id="5"/>
          <p:cNvGrpSpPr/>
          <p:nvPr/>
        </p:nvGrpSpPr>
        <p:grpSpPr>
          <a:xfrm rot="0">
            <a:off x="679389" y="2954923"/>
            <a:ext cx="3764413" cy="2075550"/>
            <a:chOff x="0" y="0"/>
            <a:chExt cx="991450" cy="546647"/>
          </a:xfrm>
        </p:grpSpPr>
        <p:sp>
          <p:nvSpPr>
            <p:cNvPr name="Freeform 6" id="6"/>
            <p:cNvSpPr/>
            <p:nvPr/>
          </p:nvSpPr>
          <p:spPr>
            <a:xfrm flipH="false" flipV="false" rot="0">
              <a:off x="0" y="0"/>
              <a:ext cx="991450" cy="546647"/>
            </a:xfrm>
            <a:custGeom>
              <a:avLst/>
              <a:gdLst/>
              <a:ahLst/>
              <a:cxnLst/>
              <a:rect r="r" b="b" t="t" l="l"/>
              <a:pathLst>
                <a:path h="546647" w="991450">
                  <a:moveTo>
                    <a:pt x="74038" y="0"/>
                  </a:moveTo>
                  <a:lnTo>
                    <a:pt x="917413" y="0"/>
                  </a:lnTo>
                  <a:cubicBezTo>
                    <a:pt x="937049" y="0"/>
                    <a:pt x="955880" y="7800"/>
                    <a:pt x="969765" y="21685"/>
                  </a:cubicBezTo>
                  <a:cubicBezTo>
                    <a:pt x="983650" y="35570"/>
                    <a:pt x="991450" y="54402"/>
                    <a:pt x="991450" y="74038"/>
                  </a:cubicBezTo>
                  <a:lnTo>
                    <a:pt x="991450" y="472609"/>
                  </a:lnTo>
                  <a:cubicBezTo>
                    <a:pt x="991450" y="513499"/>
                    <a:pt x="958303" y="546647"/>
                    <a:pt x="917413" y="546647"/>
                  </a:cubicBezTo>
                  <a:lnTo>
                    <a:pt x="74038" y="546647"/>
                  </a:lnTo>
                  <a:cubicBezTo>
                    <a:pt x="33148" y="546647"/>
                    <a:pt x="0" y="513499"/>
                    <a:pt x="0" y="472609"/>
                  </a:cubicBezTo>
                  <a:lnTo>
                    <a:pt x="0" y="74038"/>
                  </a:lnTo>
                  <a:cubicBezTo>
                    <a:pt x="0" y="54402"/>
                    <a:pt x="7800" y="35570"/>
                    <a:pt x="21685" y="21685"/>
                  </a:cubicBezTo>
                  <a:cubicBezTo>
                    <a:pt x="35570" y="7800"/>
                    <a:pt x="54402" y="0"/>
                    <a:pt x="74038" y="0"/>
                  </a:cubicBezTo>
                  <a:close/>
                </a:path>
              </a:pathLst>
            </a:custGeom>
            <a:solidFill>
              <a:srgbClr val="D1FAE5"/>
            </a:solidFill>
          </p:spPr>
        </p:sp>
        <p:sp>
          <p:nvSpPr>
            <p:cNvPr name="TextBox 7" id="7"/>
            <p:cNvSpPr txBox="true"/>
            <p:nvPr/>
          </p:nvSpPr>
          <p:spPr>
            <a:xfrm>
              <a:off x="0" y="-38100"/>
              <a:ext cx="991450" cy="584747"/>
            </a:xfrm>
            <a:prstGeom prst="rect">
              <a:avLst/>
            </a:prstGeom>
          </p:spPr>
          <p:txBody>
            <a:bodyPr anchor="ctr" rtlCol="false" tIns="50800" lIns="50800" bIns="50800" rIns="50800"/>
            <a:lstStyle/>
            <a:p>
              <a:pPr algn="ctr" marL="0" indent="0" lvl="0">
                <a:lnSpc>
                  <a:spcPts val="3499"/>
                </a:lnSpc>
              </a:pPr>
            </a:p>
          </p:txBody>
        </p:sp>
      </p:grpSp>
      <p:sp>
        <p:nvSpPr>
          <p:cNvPr name="TextBox 8" id="8"/>
          <p:cNvSpPr txBox="true"/>
          <p:nvPr/>
        </p:nvSpPr>
        <p:spPr>
          <a:xfrm rot="0">
            <a:off x="698174" y="3222744"/>
            <a:ext cx="3530479" cy="412750"/>
          </a:xfrm>
          <a:prstGeom prst="rect">
            <a:avLst/>
          </a:prstGeom>
        </p:spPr>
        <p:txBody>
          <a:bodyPr anchor="t" rtlCol="false" tIns="0" lIns="0" bIns="0" rIns="0">
            <a:spAutoFit/>
          </a:bodyPr>
          <a:lstStyle/>
          <a:p>
            <a:pPr algn="ctr" marL="0" indent="0" lvl="0">
              <a:lnSpc>
                <a:spcPts val="3499"/>
              </a:lnSpc>
              <a:spcBef>
                <a:spcPct val="0"/>
              </a:spcBef>
            </a:pPr>
            <a:r>
              <a:rPr lang="en-US" b="true" sz="2499">
                <a:solidFill>
                  <a:srgbClr val="6B7280"/>
                </a:solidFill>
                <a:latin typeface="Montserrat Bold"/>
                <a:ea typeface="Montserrat Bold"/>
                <a:cs typeface="Montserrat Bold"/>
                <a:sym typeface="Montserrat Bold"/>
              </a:rPr>
              <a:t>Total Records</a:t>
            </a:r>
          </a:p>
        </p:txBody>
      </p:sp>
      <p:sp>
        <p:nvSpPr>
          <p:cNvPr name="TextBox 9" id="9"/>
          <p:cNvSpPr txBox="true"/>
          <p:nvPr/>
        </p:nvSpPr>
        <p:spPr>
          <a:xfrm rot="0">
            <a:off x="824974" y="3683119"/>
            <a:ext cx="3276880" cy="1234033"/>
          </a:xfrm>
          <a:prstGeom prst="rect">
            <a:avLst/>
          </a:prstGeom>
        </p:spPr>
        <p:txBody>
          <a:bodyPr anchor="t" rtlCol="false" tIns="0" lIns="0" bIns="0" rIns="0">
            <a:spAutoFit/>
          </a:bodyPr>
          <a:lstStyle/>
          <a:p>
            <a:pPr algn="ctr" marL="0" indent="0" lvl="0">
              <a:lnSpc>
                <a:spcPts val="2458"/>
              </a:lnSpc>
            </a:pPr>
            <a:r>
              <a:rPr lang="en-US" sz="2458">
                <a:solidFill>
                  <a:srgbClr val="6B7280"/>
                </a:solidFill>
                <a:latin typeface="Montserrat"/>
                <a:ea typeface="Montserrat"/>
                <a:cs typeface="Montserrat"/>
                <a:sym typeface="Montserrat"/>
              </a:rPr>
              <a:t>2,512 banking transactions analyzed in this study.</a:t>
            </a:r>
          </a:p>
        </p:txBody>
      </p:sp>
      <p:sp>
        <p:nvSpPr>
          <p:cNvPr name="Freeform 10" id="10"/>
          <p:cNvSpPr/>
          <p:nvPr/>
        </p:nvSpPr>
        <p:spPr>
          <a:xfrm flipH="false" flipV="false" rot="0">
            <a:off x="5748299" y="1535501"/>
            <a:ext cx="1050765" cy="1200347"/>
          </a:xfrm>
          <a:custGeom>
            <a:avLst/>
            <a:gdLst/>
            <a:ahLst/>
            <a:cxnLst/>
            <a:rect r="r" b="b" t="t" l="l"/>
            <a:pathLst>
              <a:path h="1200347" w="1050765">
                <a:moveTo>
                  <a:pt x="0" y="0"/>
                </a:moveTo>
                <a:lnTo>
                  <a:pt x="1050766" y="0"/>
                </a:lnTo>
                <a:lnTo>
                  <a:pt x="1050766" y="1200347"/>
                </a:lnTo>
                <a:lnTo>
                  <a:pt x="0" y="1200347"/>
                </a:lnTo>
                <a:lnTo>
                  <a:pt x="0" y="0"/>
                </a:lnTo>
                <a:close/>
              </a:path>
            </a:pathLst>
          </a:custGeom>
          <a:blipFill>
            <a:blip r:embed="rId4"/>
            <a:stretch>
              <a:fillRect l="0" t="0" r="0" b="0"/>
            </a:stretch>
          </a:blipFill>
        </p:spPr>
      </p:sp>
      <p:grpSp>
        <p:nvGrpSpPr>
          <p:cNvPr name="Group 11" id="11"/>
          <p:cNvGrpSpPr/>
          <p:nvPr/>
        </p:nvGrpSpPr>
        <p:grpSpPr>
          <a:xfrm rot="0">
            <a:off x="4661286" y="3078202"/>
            <a:ext cx="4052717" cy="1952270"/>
            <a:chOff x="0" y="0"/>
            <a:chExt cx="1067382" cy="514178"/>
          </a:xfrm>
        </p:grpSpPr>
        <p:sp>
          <p:nvSpPr>
            <p:cNvPr name="Freeform 12" id="12"/>
            <p:cNvSpPr/>
            <p:nvPr/>
          </p:nvSpPr>
          <p:spPr>
            <a:xfrm flipH="false" flipV="false" rot="0">
              <a:off x="0" y="0"/>
              <a:ext cx="1067382" cy="514178"/>
            </a:xfrm>
            <a:custGeom>
              <a:avLst/>
              <a:gdLst/>
              <a:ahLst/>
              <a:cxnLst/>
              <a:rect r="r" b="b" t="t" l="l"/>
              <a:pathLst>
                <a:path h="514178" w="1067382">
                  <a:moveTo>
                    <a:pt x="68771" y="0"/>
                  </a:moveTo>
                  <a:lnTo>
                    <a:pt x="998611" y="0"/>
                  </a:lnTo>
                  <a:cubicBezTo>
                    <a:pt x="1036592" y="0"/>
                    <a:pt x="1067382" y="30790"/>
                    <a:pt x="1067382" y="68771"/>
                  </a:cubicBezTo>
                  <a:lnTo>
                    <a:pt x="1067382" y="445407"/>
                  </a:lnTo>
                  <a:cubicBezTo>
                    <a:pt x="1067382" y="463646"/>
                    <a:pt x="1060137" y="481139"/>
                    <a:pt x="1047240" y="494036"/>
                  </a:cubicBezTo>
                  <a:cubicBezTo>
                    <a:pt x="1034343" y="506933"/>
                    <a:pt x="1016851" y="514178"/>
                    <a:pt x="998611" y="514178"/>
                  </a:cubicBezTo>
                  <a:lnTo>
                    <a:pt x="68771" y="514178"/>
                  </a:lnTo>
                  <a:cubicBezTo>
                    <a:pt x="30790" y="514178"/>
                    <a:pt x="0" y="483388"/>
                    <a:pt x="0" y="445407"/>
                  </a:cubicBezTo>
                  <a:lnTo>
                    <a:pt x="0" y="68771"/>
                  </a:lnTo>
                  <a:cubicBezTo>
                    <a:pt x="0" y="30790"/>
                    <a:pt x="30790" y="0"/>
                    <a:pt x="68771" y="0"/>
                  </a:cubicBezTo>
                  <a:close/>
                </a:path>
              </a:pathLst>
            </a:custGeom>
            <a:solidFill>
              <a:srgbClr val="D1FAE5"/>
            </a:solidFill>
          </p:spPr>
        </p:sp>
        <p:sp>
          <p:nvSpPr>
            <p:cNvPr name="TextBox 13" id="13"/>
            <p:cNvSpPr txBox="true"/>
            <p:nvPr/>
          </p:nvSpPr>
          <p:spPr>
            <a:xfrm>
              <a:off x="0" y="-38100"/>
              <a:ext cx="1067382" cy="552278"/>
            </a:xfrm>
            <a:prstGeom prst="rect">
              <a:avLst/>
            </a:prstGeom>
          </p:spPr>
          <p:txBody>
            <a:bodyPr anchor="ctr" rtlCol="false" tIns="50800" lIns="50800" bIns="50800" rIns="50800"/>
            <a:lstStyle/>
            <a:p>
              <a:pPr algn="ctr" marL="0" indent="0" lvl="0">
                <a:lnSpc>
                  <a:spcPts val="3499"/>
                </a:lnSpc>
              </a:pPr>
            </a:p>
          </p:txBody>
        </p:sp>
      </p:grpSp>
      <p:sp>
        <p:nvSpPr>
          <p:cNvPr name="TextBox 14" id="14"/>
          <p:cNvSpPr txBox="true"/>
          <p:nvPr/>
        </p:nvSpPr>
        <p:spPr>
          <a:xfrm rot="0">
            <a:off x="4972680" y="3135898"/>
            <a:ext cx="3064118" cy="412750"/>
          </a:xfrm>
          <a:prstGeom prst="rect">
            <a:avLst/>
          </a:prstGeom>
        </p:spPr>
        <p:txBody>
          <a:bodyPr anchor="t" rtlCol="false" tIns="0" lIns="0" bIns="0" rIns="0">
            <a:spAutoFit/>
          </a:bodyPr>
          <a:lstStyle/>
          <a:p>
            <a:pPr algn="ctr" marL="0" indent="0" lvl="0">
              <a:lnSpc>
                <a:spcPts val="3499"/>
              </a:lnSpc>
              <a:spcBef>
                <a:spcPct val="0"/>
              </a:spcBef>
            </a:pPr>
            <a:r>
              <a:rPr lang="en-US" b="true" sz="2499">
                <a:solidFill>
                  <a:srgbClr val="6B7280"/>
                </a:solidFill>
                <a:latin typeface="Montserrat Bold"/>
                <a:ea typeface="Montserrat Bold"/>
                <a:cs typeface="Montserrat Bold"/>
                <a:sym typeface="Montserrat Bold"/>
              </a:rPr>
              <a:t>Features</a:t>
            </a:r>
          </a:p>
        </p:txBody>
      </p:sp>
      <p:sp>
        <p:nvSpPr>
          <p:cNvPr name="TextBox 15" id="15"/>
          <p:cNvSpPr txBox="true"/>
          <p:nvPr/>
        </p:nvSpPr>
        <p:spPr>
          <a:xfrm rot="0">
            <a:off x="5082562" y="3657887"/>
            <a:ext cx="3064118" cy="929233"/>
          </a:xfrm>
          <a:prstGeom prst="rect">
            <a:avLst/>
          </a:prstGeom>
        </p:spPr>
        <p:txBody>
          <a:bodyPr anchor="t" rtlCol="false" tIns="0" lIns="0" bIns="0" rIns="0">
            <a:spAutoFit/>
          </a:bodyPr>
          <a:lstStyle/>
          <a:p>
            <a:pPr algn="ctr" marL="0" indent="0" lvl="0">
              <a:lnSpc>
                <a:spcPts val="2458"/>
              </a:lnSpc>
            </a:pPr>
            <a:r>
              <a:rPr lang="en-US" sz="2458">
                <a:solidFill>
                  <a:srgbClr val="6B7280"/>
                </a:solidFill>
                <a:latin typeface="Montserrat"/>
                <a:ea typeface="Montserrat"/>
                <a:cs typeface="Montserrat"/>
                <a:sym typeface="Montserrat"/>
              </a:rPr>
              <a:t>16 total features: 5 numeric, 11 categorical.</a:t>
            </a:r>
          </a:p>
        </p:txBody>
      </p:sp>
      <p:sp>
        <p:nvSpPr>
          <p:cNvPr name="Freeform 16" id="16"/>
          <p:cNvSpPr/>
          <p:nvPr/>
        </p:nvSpPr>
        <p:spPr>
          <a:xfrm flipH="false" flipV="false" rot="0">
            <a:off x="14504110" y="1703367"/>
            <a:ext cx="1016007" cy="863840"/>
          </a:xfrm>
          <a:custGeom>
            <a:avLst/>
            <a:gdLst/>
            <a:ahLst/>
            <a:cxnLst/>
            <a:rect r="r" b="b" t="t" l="l"/>
            <a:pathLst>
              <a:path h="863840" w="1016007">
                <a:moveTo>
                  <a:pt x="0" y="0"/>
                </a:moveTo>
                <a:lnTo>
                  <a:pt x="1016007" y="0"/>
                </a:lnTo>
                <a:lnTo>
                  <a:pt x="1016007" y="863840"/>
                </a:lnTo>
                <a:lnTo>
                  <a:pt x="0" y="863840"/>
                </a:lnTo>
                <a:lnTo>
                  <a:pt x="0" y="0"/>
                </a:lnTo>
                <a:close/>
              </a:path>
            </a:pathLst>
          </a:custGeom>
          <a:blipFill>
            <a:blip r:embed="rId5"/>
            <a:stretch>
              <a:fillRect l="0" t="0" r="0" b="0"/>
            </a:stretch>
          </a:blipFill>
        </p:spPr>
      </p:sp>
      <p:grpSp>
        <p:nvGrpSpPr>
          <p:cNvPr name="Group 17" id="17"/>
          <p:cNvGrpSpPr/>
          <p:nvPr/>
        </p:nvGrpSpPr>
        <p:grpSpPr>
          <a:xfrm rot="0">
            <a:off x="13060823" y="2954923"/>
            <a:ext cx="3980693" cy="2075550"/>
            <a:chOff x="0" y="0"/>
            <a:chExt cx="1048413" cy="546647"/>
          </a:xfrm>
        </p:grpSpPr>
        <p:sp>
          <p:nvSpPr>
            <p:cNvPr name="Freeform 18" id="18"/>
            <p:cNvSpPr/>
            <p:nvPr/>
          </p:nvSpPr>
          <p:spPr>
            <a:xfrm flipH="false" flipV="false" rot="0">
              <a:off x="0" y="0"/>
              <a:ext cx="1048413" cy="546647"/>
            </a:xfrm>
            <a:custGeom>
              <a:avLst/>
              <a:gdLst/>
              <a:ahLst/>
              <a:cxnLst/>
              <a:rect r="r" b="b" t="t" l="l"/>
              <a:pathLst>
                <a:path h="546647" w="1048413">
                  <a:moveTo>
                    <a:pt x="70015" y="0"/>
                  </a:moveTo>
                  <a:lnTo>
                    <a:pt x="978398" y="0"/>
                  </a:lnTo>
                  <a:cubicBezTo>
                    <a:pt x="996967" y="0"/>
                    <a:pt x="1014776" y="7377"/>
                    <a:pt x="1027906" y="20507"/>
                  </a:cubicBezTo>
                  <a:cubicBezTo>
                    <a:pt x="1041036" y="33637"/>
                    <a:pt x="1048413" y="51446"/>
                    <a:pt x="1048413" y="70015"/>
                  </a:cubicBezTo>
                  <a:lnTo>
                    <a:pt x="1048413" y="476632"/>
                  </a:lnTo>
                  <a:cubicBezTo>
                    <a:pt x="1048413" y="515300"/>
                    <a:pt x="1017066" y="546647"/>
                    <a:pt x="978398" y="546647"/>
                  </a:cubicBezTo>
                  <a:lnTo>
                    <a:pt x="70015" y="546647"/>
                  </a:lnTo>
                  <a:cubicBezTo>
                    <a:pt x="31347" y="546647"/>
                    <a:pt x="0" y="515300"/>
                    <a:pt x="0" y="476632"/>
                  </a:cubicBezTo>
                  <a:lnTo>
                    <a:pt x="0" y="70015"/>
                  </a:lnTo>
                  <a:cubicBezTo>
                    <a:pt x="0" y="51446"/>
                    <a:pt x="7377" y="33637"/>
                    <a:pt x="20507" y="20507"/>
                  </a:cubicBezTo>
                  <a:cubicBezTo>
                    <a:pt x="33637" y="7377"/>
                    <a:pt x="51446" y="0"/>
                    <a:pt x="70015" y="0"/>
                  </a:cubicBezTo>
                  <a:close/>
                </a:path>
              </a:pathLst>
            </a:custGeom>
            <a:solidFill>
              <a:srgbClr val="D1FAE5"/>
            </a:solidFill>
          </p:spPr>
        </p:sp>
        <p:sp>
          <p:nvSpPr>
            <p:cNvPr name="TextBox 19" id="19"/>
            <p:cNvSpPr txBox="true"/>
            <p:nvPr/>
          </p:nvSpPr>
          <p:spPr>
            <a:xfrm>
              <a:off x="0" y="-38100"/>
              <a:ext cx="1048413" cy="584747"/>
            </a:xfrm>
            <a:prstGeom prst="rect">
              <a:avLst/>
            </a:prstGeom>
          </p:spPr>
          <p:txBody>
            <a:bodyPr anchor="ctr" rtlCol="false" tIns="50800" lIns="50800" bIns="50800" rIns="50800"/>
            <a:lstStyle/>
            <a:p>
              <a:pPr algn="ctr" marL="0" indent="0" lvl="0">
                <a:lnSpc>
                  <a:spcPts val="3499"/>
                </a:lnSpc>
              </a:pPr>
            </a:p>
          </p:txBody>
        </p:sp>
      </p:grpSp>
      <p:sp>
        <p:nvSpPr>
          <p:cNvPr name="TextBox 20" id="20"/>
          <p:cNvSpPr txBox="true"/>
          <p:nvPr/>
        </p:nvSpPr>
        <p:spPr>
          <a:xfrm rot="0">
            <a:off x="13619958" y="3217213"/>
            <a:ext cx="2862422" cy="413159"/>
          </a:xfrm>
          <a:prstGeom prst="rect">
            <a:avLst/>
          </a:prstGeom>
        </p:spPr>
        <p:txBody>
          <a:bodyPr anchor="t" rtlCol="false" tIns="0" lIns="0" bIns="0" rIns="0">
            <a:spAutoFit/>
          </a:bodyPr>
          <a:lstStyle/>
          <a:p>
            <a:pPr algn="ctr" marL="0" indent="0" lvl="0">
              <a:lnSpc>
                <a:spcPts val="3477"/>
              </a:lnSpc>
              <a:spcBef>
                <a:spcPct val="0"/>
              </a:spcBef>
            </a:pPr>
            <a:r>
              <a:rPr lang="en-US" b="true" sz="2483">
                <a:solidFill>
                  <a:srgbClr val="6B7280"/>
                </a:solidFill>
                <a:latin typeface="Montserrat Bold"/>
                <a:ea typeface="Montserrat Bold"/>
                <a:cs typeface="Montserrat Bold"/>
                <a:sym typeface="Montserrat Bold"/>
              </a:rPr>
              <a:t>Data Types</a:t>
            </a:r>
          </a:p>
        </p:txBody>
      </p:sp>
      <p:sp>
        <p:nvSpPr>
          <p:cNvPr name="TextBox 21" id="21"/>
          <p:cNvSpPr txBox="true"/>
          <p:nvPr/>
        </p:nvSpPr>
        <p:spPr>
          <a:xfrm rot="0">
            <a:off x="13817277" y="3845076"/>
            <a:ext cx="2635454" cy="624031"/>
          </a:xfrm>
          <a:prstGeom prst="rect">
            <a:avLst/>
          </a:prstGeom>
        </p:spPr>
        <p:txBody>
          <a:bodyPr anchor="t" rtlCol="false" tIns="0" lIns="0" bIns="0" rIns="0">
            <a:spAutoFit/>
          </a:bodyPr>
          <a:lstStyle/>
          <a:p>
            <a:pPr algn="ctr">
              <a:lnSpc>
                <a:spcPts val="2443"/>
              </a:lnSpc>
            </a:pPr>
            <a:r>
              <a:rPr lang="en-US" sz="2443">
                <a:solidFill>
                  <a:srgbClr val="6B7280"/>
                </a:solidFill>
                <a:latin typeface="Montserrat"/>
                <a:ea typeface="Montserrat"/>
                <a:cs typeface="Montserrat"/>
                <a:sym typeface="Montserrat"/>
              </a:rPr>
              <a:t>float64 (2), int64 (3), object (11).</a:t>
            </a:r>
          </a:p>
        </p:txBody>
      </p:sp>
      <p:sp>
        <p:nvSpPr>
          <p:cNvPr name="Freeform 22" id="22"/>
          <p:cNvSpPr/>
          <p:nvPr/>
        </p:nvSpPr>
        <p:spPr>
          <a:xfrm flipH="false" flipV="false" rot="0">
            <a:off x="0" y="5352539"/>
            <a:ext cx="11247194" cy="4422322"/>
          </a:xfrm>
          <a:custGeom>
            <a:avLst/>
            <a:gdLst/>
            <a:ahLst/>
            <a:cxnLst/>
            <a:rect r="r" b="b" t="t" l="l"/>
            <a:pathLst>
              <a:path h="4422322" w="11247194">
                <a:moveTo>
                  <a:pt x="0" y="0"/>
                </a:moveTo>
                <a:lnTo>
                  <a:pt x="11247194" y="0"/>
                </a:lnTo>
                <a:lnTo>
                  <a:pt x="11247194" y="4422323"/>
                </a:lnTo>
                <a:lnTo>
                  <a:pt x="0" y="4422323"/>
                </a:lnTo>
                <a:lnTo>
                  <a:pt x="0" y="0"/>
                </a:lnTo>
                <a:close/>
              </a:path>
            </a:pathLst>
          </a:custGeom>
          <a:blipFill>
            <a:blip r:embed="rId6"/>
            <a:stretch>
              <a:fillRect l="0" t="-1183" r="0" b="-1183"/>
            </a:stretch>
          </a:blipFill>
          <a:ln w="38100" cap="sq">
            <a:solidFill>
              <a:srgbClr val="000000"/>
            </a:solidFill>
            <a:prstDash val="solid"/>
            <a:miter/>
          </a:ln>
        </p:spPr>
      </p:sp>
      <p:sp>
        <p:nvSpPr>
          <p:cNvPr name="TextBox 23" id="23"/>
          <p:cNvSpPr txBox="true"/>
          <p:nvPr/>
        </p:nvSpPr>
        <p:spPr>
          <a:xfrm rot="0">
            <a:off x="2561473" y="9750981"/>
            <a:ext cx="4199627" cy="356235"/>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Montserrat Bold"/>
                <a:ea typeface="Montserrat Bold"/>
                <a:cs typeface="Montserrat Bold"/>
                <a:sym typeface="Montserrat Bold"/>
              </a:rPr>
              <a:t>Fig.1: Statistical Summary</a:t>
            </a:r>
          </a:p>
        </p:txBody>
      </p:sp>
      <p:sp>
        <p:nvSpPr>
          <p:cNvPr name="TextBox 24" id="24"/>
          <p:cNvSpPr txBox="true"/>
          <p:nvPr/>
        </p:nvSpPr>
        <p:spPr>
          <a:xfrm rot="0">
            <a:off x="13499849" y="9750981"/>
            <a:ext cx="1990725" cy="339725"/>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Montserrat Bold"/>
                <a:ea typeface="Montserrat Bold"/>
                <a:cs typeface="Montserrat Bold"/>
                <a:sym typeface="Montserrat Bold"/>
              </a:rPr>
              <a:t>Fig.2:Summary</a:t>
            </a:r>
          </a:p>
        </p:txBody>
      </p:sp>
      <p:sp>
        <p:nvSpPr>
          <p:cNvPr name="Freeform 25" id="25"/>
          <p:cNvSpPr/>
          <p:nvPr/>
        </p:nvSpPr>
        <p:spPr>
          <a:xfrm flipH="false" flipV="false" rot="0">
            <a:off x="10150552" y="1309737"/>
            <a:ext cx="1401698" cy="1645186"/>
          </a:xfrm>
          <a:custGeom>
            <a:avLst/>
            <a:gdLst/>
            <a:ahLst/>
            <a:cxnLst/>
            <a:rect r="r" b="b" t="t" l="l"/>
            <a:pathLst>
              <a:path h="1645186" w="1401698">
                <a:moveTo>
                  <a:pt x="0" y="0"/>
                </a:moveTo>
                <a:lnTo>
                  <a:pt x="1401698" y="0"/>
                </a:lnTo>
                <a:lnTo>
                  <a:pt x="1401698" y="1645186"/>
                </a:lnTo>
                <a:lnTo>
                  <a:pt x="0" y="1645186"/>
                </a:lnTo>
                <a:lnTo>
                  <a:pt x="0" y="0"/>
                </a:lnTo>
                <a:close/>
              </a:path>
            </a:pathLst>
          </a:custGeom>
          <a:blipFill>
            <a:blip r:embed="rId7"/>
            <a:stretch>
              <a:fillRect l="0" t="0" r="0" b="0"/>
            </a:stretch>
          </a:blipFill>
        </p:spPr>
      </p:sp>
      <p:grpSp>
        <p:nvGrpSpPr>
          <p:cNvPr name="Group 26" id="26"/>
          <p:cNvGrpSpPr/>
          <p:nvPr/>
        </p:nvGrpSpPr>
        <p:grpSpPr>
          <a:xfrm rot="0">
            <a:off x="8861055" y="3078202"/>
            <a:ext cx="3980693" cy="1952270"/>
            <a:chOff x="0" y="0"/>
            <a:chExt cx="1048413" cy="514178"/>
          </a:xfrm>
        </p:grpSpPr>
        <p:sp>
          <p:nvSpPr>
            <p:cNvPr name="Freeform 27" id="27"/>
            <p:cNvSpPr/>
            <p:nvPr/>
          </p:nvSpPr>
          <p:spPr>
            <a:xfrm flipH="false" flipV="false" rot="0">
              <a:off x="0" y="0"/>
              <a:ext cx="1048413" cy="514178"/>
            </a:xfrm>
            <a:custGeom>
              <a:avLst/>
              <a:gdLst/>
              <a:ahLst/>
              <a:cxnLst/>
              <a:rect r="r" b="b" t="t" l="l"/>
              <a:pathLst>
                <a:path h="514178" w="1048413">
                  <a:moveTo>
                    <a:pt x="70015" y="0"/>
                  </a:moveTo>
                  <a:lnTo>
                    <a:pt x="978398" y="0"/>
                  </a:lnTo>
                  <a:cubicBezTo>
                    <a:pt x="996967" y="0"/>
                    <a:pt x="1014776" y="7377"/>
                    <a:pt x="1027906" y="20507"/>
                  </a:cubicBezTo>
                  <a:cubicBezTo>
                    <a:pt x="1041036" y="33637"/>
                    <a:pt x="1048413" y="51446"/>
                    <a:pt x="1048413" y="70015"/>
                  </a:cubicBezTo>
                  <a:lnTo>
                    <a:pt x="1048413" y="444163"/>
                  </a:lnTo>
                  <a:cubicBezTo>
                    <a:pt x="1048413" y="482831"/>
                    <a:pt x="1017066" y="514178"/>
                    <a:pt x="978398" y="514178"/>
                  </a:cubicBezTo>
                  <a:lnTo>
                    <a:pt x="70015" y="514178"/>
                  </a:lnTo>
                  <a:cubicBezTo>
                    <a:pt x="31347" y="514178"/>
                    <a:pt x="0" y="482831"/>
                    <a:pt x="0" y="444163"/>
                  </a:cubicBezTo>
                  <a:lnTo>
                    <a:pt x="0" y="70015"/>
                  </a:lnTo>
                  <a:cubicBezTo>
                    <a:pt x="0" y="51446"/>
                    <a:pt x="7377" y="33637"/>
                    <a:pt x="20507" y="20507"/>
                  </a:cubicBezTo>
                  <a:cubicBezTo>
                    <a:pt x="33637" y="7377"/>
                    <a:pt x="51446" y="0"/>
                    <a:pt x="70015" y="0"/>
                  </a:cubicBezTo>
                  <a:close/>
                </a:path>
              </a:pathLst>
            </a:custGeom>
            <a:solidFill>
              <a:srgbClr val="D1FAE5"/>
            </a:solidFill>
          </p:spPr>
        </p:sp>
        <p:sp>
          <p:nvSpPr>
            <p:cNvPr name="TextBox 28" id="28"/>
            <p:cNvSpPr txBox="true"/>
            <p:nvPr/>
          </p:nvSpPr>
          <p:spPr>
            <a:xfrm>
              <a:off x="0" y="-38100"/>
              <a:ext cx="1048413" cy="552278"/>
            </a:xfrm>
            <a:prstGeom prst="rect">
              <a:avLst/>
            </a:prstGeom>
          </p:spPr>
          <p:txBody>
            <a:bodyPr anchor="ctr" rtlCol="false" tIns="50800" lIns="50800" bIns="50800" rIns="50800"/>
            <a:lstStyle/>
            <a:p>
              <a:pPr algn="ctr" marL="0" indent="0" lvl="0">
                <a:lnSpc>
                  <a:spcPts val="3499"/>
                </a:lnSpc>
              </a:pPr>
            </a:p>
          </p:txBody>
        </p:sp>
      </p:grpSp>
      <p:sp>
        <p:nvSpPr>
          <p:cNvPr name="TextBox 29" id="29"/>
          <p:cNvSpPr txBox="true"/>
          <p:nvPr/>
        </p:nvSpPr>
        <p:spPr>
          <a:xfrm rot="0">
            <a:off x="9107051" y="3287907"/>
            <a:ext cx="3241326" cy="412750"/>
          </a:xfrm>
          <a:prstGeom prst="rect">
            <a:avLst/>
          </a:prstGeom>
        </p:spPr>
        <p:txBody>
          <a:bodyPr anchor="t" rtlCol="false" tIns="0" lIns="0" bIns="0" rIns="0">
            <a:spAutoFit/>
          </a:bodyPr>
          <a:lstStyle/>
          <a:p>
            <a:pPr algn="ctr" marL="0" indent="0" lvl="0">
              <a:lnSpc>
                <a:spcPts val="3499"/>
              </a:lnSpc>
              <a:spcBef>
                <a:spcPct val="0"/>
              </a:spcBef>
            </a:pPr>
            <a:r>
              <a:rPr lang="en-US" b="true" sz="2499">
                <a:solidFill>
                  <a:srgbClr val="6B7280"/>
                </a:solidFill>
                <a:latin typeface="Montserrat Bold"/>
                <a:ea typeface="Montserrat Bold"/>
                <a:cs typeface="Montserrat Bold"/>
                <a:sym typeface="Montserrat Bold"/>
              </a:rPr>
              <a:t>Data Quality</a:t>
            </a:r>
          </a:p>
        </p:txBody>
      </p:sp>
      <p:sp>
        <p:nvSpPr>
          <p:cNvPr name="TextBox 30" id="30"/>
          <p:cNvSpPr txBox="true"/>
          <p:nvPr/>
        </p:nvSpPr>
        <p:spPr>
          <a:xfrm rot="0">
            <a:off x="9525127" y="3748282"/>
            <a:ext cx="2652548" cy="1234033"/>
          </a:xfrm>
          <a:prstGeom prst="rect">
            <a:avLst/>
          </a:prstGeom>
        </p:spPr>
        <p:txBody>
          <a:bodyPr anchor="t" rtlCol="false" tIns="0" lIns="0" bIns="0" rIns="0">
            <a:spAutoFit/>
          </a:bodyPr>
          <a:lstStyle/>
          <a:p>
            <a:pPr algn="ctr" marL="0" indent="0" lvl="0">
              <a:lnSpc>
                <a:spcPts val="2458"/>
              </a:lnSpc>
            </a:pPr>
            <a:r>
              <a:rPr lang="en-US" sz="2458">
                <a:solidFill>
                  <a:srgbClr val="6B7280"/>
                </a:solidFill>
                <a:latin typeface="Montserrat"/>
                <a:ea typeface="Montserrat"/>
                <a:cs typeface="Montserrat"/>
                <a:sym typeface="Montserrat"/>
              </a:rPr>
              <a:t>No missing values or duplicates detected.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sp>
        <p:nvSpPr>
          <p:cNvPr name="Freeform 2" id="2"/>
          <p:cNvSpPr/>
          <p:nvPr/>
        </p:nvSpPr>
        <p:spPr>
          <a:xfrm flipH="false" flipV="false" rot="0">
            <a:off x="4632784" y="1192348"/>
            <a:ext cx="4204838" cy="3182040"/>
          </a:xfrm>
          <a:custGeom>
            <a:avLst/>
            <a:gdLst/>
            <a:ahLst/>
            <a:cxnLst/>
            <a:rect r="r" b="b" t="t" l="l"/>
            <a:pathLst>
              <a:path h="3182040" w="4204838">
                <a:moveTo>
                  <a:pt x="0" y="0"/>
                </a:moveTo>
                <a:lnTo>
                  <a:pt x="4204838" y="0"/>
                </a:lnTo>
                <a:lnTo>
                  <a:pt x="4204838" y="3182040"/>
                </a:lnTo>
                <a:lnTo>
                  <a:pt x="0" y="3182040"/>
                </a:lnTo>
                <a:lnTo>
                  <a:pt x="0" y="0"/>
                </a:lnTo>
                <a:close/>
              </a:path>
            </a:pathLst>
          </a:custGeom>
          <a:blipFill>
            <a:blip r:embed="rId2"/>
            <a:stretch>
              <a:fillRect l="-9932" t="-4719" r="-772" b="-541"/>
            </a:stretch>
          </a:blipFill>
          <a:ln w="38100" cap="sq">
            <a:solidFill>
              <a:srgbClr val="000000"/>
            </a:solidFill>
            <a:prstDash val="solid"/>
            <a:miter/>
          </a:ln>
        </p:spPr>
      </p:sp>
      <p:sp>
        <p:nvSpPr>
          <p:cNvPr name="Freeform 3" id="3"/>
          <p:cNvSpPr/>
          <p:nvPr/>
        </p:nvSpPr>
        <p:spPr>
          <a:xfrm flipH="false" flipV="false" rot="0">
            <a:off x="13530347" y="1180397"/>
            <a:ext cx="4323481" cy="3193990"/>
          </a:xfrm>
          <a:custGeom>
            <a:avLst/>
            <a:gdLst/>
            <a:ahLst/>
            <a:cxnLst/>
            <a:rect r="r" b="b" t="t" l="l"/>
            <a:pathLst>
              <a:path h="3193990" w="4323481">
                <a:moveTo>
                  <a:pt x="0" y="0"/>
                </a:moveTo>
                <a:lnTo>
                  <a:pt x="4323481" y="0"/>
                </a:lnTo>
                <a:lnTo>
                  <a:pt x="4323481" y="3193991"/>
                </a:lnTo>
                <a:lnTo>
                  <a:pt x="0" y="3193991"/>
                </a:lnTo>
                <a:lnTo>
                  <a:pt x="0" y="0"/>
                </a:lnTo>
                <a:close/>
              </a:path>
            </a:pathLst>
          </a:custGeom>
          <a:blipFill>
            <a:blip r:embed="rId3"/>
            <a:stretch>
              <a:fillRect l="0" t="0" r="0" b="0"/>
            </a:stretch>
          </a:blipFill>
          <a:ln w="38100" cap="sq">
            <a:solidFill>
              <a:srgbClr val="000000"/>
            </a:solidFill>
            <a:prstDash val="solid"/>
            <a:miter/>
          </a:ln>
        </p:spPr>
      </p:sp>
      <p:sp>
        <p:nvSpPr>
          <p:cNvPr name="Freeform 4" id="4"/>
          <p:cNvSpPr/>
          <p:nvPr/>
        </p:nvSpPr>
        <p:spPr>
          <a:xfrm flipH="false" flipV="false" rot="0">
            <a:off x="116653" y="1180397"/>
            <a:ext cx="4339752" cy="3141296"/>
          </a:xfrm>
          <a:custGeom>
            <a:avLst/>
            <a:gdLst/>
            <a:ahLst/>
            <a:cxnLst/>
            <a:rect r="r" b="b" t="t" l="l"/>
            <a:pathLst>
              <a:path h="3141296" w="4339752">
                <a:moveTo>
                  <a:pt x="0" y="0"/>
                </a:moveTo>
                <a:lnTo>
                  <a:pt x="4339752" y="0"/>
                </a:lnTo>
                <a:lnTo>
                  <a:pt x="4339752" y="3141296"/>
                </a:lnTo>
                <a:lnTo>
                  <a:pt x="0" y="3141296"/>
                </a:lnTo>
                <a:lnTo>
                  <a:pt x="0" y="0"/>
                </a:lnTo>
                <a:close/>
              </a:path>
            </a:pathLst>
          </a:custGeom>
          <a:blipFill>
            <a:blip r:embed="rId4"/>
            <a:stretch>
              <a:fillRect l="0" t="0" r="0" b="0"/>
            </a:stretch>
          </a:blipFill>
          <a:ln w="38100" cap="sq">
            <a:solidFill>
              <a:srgbClr val="000000"/>
            </a:solidFill>
            <a:prstDash val="solid"/>
            <a:miter/>
          </a:ln>
        </p:spPr>
      </p:sp>
      <p:sp>
        <p:nvSpPr>
          <p:cNvPr name="Freeform 5" id="5"/>
          <p:cNvSpPr/>
          <p:nvPr/>
        </p:nvSpPr>
        <p:spPr>
          <a:xfrm flipH="false" flipV="false" rot="0">
            <a:off x="9009072" y="1180397"/>
            <a:ext cx="4349824" cy="3153246"/>
          </a:xfrm>
          <a:custGeom>
            <a:avLst/>
            <a:gdLst/>
            <a:ahLst/>
            <a:cxnLst/>
            <a:rect r="r" b="b" t="t" l="l"/>
            <a:pathLst>
              <a:path h="3153246" w="4349824">
                <a:moveTo>
                  <a:pt x="0" y="0"/>
                </a:moveTo>
                <a:lnTo>
                  <a:pt x="4349825" y="0"/>
                </a:lnTo>
                <a:lnTo>
                  <a:pt x="4349825" y="3153247"/>
                </a:lnTo>
                <a:lnTo>
                  <a:pt x="0" y="3153247"/>
                </a:lnTo>
                <a:lnTo>
                  <a:pt x="0" y="0"/>
                </a:lnTo>
                <a:close/>
              </a:path>
            </a:pathLst>
          </a:custGeom>
          <a:blipFill>
            <a:blip r:embed="rId5"/>
            <a:stretch>
              <a:fillRect l="0" t="0" r="0" b="0"/>
            </a:stretch>
          </a:blipFill>
          <a:ln w="38100" cap="sq">
            <a:solidFill>
              <a:srgbClr val="000000"/>
            </a:solidFill>
            <a:prstDash val="solid"/>
            <a:miter/>
          </a:ln>
        </p:spPr>
      </p:sp>
      <p:sp>
        <p:nvSpPr>
          <p:cNvPr name="TextBox 6" id="6"/>
          <p:cNvSpPr txBox="true"/>
          <p:nvPr/>
        </p:nvSpPr>
        <p:spPr>
          <a:xfrm rot="0">
            <a:off x="822671" y="8077262"/>
            <a:ext cx="3017056" cy="339244"/>
          </a:xfrm>
          <a:prstGeom prst="rect">
            <a:avLst/>
          </a:prstGeom>
        </p:spPr>
        <p:txBody>
          <a:bodyPr anchor="t" rtlCol="false" tIns="0" lIns="0" bIns="0" rIns="0">
            <a:spAutoFit/>
          </a:bodyPr>
          <a:lstStyle/>
          <a:p>
            <a:pPr algn="just" marL="0" indent="0" lvl="0">
              <a:lnSpc>
                <a:spcPts val="2826"/>
              </a:lnSpc>
              <a:spcBef>
                <a:spcPct val="0"/>
              </a:spcBef>
            </a:pPr>
            <a:r>
              <a:rPr lang="en-US" b="true" sz="2018">
                <a:solidFill>
                  <a:srgbClr val="6B7280"/>
                </a:solidFill>
                <a:latin typeface="Montserrat Bold"/>
                <a:ea typeface="Montserrat Bold"/>
                <a:cs typeface="Montserrat Bold"/>
                <a:sym typeface="Montserrat Bold"/>
              </a:rPr>
              <a:t>Login Attempts</a:t>
            </a:r>
          </a:p>
        </p:txBody>
      </p:sp>
      <p:sp>
        <p:nvSpPr>
          <p:cNvPr name="TextBox 7" id="7"/>
          <p:cNvSpPr txBox="true"/>
          <p:nvPr/>
        </p:nvSpPr>
        <p:spPr>
          <a:xfrm rot="0">
            <a:off x="822671" y="8513457"/>
            <a:ext cx="3351653" cy="962667"/>
          </a:xfrm>
          <a:prstGeom prst="rect">
            <a:avLst/>
          </a:prstGeom>
        </p:spPr>
        <p:txBody>
          <a:bodyPr anchor="t" rtlCol="false" tIns="0" lIns="0" bIns="0" rIns="0">
            <a:spAutoFit/>
          </a:bodyPr>
          <a:lstStyle/>
          <a:p>
            <a:pPr algn="l" marL="0" indent="0" lvl="0">
              <a:lnSpc>
                <a:spcPts val="2589"/>
              </a:lnSpc>
              <a:spcBef>
                <a:spcPct val="0"/>
              </a:spcBef>
            </a:pPr>
            <a:r>
              <a:rPr lang="en-US" sz="1849">
                <a:solidFill>
                  <a:srgbClr val="6B7280"/>
                </a:solidFill>
                <a:latin typeface="Montserrat"/>
                <a:ea typeface="Montserrat"/>
                <a:cs typeface="Montserrat"/>
                <a:sym typeface="Montserrat"/>
              </a:rPr>
              <a:t>96% have 1 attempt; 2-5 attempts are potential outliers.</a:t>
            </a:r>
          </a:p>
        </p:txBody>
      </p:sp>
      <p:grpSp>
        <p:nvGrpSpPr>
          <p:cNvPr name="Group 8" id="8"/>
          <p:cNvGrpSpPr/>
          <p:nvPr/>
        </p:nvGrpSpPr>
        <p:grpSpPr>
          <a:xfrm rot="0">
            <a:off x="116653" y="7967839"/>
            <a:ext cx="4057671" cy="2133789"/>
            <a:chOff x="0" y="0"/>
            <a:chExt cx="1322398" cy="695404"/>
          </a:xfrm>
        </p:grpSpPr>
        <p:sp>
          <p:nvSpPr>
            <p:cNvPr name="Freeform 9" id="9"/>
            <p:cNvSpPr/>
            <p:nvPr/>
          </p:nvSpPr>
          <p:spPr>
            <a:xfrm flipH="false" flipV="false" rot="0">
              <a:off x="0" y="0"/>
              <a:ext cx="1322398" cy="695404"/>
            </a:xfrm>
            <a:custGeom>
              <a:avLst/>
              <a:gdLst/>
              <a:ahLst/>
              <a:cxnLst/>
              <a:rect r="r" b="b" t="t" l="l"/>
              <a:pathLst>
                <a:path h="695404" w="1322398">
                  <a:moveTo>
                    <a:pt x="68687" y="0"/>
                  </a:moveTo>
                  <a:lnTo>
                    <a:pt x="1253711" y="0"/>
                  </a:lnTo>
                  <a:cubicBezTo>
                    <a:pt x="1291646" y="0"/>
                    <a:pt x="1322398" y="30752"/>
                    <a:pt x="1322398" y="68687"/>
                  </a:cubicBezTo>
                  <a:lnTo>
                    <a:pt x="1322398" y="626717"/>
                  </a:lnTo>
                  <a:cubicBezTo>
                    <a:pt x="1322398" y="644934"/>
                    <a:pt x="1315162" y="662404"/>
                    <a:pt x="1302280" y="675286"/>
                  </a:cubicBezTo>
                  <a:cubicBezTo>
                    <a:pt x="1289399" y="688167"/>
                    <a:pt x="1271928" y="695404"/>
                    <a:pt x="1253711" y="695404"/>
                  </a:cubicBezTo>
                  <a:lnTo>
                    <a:pt x="68687" y="695404"/>
                  </a:lnTo>
                  <a:cubicBezTo>
                    <a:pt x="30752" y="695404"/>
                    <a:pt x="0" y="664651"/>
                    <a:pt x="0" y="626717"/>
                  </a:cubicBezTo>
                  <a:lnTo>
                    <a:pt x="0" y="68687"/>
                  </a:lnTo>
                  <a:cubicBezTo>
                    <a:pt x="0" y="50470"/>
                    <a:pt x="7237" y="32999"/>
                    <a:pt x="20118" y="20118"/>
                  </a:cubicBezTo>
                  <a:cubicBezTo>
                    <a:pt x="32999" y="7237"/>
                    <a:pt x="50470" y="0"/>
                    <a:pt x="68687" y="0"/>
                  </a:cubicBezTo>
                  <a:close/>
                </a:path>
              </a:pathLst>
            </a:custGeom>
            <a:solidFill>
              <a:srgbClr val="D1FAE5"/>
            </a:solidFill>
          </p:spPr>
        </p:sp>
        <p:sp>
          <p:nvSpPr>
            <p:cNvPr name="TextBox 10" id="10"/>
            <p:cNvSpPr txBox="true"/>
            <p:nvPr/>
          </p:nvSpPr>
          <p:spPr>
            <a:xfrm>
              <a:off x="0" y="-38100"/>
              <a:ext cx="1322398" cy="733504"/>
            </a:xfrm>
            <a:prstGeom prst="rect">
              <a:avLst/>
            </a:prstGeom>
          </p:spPr>
          <p:txBody>
            <a:bodyPr anchor="ctr" rtlCol="false" tIns="41054" lIns="41054" bIns="41054" rIns="41054"/>
            <a:lstStyle/>
            <a:p>
              <a:pPr algn="ctr" marL="0" indent="0" lvl="0">
                <a:lnSpc>
                  <a:spcPts val="3499"/>
                </a:lnSpc>
              </a:pPr>
            </a:p>
          </p:txBody>
        </p:sp>
      </p:grpSp>
      <p:sp>
        <p:nvSpPr>
          <p:cNvPr name="TextBox 11" id="11"/>
          <p:cNvSpPr txBox="true"/>
          <p:nvPr/>
        </p:nvSpPr>
        <p:spPr>
          <a:xfrm rot="0">
            <a:off x="822671" y="8077262"/>
            <a:ext cx="3017056" cy="339244"/>
          </a:xfrm>
          <a:prstGeom prst="rect">
            <a:avLst/>
          </a:prstGeom>
        </p:spPr>
        <p:txBody>
          <a:bodyPr anchor="t" rtlCol="false" tIns="0" lIns="0" bIns="0" rIns="0">
            <a:spAutoFit/>
          </a:bodyPr>
          <a:lstStyle/>
          <a:p>
            <a:pPr algn="just" marL="0" indent="0" lvl="0">
              <a:lnSpc>
                <a:spcPts val="2826"/>
              </a:lnSpc>
              <a:spcBef>
                <a:spcPct val="0"/>
              </a:spcBef>
            </a:pPr>
            <a:r>
              <a:rPr lang="en-US" b="true" sz="2018">
                <a:solidFill>
                  <a:srgbClr val="6B7280"/>
                </a:solidFill>
                <a:latin typeface="Montserrat Bold"/>
                <a:ea typeface="Montserrat Bold"/>
                <a:cs typeface="Montserrat Bold"/>
                <a:sym typeface="Montserrat Bold"/>
              </a:rPr>
              <a:t>Login Attempts</a:t>
            </a:r>
          </a:p>
        </p:txBody>
      </p:sp>
      <p:sp>
        <p:nvSpPr>
          <p:cNvPr name="TextBox 12" id="12"/>
          <p:cNvSpPr txBox="true"/>
          <p:nvPr/>
        </p:nvSpPr>
        <p:spPr>
          <a:xfrm rot="0">
            <a:off x="401582" y="8650818"/>
            <a:ext cx="3772743" cy="962988"/>
          </a:xfrm>
          <a:prstGeom prst="rect">
            <a:avLst/>
          </a:prstGeom>
        </p:spPr>
        <p:txBody>
          <a:bodyPr anchor="t" rtlCol="false" tIns="0" lIns="0" bIns="0" rIns="0">
            <a:spAutoFit/>
          </a:bodyPr>
          <a:lstStyle/>
          <a:p>
            <a:pPr algn="l" marL="0" indent="0" lvl="0">
              <a:lnSpc>
                <a:spcPts val="2571"/>
              </a:lnSpc>
              <a:spcBef>
                <a:spcPct val="0"/>
              </a:spcBef>
            </a:pPr>
            <a:r>
              <a:rPr lang="en-US" sz="1837">
                <a:solidFill>
                  <a:srgbClr val="6B7280"/>
                </a:solidFill>
                <a:latin typeface="Montserrat"/>
                <a:ea typeface="Montserrat"/>
                <a:cs typeface="Montserrat"/>
                <a:sym typeface="Montserrat"/>
              </a:rPr>
              <a:t>Heavily right-skewed — ~</a:t>
            </a:r>
            <a:r>
              <a:rPr lang="en-US" sz="1837">
                <a:solidFill>
                  <a:srgbClr val="6B7280"/>
                </a:solidFill>
                <a:latin typeface="Montserrat"/>
                <a:ea typeface="Montserrat"/>
                <a:cs typeface="Montserrat"/>
                <a:sym typeface="Montserrat"/>
              </a:rPr>
              <a:t>90%+ users make only 1 attempt. Values 2–5 are outliers</a:t>
            </a:r>
          </a:p>
        </p:txBody>
      </p:sp>
      <p:sp>
        <p:nvSpPr>
          <p:cNvPr name="Freeform 13" id="13"/>
          <p:cNvSpPr/>
          <p:nvPr/>
        </p:nvSpPr>
        <p:spPr>
          <a:xfrm flipH="false" flipV="false" rot="0">
            <a:off x="287105" y="4409662"/>
            <a:ext cx="3998848" cy="3316808"/>
          </a:xfrm>
          <a:custGeom>
            <a:avLst/>
            <a:gdLst/>
            <a:ahLst/>
            <a:cxnLst/>
            <a:rect r="r" b="b" t="t" l="l"/>
            <a:pathLst>
              <a:path h="3316808" w="3998848">
                <a:moveTo>
                  <a:pt x="0" y="0"/>
                </a:moveTo>
                <a:lnTo>
                  <a:pt x="3998848" y="0"/>
                </a:lnTo>
                <a:lnTo>
                  <a:pt x="3998848" y="3316808"/>
                </a:lnTo>
                <a:lnTo>
                  <a:pt x="0" y="3316808"/>
                </a:lnTo>
                <a:lnTo>
                  <a:pt x="0" y="0"/>
                </a:lnTo>
                <a:close/>
              </a:path>
            </a:pathLst>
          </a:custGeom>
          <a:blipFill>
            <a:blip r:embed="rId6"/>
            <a:stretch>
              <a:fillRect l="0" t="0" r="-111" b="0"/>
            </a:stretch>
          </a:blipFill>
          <a:ln w="38100" cap="sq">
            <a:solidFill>
              <a:srgbClr val="000000"/>
            </a:solidFill>
            <a:prstDash val="solid"/>
            <a:miter/>
          </a:ln>
        </p:spPr>
      </p:sp>
      <p:sp>
        <p:nvSpPr>
          <p:cNvPr name="Freeform 14" id="14"/>
          <p:cNvSpPr/>
          <p:nvPr/>
        </p:nvSpPr>
        <p:spPr>
          <a:xfrm flipH="false" flipV="false" rot="0">
            <a:off x="4867976" y="4477528"/>
            <a:ext cx="3868067" cy="3181075"/>
          </a:xfrm>
          <a:custGeom>
            <a:avLst/>
            <a:gdLst/>
            <a:ahLst/>
            <a:cxnLst/>
            <a:rect r="r" b="b" t="t" l="l"/>
            <a:pathLst>
              <a:path h="3181075" w="3868067">
                <a:moveTo>
                  <a:pt x="0" y="0"/>
                </a:moveTo>
                <a:lnTo>
                  <a:pt x="3868068" y="0"/>
                </a:lnTo>
                <a:lnTo>
                  <a:pt x="3868068" y="3181075"/>
                </a:lnTo>
                <a:lnTo>
                  <a:pt x="0" y="3181075"/>
                </a:lnTo>
                <a:lnTo>
                  <a:pt x="0" y="0"/>
                </a:lnTo>
                <a:close/>
              </a:path>
            </a:pathLst>
          </a:custGeom>
          <a:blipFill>
            <a:blip r:embed="rId7"/>
            <a:stretch>
              <a:fillRect l="0" t="0" r="0" b="0"/>
            </a:stretch>
          </a:blipFill>
          <a:ln w="38100" cap="sq">
            <a:solidFill>
              <a:srgbClr val="000000"/>
            </a:solidFill>
            <a:prstDash val="solid"/>
            <a:miter/>
          </a:ln>
        </p:spPr>
      </p:sp>
      <p:sp>
        <p:nvSpPr>
          <p:cNvPr name="Freeform 15" id="15"/>
          <p:cNvSpPr/>
          <p:nvPr/>
        </p:nvSpPr>
        <p:spPr>
          <a:xfrm flipH="false" flipV="false" rot="0">
            <a:off x="9354905" y="4409662"/>
            <a:ext cx="3806603" cy="3224417"/>
          </a:xfrm>
          <a:custGeom>
            <a:avLst/>
            <a:gdLst/>
            <a:ahLst/>
            <a:cxnLst/>
            <a:rect r="r" b="b" t="t" l="l"/>
            <a:pathLst>
              <a:path h="3224417" w="3806603">
                <a:moveTo>
                  <a:pt x="0" y="0"/>
                </a:moveTo>
                <a:lnTo>
                  <a:pt x="3806604" y="0"/>
                </a:lnTo>
                <a:lnTo>
                  <a:pt x="3806604" y="3224417"/>
                </a:lnTo>
                <a:lnTo>
                  <a:pt x="0" y="3224417"/>
                </a:lnTo>
                <a:lnTo>
                  <a:pt x="0" y="0"/>
                </a:lnTo>
                <a:close/>
              </a:path>
            </a:pathLst>
          </a:custGeom>
          <a:blipFill>
            <a:blip r:embed="rId8"/>
            <a:stretch>
              <a:fillRect l="0" t="0" r="0" b="0"/>
            </a:stretch>
          </a:blipFill>
          <a:ln w="38100" cap="sq">
            <a:solidFill>
              <a:srgbClr val="000000"/>
            </a:solidFill>
            <a:prstDash val="solid"/>
            <a:miter/>
          </a:ln>
        </p:spPr>
      </p:sp>
      <p:sp>
        <p:nvSpPr>
          <p:cNvPr name="Freeform 16" id="16"/>
          <p:cNvSpPr/>
          <p:nvPr/>
        </p:nvSpPr>
        <p:spPr>
          <a:xfrm flipH="false" flipV="false" rot="0">
            <a:off x="13772474" y="4414946"/>
            <a:ext cx="3911096" cy="3219133"/>
          </a:xfrm>
          <a:custGeom>
            <a:avLst/>
            <a:gdLst/>
            <a:ahLst/>
            <a:cxnLst/>
            <a:rect r="r" b="b" t="t" l="l"/>
            <a:pathLst>
              <a:path h="3219133" w="3911096">
                <a:moveTo>
                  <a:pt x="0" y="0"/>
                </a:moveTo>
                <a:lnTo>
                  <a:pt x="3911096" y="0"/>
                </a:lnTo>
                <a:lnTo>
                  <a:pt x="3911096" y="3219133"/>
                </a:lnTo>
                <a:lnTo>
                  <a:pt x="0" y="3219133"/>
                </a:lnTo>
                <a:lnTo>
                  <a:pt x="0" y="0"/>
                </a:lnTo>
                <a:close/>
              </a:path>
            </a:pathLst>
          </a:custGeom>
          <a:blipFill>
            <a:blip r:embed="rId9"/>
            <a:stretch>
              <a:fillRect l="0" t="0" r="0" b="0"/>
            </a:stretch>
          </a:blipFill>
          <a:ln w="38100" cap="sq">
            <a:solidFill>
              <a:srgbClr val="000000"/>
            </a:solidFill>
            <a:prstDash val="solid"/>
            <a:miter/>
          </a:ln>
        </p:spPr>
      </p:sp>
      <p:sp>
        <p:nvSpPr>
          <p:cNvPr name="TextBox 17" id="17"/>
          <p:cNvSpPr txBox="true"/>
          <p:nvPr/>
        </p:nvSpPr>
        <p:spPr>
          <a:xfrm rot="0">
            <a:off x="0" y="68790"/>
            <a:ext cx="8736044" cy="1111608"/>
          </a:xfrm>
          <a:prstGeom prst="rect">
            <a:avLst/>
          </a:prstGeom>
        </p:spPr>
        <p:txBody>
          <a:bodyPr anchor="t" rtlCol="false" tIns="0" lIns="0" bIns="0" rIns="0">
            <a:spAutoFit/>
          </a:bodyPr>
          <a:lstStyle/>
          <a:p>
            <a:pPr algn="ctr" marL="0" indent="0" lvl="0">
              <a:lnSpc>
                <a:spcPts val="9080"/>
              </a:lnSpc>
            </a:pPr>
            <a:r>
              <a:rPr lang="en-US" b="true" sz="6485">
                <a:solidFill>
                  <a:srgbClr val="1F1F1F"/>
                </a:solidFill>
                <a:latin typeface="Montserrat Bold"/>
                <a:ea typeface="Montserrat Bold"/>
                <a:cs typeface="Montserrat Bold"/>
                <a:sym typeface="Montserrat Bold"/>
              </a:rPr>
              <a:t>Univariate Analysis :</a:t>
            </a:r>
          </a:p>
        </p:txBody>
      </p:sp>
      <p:sp>
        <p:nvSpPr>
          <p:cNvPr name="TextBox 18" id="18"/>
          <p:cNvSpPr txBox="true"/>
          <p:nvPr/>
        </p:nvSpPr>
        <p:spPr>
          <a:xfrm rot="0">
            <a:off x="8915247" y="68790"/>
            <a:ext cx="8492523" cy="1111608"/>
          </a:xfrm>
          <a:prstGeom prst="rect">
            <a:avLst/>
          </a:prstGeom>
        </p:spPr>
        <p:txBody>
          <a:bodyPr anchor="t" rtlCol="false" tIns="0" lIns="0" bIns="0" rIns="0">
            <a:spAutoFit/>
          </a:bodyPr>
          <a:lstStyle/>
          <a:p>
            <a:pPr algn="l" marL="0" indent="0" lvl="0">
              <a:lnSpc>
                <a:spcPts val="9080"/>
              </a:lnSpc>
            </a:pPr>
            <a:r>
              <a:rPr lang="en-US" b="true" sz="6485">
                <a:solidFill>
                  <a:srgbClr val="10B981"/>
                </a:solidFill>
                <a:latin typeface="Montserrat Bold"/>
                <a:ea typeface="Montserrat Bold"/>
                <a:cs typeface="Montserrat Bold"/>
                <a:sym typeface="Montserrat Bold"/>
              </a:rPr>
              <a:t>Numeric Features</a:t>
            </a:r>
          </a:p>
        </p:txBody>
      </p:sp>
      <p:grpSp>
        <p:nvGrpSpPr>
          <p:cNvPr name="Group 19" id="19"/>
          <p:cNvGrpSpPr/>
          <p:nvPr/>
        </p:nvGrpSpPr>
        <p:grpSpPr>
          <a:xfrm rot="0">
            <a:off x="4456405" y="7967839"/>
            <a:ext cx="4643110" cy="2133044"/>
            <a:chOff x="0" y="0"/>
            <a:chExt cx="6190813" cy="2844059"/>
          </a:xfrm>
        </p:grpSpPr>
        <p:sp>
          <p:nvSpPr>
            <p:cNvPr name="TextBox 20" id="20"/>
            <p:cNvSpPr txBox="true"/>
            <p:nvPr/>
          </p:nvSpPr>
          <p:spPr>
            <a:xfrm rot="0">
              <a:off x="1336308" y="166679"/>
              <a:ext cx="4369877" cy="458431"/>
            </a:xfrm>
            <a:prstGeom prst="rect">
              <a:avLst/>
            </a:prstGeom>
          </p:spPr>
          <p:txBody>
            <a:bodyPr anchor="t" rtlCol="false" tIns="0" lIns="0" bIns="0" rIns="0">
              <a:spAutoFit/>
            </a:bodyPr>
            <a:lstStyle/>
            <a:p>
              <a:pPr algn="just" marL="0" indent="0" lvl="0">
                <a:lnSpc>
                  <a:spcPts val="2942"/>
                </a:lnSpc>
                <a:spcBef>
                  <a:spcPct val="0"/>
                </a:spcBef>
              </a:pPr>
              <a:r>
                <a:rPr lang="en-US" b="true" sz="2101">
                  <a:solidFill>
                    <a:srgbClr val="6B7280"/>
                  </a:solidFill>
                  <a:latin typeface="Inter Bold"/>
                  <a:ea typeface="Inter Bold"/>
                  <a:cs typeface="Inter Bold"/>
                  <a:sym typeface="Inter Bold"/>
                </a:rPr>
                <a:t>Login Attempts</a:t>
              </a:r>
            </a:p>
          </p:txBody>
        </p:sp>
        <p:sp>
          <p:nvSpPr>
            <p:cNvPr name="TextBox 21" id="21"/>
            <p:cNvSpPr txBox="true"/>
            <p:nvPr/>
          </p:nvSpPr>
          <p:spPr>
            <a:xfrm rot="0">
              <a:off x="1336308" y="772169"/>
              <a:ext cx="4854505" cy="870431"/>
            </a:xfrm>
            <a:prstGeom prst="rect">
              <a:avLst/>
            </a:prstGeom>
          </p:spPr>
          <p:txBody>
            <a:bodyPr anchor="t" rtlCol="false" tIns="0" lIns="0" bIns="0" rIns="0">
              <a:spAutoFit/>
            </a:bodyPr>
            <a:lstStyle/>
            <a:p>
              <a:pPr algn="l" marL="0" indent="0" lvl="0">
                <a:lnSpc>
                  <a:spcPts val="2696"/>
                </a:lnSpc>
                <a:spcBef>
                  <a:spcPct val="0"/>
                </a:spcBef>
              </a:pPr>
              <a:r>
                <a:rPr lang="en-US" sz="1925">
                  <a:solidFill>
                    <a:srgbClr val="6B7280"/>
                  </a:solidFill>
                  <a:latin typeface="Inter"/>
                  <a:ea typeface="Inter"/>
                  <a:cs typeface="Inter"/>
                  <a:sym typeface="Inter"/>
                </a:rPr>
                <a:t>96% have 1 attempt; 2-5 attempts are potential outliers.</a:t>
              </a:r>
            </a:p>
          </p:txBody>
        </p:sp>
        <p:grpSp>
          <p:nvGrpSpPr>
            <p:cNvPr name="Group 22" id="22"/>
            <p:cNvGrpSpPr/>
            <p:nvPr/>
          </p:nvGrpSpPr>
          <p:grpSpPr>
            <a:xfrm rot="0">
              <a:off x="0" y="0"/>
              <a:ext cx="5877096" cy="2844059"/>
              <a:chOff x="0" y="0"/>
              <a:chExt cx="1379820" cy="667726"/>
            </a:xfrm>
          </p:grpSpPr>
          <p:sp>
            <p:nvSpPr>
              <p:cNvPr name="Freeform 23" id="23"/>
              <p:cNvSpPr/>
              <p:nvPr/>
            </p:nvSpPr>
            <p:spPr>
              <a:xfrm flipH="false" flipV="false" rot="0">
                <a:off x="0" y="0"/>
                <a:ext cx="1379820" cy="667726"/>
              </a:xfrm>
              <a:custGeom>
                <a:avLst/>
                <a:gdLst/>
                <a:ahLst/>
                <a:cxnLst/>
                <a:rect r="r" b="b" t="t" l="l"/>
                <a:pathLst>
                  <a:path h="667726" w="1379820">
                    <a:moveTo>
                      <a:pt x="63231" y="0"/>
                    </a:moveTo>
                    <a:lnTo>
                      <a:pt x="1316589" y="0"/>
                    </a:lnTo>
                    <a:cubicBezTo>
                      <a:pt x="1351510" y="0"/>
                      <a:pt x="1379820" y="28309"/>
                      <a:pt x="1379820" y="63231"/>
                    </a:cubicBezTo>
                    <a:lnTo>
                      <a:pt x="1379820" y="604495"/>
                    </a:lnTo>
                    <a:cubicBezTo>
                      <a:pt x="1379820" y="639417"/>
                      <a:pt x="1351510" y="667726"/>
                      <a:pt x="1316589" y="667726"/>
                    </a:cubicBezTo>
                    <a:lnTo>
                      <a:pt x="63231" y="667726"/>
                    </a:lnTo>
                    <a:cubicBezTo>
                      <a:pt x="28309" y="667726"/>
                      <a:pt x="0" y="639417"/>
                      <a:pt x="0" y="604495"/>
                    </a:cubicBezTo>
                    <a:lnTo>
                      <a:pt x="0" y="63231"/>
                    </a:lnTo>
                    <a:cubicBezTo>
                      <a:pt x="0" y="28309"/>
                      <a:pt x="28309" y="0"/>
                      <a:pt x="63231" y="0"/>
                    </a:cubicBezTo>
                    <a:close/>
                  </a:path>
                </a:pathLst>
              </a:custGeom>
              <a:solidFill>
                <a:srgbClr val="D1FAE5"/>
              </a:solidFill>
            </p:spPr>
          </p:sp>
          <p:sp>
            <p:nvSpPr>
              <p:cNvPr name="TextBox 24" id="24"/>
              <p:cNvSpPr txBox="true"/>
              <p:nvPr/>
            </p:nvSpPr>
            <p:spPr>
              <a:xfrm>
                <a:off x="0" y="-38100"/>
                <a:ext cx="1379820" cy="705826"/>
              </a:xfrm>
              <a:prstGeom prst="rect">
                <a:avLst/>
              </a:prstGeom>
            </p:spPr>
            <p:txBody>
              <a:bodyPr anchor="ctr" rtlCol="false" tIns="42740" lIns="42740" bIns="42740" rIns="42740"/>
              <a:lstStyle/>
              <a:p>
                <a:pPr algn="ctr" marL="0" indent="0" lvl="0">
                  <a:lnSpc>
                    <a:spcPts val="3499"/>
                  </a:lnSpc>
                </a:pPr>
              </a:p>
            </p:txBody>
          </p:sp>
        </p:grpSp>
        <p:sp>
          <p:nvSpPr>
            <p:cNvPr name="TextBox 25" id="25"/>
            <p:cNvSpPr txBox="true"/>
            <p:nvPr/>
          </p:nvSpPr>
          <p:spPr>
            <a:xfrm rot="0">
              <a:off x="1138247" y="166679"/>
              <a:ext cx="4369877" cy="949946"/>
            </a:xfrm>
            <a:prstGeom prst="rect">
              <a:avLst/>
            </a:prstGeom>
          </p:spPr>
          <p:txBody>
            <a:bodyPr anchor="t" rtlCol="false" tIns="0" lIns="0" bIns="0" rIns="0">
              <a:spAutoFit/>
            </a:bodyPr>
            <a:lstStyle/>
            <a:p>
              <a:pPr algn="just" marL="0" indent="0" lvl="0">
                <a:lnSpc>
                  <a:spcPts val="2942"/>
                </a:lnSpc>
                <a:spcBef>
                  <a:spcPct val="0"/>
                </a:spcBef>
              </a:pPr>
              <a:r>
                <a:rPr lang="en-US" b="true" sz="2101">
                  <a:solidFill>
                    <a:srgbClr val="6B7280"/>
                  </a:solidFill>
                  <a:latin typeface="Inter Bold"/>
                  <a:ea typeface="Inter Bold"/>
                  <a:cs typeface="Inter Bold"/>
                  <a:sym typeface="Inter Bold"/>
                </a:rPr>
                <a:t>Transacti</a:t>
              </a:r>
              <a:r>
                <a:rPr lang="en-US" b="true" sz="2101">
                  <a:solidFill>
                    <a:srgbClr val="6B7280"/>
                  </a:solidFill>
                  <a:latin typeface="Inter Bold"/>
                  <a:ea typeface="Inter Bold"/>
                  <a:cs typeface="Inter Bold"/>
                  <a:sym typeface="Inter Bold"/>
                </a:rPr>
                <a:t>on Amount</a:t>
              </a:r>
            </a:p>
            <a:p>
              <a:pPr algn="just" marL="0" indent="0" lvl="0">
                <a:lnSpc>
                  <a:spcPts val="2942"/>
                </a:lnSpc>
                <a:spcBef>
                  <a:spcPct val="0"/>
                </a:spcBef>
              </a:pPr>
            </a:p>
          </p:txBody>
        </p:sp>
        <p:sp>
          <p:nvSpPr>
            <p:cNvPr name="TextBox 26" id="26"/>
            <p:cNvSpPr txBox="true"/>
            <p:nvPr/>
          </p:nvSpPr>
          <p:spPr>
            <a:xfrm rot="0">
              <a:off x="288423" y="738160"/>
              <a:ext cx="5744444" cy="1770780"/>
            </a:xfrm>
            <a:prstGeom prst="rect">
              <a:avLst/>
            </a:prstGeom>
          </p:spPr>
          <p:txBody>
            <a:bodyPr anchor="t" rtlCol="false" tIns="0" lIns="0" bIns="0" rIns="0">
              <a:spAutoFit/>
            </a:bodyPr>
            <a:lstStyle/>
            <a:p>
              <a:pPr algn="l" marL="0" indent="0" lvl="0">
                <a:lnSpc>
                  <a:spcPts val="2677"/>
                </a:lnSpc>
                <a:spcBef>
                  <a:spcPct val="0"/>
                </a:spcBef>
              </a:pPr>
              <a:r>
                <a:rPr lang="en-US" sz="1912">
                  <a:solidFill>
                    <a:srgbClr val="6B7280"/>
                  </a:solidFill>
                  <a:latin typeface="Inter"/>
                  <a:ea typeface="Inter"/>
                  <a:cs typeface="Inter"/>
                  <a:sym typeface="Inter"/>
                </a:rPr>
                <a:t>Strong right skew — most</a:t>
              </a:r>
              <a:r>
                <a:rPr lang="en-US" sz="1912">
                  <a:solidFill>
                    <a:srgbClr val="6B7280"/>
                  </a:solidFill>
                  <a:latin typeface="Inter"/>
                  <a:ea typeface="Inter"/>
                  <a:cs typeface="Inter"/>
                  <a:sym typeface="Inter"/>
                </a:rPr>
                <a:t> transactions are small, few are very large. Outliers visible in boxplot — potential fraud signals.</a:t>
              </a:r>
            </a:p>
          </p:txBody>
        </p:sp>
      </p:grpSp>
      <p:grpSp>
        <p:nvGrpSpPr>
          <p:cNvPr name="Group 27" id="27"/>
          <p:cNvGrpSpPr/>
          <p:nvPr/>
        </p:nvGrpSpPr>
        <p:grpSpPr>
          <a:xfrm rot="0">
            <a:off x="9099515" y="7967839"/>
            <a:ext cx="4515526" cy="2106607"/>
            <a:chOff x="0" y="0"/>
            <a:chExt cx="6020702" cy="2808810"/>
          </a:xfrm>
        </p:grpSpPr>
        <p:sp>
          <p:nvSpPr>
            <p:cNvPr name="TextBox 28" id="28"/>
            <p:cNvSpPr txBox="true"/>
            <p:nvPr/>
          </p:nvSpPr>
          <p:spPr>
            <a:xfrm rot="0">
              <a:off x="1169368" y="327024"/>
              <a:ext cx="4367022" cy="458431"/>
            </a:xfrm>
            <a:prstGeom prst="rect">
              <a:avLst/>
            </a:prstGeom>
          </p:spPr>
          <p:txBody>
            <a:bodyPr anchor="t" rtlCol="false" tIns="0" lIns="0" bIns="0" rIns="0">
              <a:spAutoFit/>
            </a:bodyPr>
            <a:lstStyle/>
            <a:p>
              <a:pPr algn="just" marL="0" indent="0" lvl="0">
                <a:lnSpc>
                  <a:spcPts val="2942"/>
                </a:lnSpc>
                <a:spcBef>
                  <a:spcPct val="0"/>
                </a:spcBef>
              </a:pPr>
              <a:r>
                <a:rPr lang="en-US" b="true" sz="2101">
                  <a:solidFill>
                    <a:srgbClr val="6B7280"/>
                  </a:solidFill>
                  <a:latin typeface="Inter Bold"/>
                  <a:ea typeface="Inter Bold"/>
                  <a:cs typeface="Inter Bold"/>
                  <a:sym typeface="Inter Bold"/>
                </a:rPr>
                <a:t>Login Attempts</a:t>
              </a:r>
            </a:p>
          </p:txBody>
        </p:sp>
        <p:sp>
          <p:nvSpPr>
            <p:cNvPr name="TextBox 29" id="29"/>
            <p:cNvSpPr txBox="true"/>
            <p:nvPr/>
          </p:nvSpPr>
          <p:spPr>
            <a:xfrm rot="0">
              <a:off x="1169368" y="932514"/>
              <a:ext cx="4851334" cy="870431"/>
            </a:xfrm>
            <a:prstGeom prst="rect">
              <a:avLst/>
            </a:prstGeom>
          </p:spPr>
          <p:txBody>
            <a:bodyPr anchor="t" rtlCol="false" tIns="0" lIns="0" bIns="0" rIns="0">
              <a:spAutoFit/>
            </a:bodyPr>
            <a:lstStyle/>
            <a:p>
              <a:pPr algn="l" marL="0" indent="0" lvl="0">
                <a:lnSpc>
                  <a:spcPts val="2696"/>
                </a:lnSpc>
                <a:spcBef>
                  <a:spcPct val="0"/>
                </a:spcBef>
              </a:pPr>
              <a:r>
                <a:rPr lang="en-US" sz="1925">
                  <a:solidFill>
                    <a:srgbClr val="6B7280"/>
                  </a:solidFill>
                  <a:latin typeface="Inter"/>
                  <a:ea typeface="Inter"/>
                  <a:cs typeface="Inter"/>
                  <a:sym typeface="Inter"/>
                </a:rPr>
                <a:t>96% have 1 attempt; 2-5 attempts are potential outliers.</a:t>
              </a:r>
            </a:p>
          </p:txBody>
        </p:sp>
        <p:grpSp>
          <p:nvGrpSpPr>
            <p:cNvPr name="Group 30" id="30"/>
            <p:cNvGrpSpPr/>
            <p:nvPr/>
          </p:nvGrpSpPr>
          <p:grpSpPr>
            <a:xfrm rot="0">
              <a:off x="0" y="0"/>
              <a:ext cx="5806974" cy="2808810"/>
              <a:chOff x="0" y="0"/>
              <a:chExt cx="1363356" cy="659450"/>
            </a:xfrm>
          </p:grpSpPr>
          <p:sp>
            <p:nvSpPr>
              <p:cNvPr name="Freeform 31" id="31"/>
              <p:cNvSpPr/>
              <p:nvPr/>
            </p:nvSpPr>
            <p:spPr>
              <a:xfrm flipH="false" flipV="false" rot="0">
                <a:off x="0" y="0"/>
                <a:ext cx="1363356" cy="659450"/>
              </a:xfrm>
              <a:custGeom>
                <a:avLst/>
                <a:gdLst/>
                <a:ahLst/>
                <a:cxnLst/>
                <a:rect r="r" b="b" t="t" l="l"/>
                <a:pathLst>
                  <a:path h="659450" w="1363356">
                    <a:moveTo>
                      <a:pt x="63994" y="0"/>
                    </a:moveTo>
                    <a:lnTo>
                      <a:pt x="1299362" y="0"/>
                    </a:lnTo>
                    <a:cubicBezTo>
                      <a:pt x="1334705" y="0"/>
                      <a:pt x="1363356" y="28651"/>
                      <a:pt x="1363356" y="63994"/>
                    </a:cubicBezTo>
                    <a:lnTo>
                      <a:pt x="1363356" y="595456"/>
                    </a:lnTo>
                    <a:cubicBezTo>
                      <a:pt x="1363356" y="612428"/>
                      <a:pt x="1356614" y="628705"/>
                      <a:pt x="1344613" y="640707"/>
                    </a:cubicBezTo>
                    <a:cubicBezTo>
                      <a:pt x="1332612" y="652708"/>
                      <a:pt x="1316335" y="659450"/>
                      <a:pt x="1299362" y="659450"/>
                    </a:cubicBezTo>
                    <a:lnTo>
                      <a:pt x="63994" y="659450"/>
                    </a:lnTo>
                    <a:cubicBezTo>
                      <a:pt x="28651" y="659450"/>
                      <a:pt x="0" y="630799"/>
                      <a:pt x="0" y="595456"/>
                    </a:cubicBezTo>
                    <a:lnTo>
                      <a:pt x="0" y="63994"/>
                    </a:lnTo>
                    <a:cubicBezTo>
                      <a:pt x="0" y="47022"/>
                      <a:pt x="6742" y="30745"/>
                      <a:pt x="18743" y="18743"/>
                    </a:cubicBezTo>
                    <a:cubicBezTo>
                      <a:pt x="30745" y="6742"/>
                      <a:pt x="47022" y="0"/>
                      <a:pt x="63994" y="0"/>
                    </a:cubicBezTo>
                    <a:close/>
                  </a:path>
                </a:pathLst>
              </a:custGeom>
              <a:solidFill>
                <a:srgbClr val="D1FAE5"/>
              </a:solidFill>
            </p:spPr>
          </p:sp>
          <p:sp>
            <p:nvSpPr>
              <p:cNvPr name="TextBox 32" id="32"/>
              <p:cNvSpPr txBox="true"/>
              <p:nvPr/>
            </p:nvSpPr>
            <p:spPr>
              <a:xfrm>
                <a:off x="0" y="-38100"/>
                <a:ext cx="1363356" cy="697550"/>
              </a:xfrm>
              <a:prstGeom prst="rect">
                <a:avLst/>
              </a:prstGeom>
            </p:spPr>
            <p:txBody>
              <a:bodyPr anchor="ctr" rtlCol="false" tIns="42740" lIns="42740" bIns="42740" rIns="42740"/>
              <a:lstStyle/>
              <a:p>
                <a:pPr algn="ctr" marL="0" indent="0" lvl="0">
                  <a:lnSpc>
                    <a:spcPts val="3499"/>
                  </a:lnSpc>
                </a:pPr>
              </a:p>
            </p:txBody>
          </p:sp>
        </p:grpSp>
        <p:sp>
          <p:nvSpPr>
            <p:cNvPr name="TextBox 33" id="33"/>
            <p:cNvSpPr txBox="true"/>
            <p:nvPr/>
          </p:nvSpPr>
          <p:spPr>
            <a:xfrm rot="0">
              <a:off x="268943" y="898505"/>
              <a:ext cx="5471748" cy="1321417"/>
            </a:xfrm>
            <a:prstGeom prst="rect">
              <a:avLst/>
            </a:prstGeom>
          </p:spPr>
          <p:txBody>
            <a:bodyPr anchor="t" rtlCol="false" tIns="0" lIns="0" bIns="0" rIns="0">
              <a:spAutoFit/>
            </a:bodyPr>
            <a:lstStyle/>
            <a:p>
              <a:pPr algn="l" marL="0" indent="0" lvl="0">
                <a:lnSpc>
                  <a:spcPts val="2677"/>
                </a:lnSpc>
                <a:spcBef>
                  <a:spcPct val="0"/>
                </a:spcBef>
              </a:pPr>
              <a:r>
                <a:rPr lang="en-US" sz="1912">
                  <a:solidFill>
                    <a:srgbClr val="6B7280"/>
                  </a:solidFill>
                  <a:latin typeface="Inter"/>
                  <a:ea typeface="Inter"/>
                  <a:cs typeface="Inter"/>
                  <a:sym typeface="Inter"/>
                </a:rPr>
                <a:t>Right-skewed with</a:t>
              </a:r>
              <a:r>
                <a:rPr lang="en-US" sz="1912">
                  <a:solidFill>
                    <a:srgbClr val="6B7280"/>
                  </a:solidFill>
                  <a:latin typeface="Inter"/>
                  <a:ea typeface="Inter"/>
                  <a:cs typeface="Inter"/>
                  <a:sym typeface="Inter"/>
                </a:rPr>
                <a:t> a secondary hump around $6,000–$8,000. No extreme outliers.</a:t>
              </a:r>
            </a:p>
          </p:txBody>
        </p:sp>
      </p:grpSp>
      <p:sp>
        <p:nvSpPr>
          <p:cNvPr name="TextBox 34" id="34"/>
          <p:cNvSpPr txBox="true"/>
          <p:nvPr/>
        </p:nvSpPr>
        <p:spPr>
          <a:xfrm rot="0">
            <a:off x="10083630" y="8075223"/>
            <a:ext cx="3275267" cy="356187"/>
          </a:xfrm>
          <a:prstGeom prst="rect">
            <a:avLst/>
          </a:prstGeom>
        </p:spPr>
        <p:txBody>
          <a:bodyPr anchor="t" rtlCol="false" tIns="0" lIns="0" bIns="0" rIns="0">
            <a:spAutoFit/>
          </a:bodyPr>
          <a:lstStyle/>
          <a:p>
            <a:pPr algn="just" marL="0" indent="0" lvl="0">
              <a:lnSpc>
                <a:spcPts val="2942"/>
              </a:lnSpc>
              <a:spcBef>
                <a:spcPct val="0"/>
              </a:spcBef>
            </a:pPr>
            <a:r>
              <a:rPr lang="en-US" b="true" sz="2101">
                <a:solidFill>
                  <a:srgbClr val="6B7280"/>
                </a:solidFill>
                <a:latin typeface="Montserrat Bold"/>
                <a:ea typeface="Montserrat Bold"/>
                <a:cs typeface="Montserrat Bold"/>
                <a:sym typeface="Montserrat Bold"/>
              </a:rPr>
              <a:t>Account Balance</a:t>
            </a:r>
          </a:p>
        </p:txBody>
      </p:sp>
      <p:grpSp>
        <p:nvGrpSpPr>
          <p:cNvPr name="Group 35" id="35"/>
          <p:cNvGrpSpPr/>
          <p:nvPr/>
        </p:nvGrpSpPr>
        <p:grpSpPr>
          <a:xfrm rot="0">
            <a:off x="13772474" y="7967839"/>
            <a:ext cx="4515526" cy="2106607"/>
            <a:chOff x="0" y="0"/>
            <a:chExt cx="6020702" cy="2808810"/>
          </a:xfrm>
        </p:grpSpPr>
        <p:sp>
          <p:nvSpPr>
            <p:cNvPr name="TextBox 36" id="36"/>
            <p:cNvSpPr txBox="true"/>
            <p:nvPr/>
          </p:nvSpPr>
          <p:spPr>
            <a:xfrm rot="0">
              <a:off x="1169368" y="327024"/>
              <a:ext cx="4367022" cy="458431"/>
            </a:xfrm>
            <a:prstGeom prst="rect">
              <a:avLst/>
            </a:prstGeom>
          </p:spPr>
          <p:txBody>
            <a:bodyPr anchor="t" rtlCol="false" tIns="0" lIns="0" bIns="0" rIns="0">
              <a:spAutoFit/>
            </a:bodyPr>
            <a:lstStyle/>
            <a:p>
              <a:pPr algn="just" marL="0" indent="0" lvl="0">
                <a:lnSpc>
                  <a:spcPts val="2942"/>
                </a:lnSpc>
                <a:spcBef>
                  <a:spcPct val="0"/>
                </a:spcBef>
              </a:pPr>
              <a:r>
                <a:rPr lang="en-US" b="true" sz="2101">
                  <a:solidFill>
                    <a:srgbClr val="6B7280"/>
                  </a:solidFill>
                  <a:latin typeface="Inter Bold"/>
                  <a:ea typeface="Inter Bold"/>
                  <a:cs typeface="Inter Bold"/>
                  <a:sym typeface="Inter Bold"/>
                </a:rPr>
                <a:t>Login Attempts</a:t>
              </a:r>
            </a:p>
          </p:txBody>
        </p:sp>
        <p:sp>
          <p:nvSpPr>
            <p:cNvPr name="TextBox 37" id="37"/>
            <p:cNvSpPr txBox="true"/>
            <p:nvPr/>
          </p:nvSpPr>
          <p:spPr>
            <a:xfrm rot="0">
              <a:off x="1169368" y="932514"/>
              <a:ext cx="4851334" cy="870431"/>
            </a:xfrm>
            <a:prstGeom prst="rect">
              <a:avLst/>
            </a:prstGeom>
          </p:spPr>
          <p:txBody>
            <a:bodyPr anchor="t" rtlCol="false" tIns="0" lIns="0" bIns="0" rIns="0">
              <a:spAutoFit/>
            </a:bodyPr>
            <a:lstStyle/>
            <a:p>
              <a:pPr algn="l" marL="0" indent="0" lvl="0">
                <a:lnSpc>
                  <a:spcPts val="2696"/>
                </a:lnSpc>
                <a:spcBef>
                  <a:spcPct val="0"/>
                </a:spcBef>
              </a:pPr>
              <a:r>
                <a:rPr lang="en-US" sz="1925">
                  <a:solidFill>
                    <a:srgbClr val="6B7280"/>
                  </a:solidFill>
                  <a:latin typeface="Inter"/>
                  <a:ea typeface="Inter"/>
                  <a:cs typeface="Inter"/>
                  <a:sym typeface="Inter"/>
                </a:rPr>
                <a:t>96% have 1 attempt; 2-5 attempts are potential outliers.</a:t>
              </a:r>
            </a:p>
          </p:txBody>
        </p:sp>
        <p:grpSp>
          <p:nvGrpSpPr>
            <p:cNvPr name="Group 38" id="38"/>
            <p:cNvGrpSpPr/>
            <p:nvPr/>
          </p:nvGrpSpPr>
          <p:grpSpPr>
            <a:xfrm rot="0">
              <a:off x="0" y="0"/>
              <a:ext cx="5806974" cy="2808810"/>
              <a:chOff x="0" y="0"/>
              <a:chExt cx="1363356" cy="659450"/>
            </a:xfrm>
          </p:grpSpPr>
          <p:sp>
            <p:nvSpPr>
              <p:cNvPr name="Freeform 39" id="39"/>
              <p:cNvSpPr/>
              <p:nvPr/>
            </p:nvSpPr>
            <p:spPr>
              <a:xfrm flipH="false" flipV="false" rot="0">
                <a:off x="0" y="0"/>
                <a:ext cx="1363356" cy="659450"/>
              </a:xfrm>
              <a:custGeom>
                <a:avLst/>
                <a:gdLst/>
                <a:ahLst/>
                <a:cxnLst/>
                <a:rect r="r" b="b" t="t" l="l"/>
                <a:pathLst>
                  <a:path h="659450" w="1363356">
                    <a:moveTo>
                      <a:pt x="63994" y="0"/>
                    </a:moveTo>
                    <a:lnTo>
                      <a:pt x="1299362" y="0"/>
                    </a:lnTo>
                    <a:cubicBezTo>
                      <a:pt x="1334705" y="0"/>
                      <a:pt x="1363356" y="28651"/>
                      <a:pt x="1363356" y="63994"/>
                    </a:cubicBezTo>
                    <a:lnTo>
                      <a:pt x="1363356" y="595456"/>
                    </a:lnTo>
                    <a:cubicBezTo>
                      <a:pt x="1363356" y="612428"/>
                      <a:pt x="1356614" y="628705"/>
                      <a:pt x="1344613" y="640707"/>
                    </a:cubicBezTo>
                    <a:cubicBezTo>
                      <a:pt x="1332612" y="652708"/>
                      <a:pt x="1316335" y="659450"/>
                      <a:pt x="1299362" y="659450"/>
                    </a:cubicBezTo>
                    <a:lnTo>
                      <a:pt x="63994" y="659450"/>
                    </a:lnTo>
                    <a:cubicBezTo>
                      <a:pt x="28651" y="659450"/>
                      <a:pt x="0" y="630799"/>
                      <a:pt x="0" y="595456"/>
                    </a:cubicBezTo>
                    <a:lnTo>
                      <a:pt x="0" y="63994"/>
                    </a:lnTo>
                    <a:cubicBezTo>
                      <a:pt x="0" y="47022"/>
                      <a:pt x="6742" y="30745"/>
                      <a:pt x="18743" y="18743"/>
                    </a:cubicBezTo>
                    <a:cubicBezTo>
                      <a:pt x="30745" y="6742"/>
                      <a:pt x="47022" y="0"/>
                      <a:pt x="63994" y="0"/>
                    </a:cubicBezTo>
                    <a:close/>
                  </a:path>
                </a:pathLst>
              </a:custGeom>
              <a:solidFill>
                <a:srgbClr val="D1FAE5"/>
              </a:solidFill>
            </p:spPr>
          </p:sp>
          <p:sp>
            <p:nvSpPr>
              <p:cNvPr name="TextBox 40" id="40"/>
              <p:cNvSpPr txBox="true"/>
              <p:nvPr/>
            </p:nvSpPr>
            <p:spPr>
              <a:xfrm>
                <a:off x="0" y="-38100"/>
                <a:ext cx="1363356" cy="697550"/>
              </a:xfrm>
              <a:prstGeom prst="rect">
                <a:avLst/>
              </a:prstGeom>
            </p:spPr>
            <p:txBody>
              <a:bodyPr anchor="ctr" rtlCol="false" tIns="42740" lIns="42740" bIns="42740" rIns="42740"/>
              <a:lstStyle/>
              <a:p>
                <a:pPr algn="ctr" marL="0" indent="0" lvl="0">
                  <a:lnSpc>
                    <a:spcPts val="3499"/>
                  </a:lnSpc>
                </a:pPr>
              </a:p>
            </p:txBody>
          </p:sp>
        </p:grpSp>
        <p:sp>
          <p:nvSpPr>
            <p:cNvPr name="TextBox 41" id="41"/>
            <p:cNvSpPr txBox="true"/>
            <p:nvPr/>
          </p:nvSpPr>
          <p:spPr>
            <a:xfrm rot="0">
              <a:off x="1439951" y="116858"/>
              <a:ext cx="4367022" cy="458431"/>
            </a:xfrm>
            <a:prstGeom prst="rect">
              <a:avLst/>
            </a:prstGeom>
          </p:spPr>
          <p:txBody>
            <a:bodyPr anchor="t" rtlCol="false" tIns="0" lIns="0" bIns="0" rIns="0">
              <a:spAutoFit/>
            </a:bodyPr>
            <a:lstStyle/>
            <a:p>
              <a:pPr algn="just" marL="0" indent="0" lvl="0">
                <a:lnSpc>
                  <a:spcPts val="2942"/>
                </a:lnSpc>
                <a:spcBef>
                  <a:spcPct val="0"/>
                </a:spcBef>
              </a:pPr>
              <a:r>
                <a:rPr lang="en-US" b="true" sz="2101">
                  <a:solidFill>
                    <a:srgbClr val="6B7280"/>
                  </a:solidFill>
                  <a:latin typeface="Inter Bold"/>
                  <a:ea typeface="Inter Bold"/>
                  <a:cs typeface="Inter Bold"/>
                  <a:sym typeface="Inter Bold"/>
                </a:rPr>
                <a:t>C</a:t>
              </a:r>
              <a:r>
                <a:rPr lang="en-US" b="true" sz="2101">
                  <a:solidFill>
                    <a:srgbClr val="6B7280"/>
                  </a:solidFill>
                  <a:latin typeface="Inter Bold"/>
                  <a:ea typeface="Inter Bold"/>
                  <a:cs typeface="Inter Bold"/>
                  <a:sym typeface="Inter Bold"/>
                </a:rPr>
                <a:t>ustomer Age</a:t>
              </a:r>
            </a:p>
          </p:txBody>
        </p:sp>
        <p:sp>
          <p:nvSpPr>
            <p:cNvPr name="TextBox 42" id="42"/>
            <p:cNvSpPr txBox="true"/>
            <p:nvPr/>
          </p:nvSpPr>
          <p:spPr>
            <a:xfrm rot="0">
              <a:off x="268943" y="898505"/>
              <a:ext cx="5471748" cy="1321417"/>
            </a:xfrm>
            <a:prstGeom prst="rect">
              <a:avLst/>
            </a:prstGeom>
          </p:spPr>
          <p:txBody>
            <a:bodyPr anchor="t" rtlCol="false" tIns="0" lIns="0" bIns="0" rIns="0">
              <a:spAutoFit/>
            </a:bodyPr>
            <a:lstStyle/>
            <a:p>
              <a:pPr algn="l" marL="0" indent="0" lvl="0">
                <a:lnSpc>
                  <a:spcPts val="2677"/>
                </a:lnSpc>
                <a:spcBef>
                  <a:spcPct val="0"/>
                </a:spcBef>
              </a:pPr>
              <a:r>
                <a:rPr lang="en-US" sz="1912">
                  <a:solidFill>
                    <a:srgbClr val="6B7280"/>
                  </a:solidFill>
                  <a:latin typeface="Inter"/>
                  <a:ea typeface="Inter"/>
                  <a:cs typeface="Inter"/>
                  <a:sym typeface="Inter"/>
                </a:rPr>
                <a:t>Heavily right-skewed —</a:t>
              </a:r>
              <a:r>
                <a:rPr lang="en-US" sz="1912">
                  <a:solidFill>
                    <a:srgbClr val="6B7280"/>
                  </a:solidFill>
                  <a:latin typeface="Inter"/>
                  <a:ea typeface="Inter"/>
                  <a:cs typeface="Inter"/>
                  <a:sym typeface="Inter"/>
                </a:rPr>
                <a:t> ~90%+ users make only 1 attempt. Values 2–5 are outliers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sp>
        <p:nvSpPr>
          <p:cNvPr name="Freeform 2" id="2"/>
          <p:cNvSpPr/>
          <p:nvPr/>
        </p:nvSpPr>
        <p:spPr>
          <a:xfrm flipH="false" flipV="false" rot="0">
            <a:off x="269908" y="1192252"/>
            <a:ext cx="6592982" cy="3792665"/>
          </a:xfrm>
          <a:custGeom>
            <a:avLst/>
            <a:gdLst/>
            <a:ahLst/>
            <a:cxnLst/>
            <a:rect r="r" b="b" t="t" l="l"/>
            <a:pathLst>
              <a:path h="3792665" w="6592982">
                <a:moveTo>
                  <a:pt x="0" y="0"/>
                </a:moveTo>
                <a:lnTo>
                  <a:pt x="6592983" y="0"/>
                </a:lnTo>
                <a:lnTo>
                  <a:pt x="6592983" y="3792665"/>
                </a:lnTo>
                <a:lnTo>
                  <a:pt x="0" y="3792665"/>
                </a:lnTo>
                <a:lnTo>
                  <a:pt x="0" y="0"/>
                </a:lnTo>
                <a:close/>
              </a:path>
            </a:pathLst>
          </a:custGeom>
          <a:blipFill>
            <a:blip r:embed="rId2"/>
            <a:stretch>
              <a:fillRect l="-3869" t="0" r="-7831" b="0"/>
            </a:stretch>
          </a:blipFill>
          <a:ln w="38100" cap="sq">
            <a:solidFill>
              <a:srgbClr val="000000"/>
            </a:solidFill>
            <a:prstDash val="solid"/>
            <a:miter/>
          </a:ln>
        </p:spPr>
      </p:sp>
      <p:sp>
        <p:nvSpPr>
          <p:cNvPr name="Freeform 3" id="3"/>
          <p:cNvSpPr/>
          <p:nvPr/>
        </p:nvSpPr>
        <p:spPr>
          <a:xfrm flipH="false" flipV="false" rot="0">
            <a:off x="5554185" y="5161997"/>
            <a:ext cx="6321041" cy="3546359"/>
          </a:xfrm>
          <a:custGeom>
            <a:avLst/>
            <a:gdLst/>
            <a:ahLst/>
            <a:cxnLst/>
            <a:rect r="r" b="b" t="t" l="l"/>
            <a:pathLst>
              <a:path h="3546359" w="6321041">
                <a:moveTo>
                  <a:pt x="0" y="0"/>
                </a:moveTo>
                <a:lnTo>
                  <a:pt x="6321041" y="0"/>
                </a:lnTo>
                <a:lnTo>
                  <a:pt x="6321041" y="3546359"/>
                </a:lnTo>
                <a:lnTo>
                  <a:pt x="0" y="3546359"/>
                </a:lnTo>
                <a:lnTo>
                  <a:pt x="0" y="0"/>
                </a:lnTo>
                <a:close/>
              </a:path>
            </a:pathLst>
          </a:custGeom>
          <a:blipFill>
            <a:blip r:embed="rId3"/>
            <a:stretch>
              <a:fillRect l="-3592" t="0" r="-3548" b="-258"/>
            </a:stretch>
          </a:blipFill>
          <a:ln w="38100" cap="sq">
            <a:solidFill>
              <a:srgbClr val="000000"/>
            </a:solidFill>
            <a:prstDash val="solid"/>
            <a:miter/>
          </a:ln>
        </p:spPr>
      </p:sp>
      <p:sp>
        <p:nvSpPr>
          <p:cNvPr name="Freeform 4" id="4"/>
          <p:cNvSpPr/>
          <p:nvPr/>
        </p:nvSpPr>
        <p:spPr>
          <a:xfrm flipH="false" flipV="false" rot="0">
            <a:off x="10886783" y="1112960"/>
            <a:ext cx="6638972" cy="3951248"/>
          </a:xfrm>
          <a:custGeom>
            <a:avLst/>
            <a:gdLst/>
            <a:ahLst/>
            <a:cxnLst/>
            <a:rect r="r" b="b" t="t" l="l"/>
            <a:pathLst>
              <a:path h="3951248" w="6638972">
                <a:moveTo>
                  <a:pt x="0" y="0"/>
                </a:moveTo>
                <a:lnTo>
                  <a:pt x="6638972" y="0"/>
                </a:lnTo>
                <a:lnTo>
                  <a:pt x="6638972" y="3951248"/>
                </a:lnTo>
                <a:lnTo>
                  <a:pt x="0" y="3951248"/>
                </a:lnTo>
                <a:lnTo>
                  <a:pt x="0" y="0"/>
                </a:lnTo>
                <a:close/>
              </a:path>
            </a:pathLst>
          </a:custGeom>
          <a:blipFill>
            <a:blip r:embed="rId4"/>
            <a:stretch>
              <a:fillRect l="-3602" t="-2177" r="-3084" b="0"/>
            </a:stretch>
          </a:blipFill>
          <a:ln w="38100" cap="sq">
            <a:solidFill>
              <a:srgbClr val="000000"/>
            </a:solidFill>
            <a:prstDash val="solid"/>
            <a:miter/>
          </a:ln>
        </p:spPr>
      </p:sp>
      <p:sp>
        <p:nvSpPr>
          <p:cNvPr name="TextBox 5" id="5"/>
          <p:cNvSpPr txBox="true"/>
          <p:nvPr/>
        </p:nvSpPr>
        <p:spPr>
          <a:xfrm rot="0">
            <a:off x="0" y="-7815"/>
            <a:ext cx="8874092" cy="1120775"/>
          </a:xfrm>
          <a:prstGeom prst="rect">
            <a:avLst/>
          </a:prstGeom>
        </p:spPr>
        <p:txBody>
          <a:bodyPr anchor="t" rtlCol="false" tIns="0" lIns="0" bIns="0" rIns="0">
            <a:spAutoFit/>
          </a:bodyPr>
          <a:lstStyle/>
          <a:p>
            <a:pPr algn="l" marL="0" indent="0" lvl="0">
              <a:lnSpc>
                <a:spcPts val="9100"/>
              </a:lnSpc>
            </a:pPr>
            <a:r>
              <a:rPr lang="en-US" b="true" sz="6500">
                <a:solidFill>
                  <a:srgbClr val="1F1F1F"/>
                </a:solidFill>
                <a:latin typeface="Montserrat Bold"/>
                <a:ea typeface="Montserrat Bold"/>
                <a:cs typeface="Montserrat Bold"/>
                <a:sym typeface="Montserrat Bold"/>
              </a:rPr>
              <a:t>Univariate Analysis :</a:t>
            </a:r>
          </a:p>
        </p:txBody>
      </p:sp>
      <p:sp>
        <p:nvSpPr>
          <p:cNvPr name="TextBox 6" id="6"/>
          <p:cNvSpPr txBox="true"/>
          <p:nvPr/>
        </p:nvSpPr>
        <p:spPr>
          <a:xfrm rot="0">
            <a:off x="8801761" y="-7815"/>
            <a:ext cx="10075457" cy="1120775"/>
          </a:xfrm>
          <a:prstGeom prst="rect">
            <a:avLst/>
          </a:prstGeom>
        </p:spPr>
        <p:txBody>
          <a:bodyPr anchor="t" rtlCol="false" tIns="0" lIns="0" bIns="0" rIns="0">
            <a:spAutoFit/>
          </a:bodyPr>
          <a:lstStyle/>
          <a:p>
            <a:pPr algn="l" marL="0" indent="0" lvl="0">
              <a:lnSpc>
                <a:spcPts val="9100"/>
              </a:lnSpc>
            </a:pPr>
            <a:r>
              <a:rPr lang="en-US" b="true" sz="6500">
                <a:solidFill>
                  <a:srgbClr val="10B981"/>
                </a:solidFill>
                <a:latin typeface="Montserrat Bold"/>
                <a:ea typeface="Montserrat Bold"/>
                <a:cs typeface="Montserrat Bold"/>
                <a:sym typeface="Montserrat Bold"/>
              </a:rPr>
              <a:t>Categorical Features</a:t>
            </a:r>
          </a:p>
        </p:txBody>
      </p:sp>
      <p:grpSp>
        <p:nvGrpSpPr>
          <p:cNvPr name="Group 7" id="7"/>
          <p:cNvGrpSpPr/>
          <p:nvPr/>
        </p:nvGrpSpPr>
        <p:grpSpPr>
          <a:xfrm rot="0">
            <a:off x="605625" y="5161997"/>
            <a:ext cx="4643110" cy="1637944"/>
            <a:chOff x="0" y="0"/>
            <a:chExt cx="6190813" cy="2183925"/>
          </a:xfrm>
        </p:grpSpPr>
        <p:sp>
          <p:nvSpPr>
            <p:cNvPr name="TextBox 8" id="8"/>
            <p:cNvSpPr txBox="true"/>
            <p:nvPr/>
          </p:nvSpPr>
          <p:spPr>
            <a:xfrm rot="0">
              <a:off x="1336308" y="142016"/>
              <a:ext cx="4369877" cy="458431"/>
            </a:xfrm>
            <a:prstGeom prst="rect">
              <a:avLst/>
            </a:prstGeom>
          </p:spPr>
          <p:txBody>
            <a:bodyPr anchor="t" rtlCol="false" tIns="0" lIns="0" bIns="0" rIns="0">
              <a:spAutoFit/>
            </a:bodyPr>
            <a:lstStyle/>
            <a:p>
              <a:pPr algn="just" marL="0" indent="0" lvl="0">
                <a:lnSpc>
                  <a:spcPts val="2942"/>
                </a:lnSpc>
                <a:spcBef>
                  <a:spcPct val="0"/>
                </a:spcBef>
              </a:pPr>
              <a:r>
                <a:rPr lang="en-US" b="true" sz="2101">
                  <a:solidFill>
                    <a:srgbClr val="6B7280"/>
                  </a:solidFill>
                  <a:latin typeface="Inter Bold"/>
                  <a:ea typeface="Inter Bold"/>
                  <a:cs typeface="Inter Bold"/>
                  <a:sym typeface="Inter Bold"/>
                </a:rPr>
                <a:t>Login Attempts</a:t>
              </a:r>
            </a:p>
          </p:txBody>
        </p:sp>
        <p:sp>
          <p:nvSpPr>
            <p:cNvPr name="TextBox 9" id="9"/>
            <p:cNvSpPr txBox="true"/>
            <p:nvPr/>
          </p:nvSpPr>
          <p:spPr>
            <a:xfrm rot="0">
              <a:off x="1336308" y="747506"/>
              <a:ext cx="4854505" cy="870431"/>
            </a:xfrm>
            <a:prstGeom prst="rect">
              <a:avLst/>
            </a:prstGeom>
          </p:spPr>
          <p:txBody>
            <a:bodyPr anchor="t" rtlCol="false" tIns="0" lIns="0" bIns="0" rIns="0">
              <a:spAutoFit/>
            </a:bodyPr>
            <a:lstStyle/>
            <a:p>
              <a:pPr algn="l" marL="0" indent="0" lvl="0">
                <a:lnSpc>
                  <a:spcPts val="2696"/>
                </a:lnSpc>
                <a:spcBef>
                  <a:spcPct val="0"/>
                </a:spcBef>
              </a:pPr>
              <a:r>
                <a:rPr lang="en-US" sz="1925">
                  <a:solidFill>
                    <a:srgbClr val="6B7280"/>
                  </a:solidFill>
                  <a:latin typeface="Inter"/>
                  <a:ea typeface="Inter"/>
                  <a:cs typeface="Inter"/>
                  <a:sym typeface="Inter"/>
                </a:rPr>
                <a:t>96% have 1 attempt; 2-5 attempts are potential outliers.</a:t>
              </a:r>
            </a:p>
          </p:txBody>
        </p:sp>
        <p:grpSp>
          <p:nvGrpSpPr>
            <p:cNvPr name="Group 10" id="10"/>
            <p:cNvGrpSpPr/>
            <p:nvPr/>
          </p:nvGrpSpPr>
          <p:grpSpPr>
            <a:xfrm rot="0">
              <a:off x="0" y="0"/>
              <a:ext cx="6190813" cy="2183925"/>
              <a:chOff x="0" y="0"/>
              <a:chExt cx="1453474" cy="512740"/>
            </a:xfrm>
          </p:grpSpPr>
          <p:sp>
            <p:nvSpPr>
              <p:cNvPr name="Freeform 11" id="11"/>
              <p:cNvSpPr/>
              <p:nvPr/>
            </p:nvSpPr>
            <p:spPr>
              <a:xfrm flipH="false" flipV="false" rot="0">
                <a:off x="0" y="0"/>
                <a:ext cx="1453474" cy="512740"/>
              </a:xfrm>
              <a:custGeom>
                <a:avLst/>
                <a:gdLst/>
                <a:ahLst/>
                <a:cxnLst/>
                <a:rect r="r" b="b" t="t" l="l"/>
                <a:pathLst>
                  <a:path h="512740" w="1453474">
                    <a:moveTo>
                      <a:pt x="60026" y="0"/>
                    </a:moveTo>
                    <a:lnTo>
                      <a:pt x="1393448" y="0"/>
                    </a:lnTo>
                    <a:cubicBezTo>
                      <a:pt x="1426599" y="0"/>
                      <a:pt x="1453474" y="26875"/>
                      <a:pt x="1453474" y="60026"/>
                    </a:cubicBezTo>
                    <a:lnTo>
                      <a:pt x="1453474" y="452714"/>
                    </a:lnTo>
                    <a:cubicBezTo>
                      <a:pt x="1453474" y="485865"/>
                      <a:pt x="1426599" y="512740"/>
                      <a:pt x="1393448" y="512740"/>
                    </a:cubicBezTo>
                    <a:lnTo>
                      <a:pt x="60026" y="512740"/>
                    </a:lnTo>
                    <a:cubicBezTo>
                      <a:pt x="26875" y="512740"/>
                      <a:pt x="0" y="485865"/>
                      <a:pt x="0" y="452714"/>
                    </a:cubicBezTo>
                    <a:lnTo>
                      <a:pt x="0" y="60026"/>
                    </a:lnTo>
                    <a:cubicBezTo>
                      <a:pt x="0" y="26875"/>
                      <a:pt x="26875" y="0"/>
                      <a:pt x="60026" y="0"/>
                    </a:cubicBezTo>
                    <a:close/>
                  </a:path>
                </a:pathLst>
              </a:custGeom>
              <a:solidFill>
                <a:srgbClr val="D1FAE5"/>
              </a:solidFill>
            </p:spPr>
          </p:sp>
          <p:sp>
            <p:nvSpPr>
              <p:cNvPr name="TextBox 12" id="12"/>
              <p:cNvSpPr txBox="true"/>
              <p:nvPr/>
            </p:nvSpPr>
            <p:spPr>
              <a:xfrm>
                <a:off x="0" y="-38100"/>
                <a:ext cx="1453474" cy="550840"/>
              </a:xfrm>
              <a:prstGeom prst="rect">
                <a:avLst/>
              </a:prstGeom>
            </p:spPr>
            <p:txBody>
              <a:bodyPr anchor="ctr" rtlCol="false" tIns="42740" lIns="42740" bIns="42740" rIns="42740"/>
              <a:lstStyle/>
              <a:p>
                <a:pPr algn="ctr" marL="0" indent="0" lvl="0">
                  <a:lnSpc>
                    <a:spcPts val="3499"/>
                  </a:lnSpc>
                </a:pPr>
              </a:p>
            </p:txBody>
          </p:sp>
        </p:grpSp>
        <p:sp>
          <p:nvSpPr>
            <p:cNvPr name="TextBox 13" id="13"/>
            <p:cNvSpPr txBox="true"/>
            <p:nvPr/>
          </p:nvSpPr>
          <p:spPr>
            <a:xfrm rot="0">
              <a:off x="1336308" y="142016"/>
              <a:ext cx="4369877" cy="949946"/>
            </a:xfrm>
            <a:prstGeom prst="rect">
              <a:avLst/>
            </a:prstGeom>
          </p:spPr>
          <p:txBody>
            <a:bodyPr anchor="t" rtlCol="false" tIns="0" lIns="0" bIns="0" rIns="0">
              <a:spAutoFit/>
            </a:bodyPr>
            <a:lstStyle/>
            <a:p>
              <a:pPr algn="just" marL="0" indent="0" lvl="0">
                <a:lnSpc>
                  <a:spcPts val="2942"/>
                </a:lnSpc>
                <a:spcBef>
                  <a:spcPct val="0"/>
                </a:spcBef>
              </a:pPr>
              <a:r>
                <a:rPr lang="en-US" b="true" sz="2101">
                  <a:solidFill>
                    <a:srgbClr val="6B7280"/>
                  </a:solidFill>
                  <a:latin typeface="Inter Bold"/>
                  <a:ea typeface="Inter Bold"/>
                  <a:cs typeface="Inter Bold"/>
                  <a:sym typeface="Inter Bold"/>
                </a:rPr>
                <a:t>Transacti</a:t>
              </a:r>
              <a:r>
                <a:rPr lang="en-US" b="true" sz="2101">
                  <a:solidFill>
                    <a:srgbClr val="6B7280"/>
                  </a:solidFill>
                  <a:latin typeface="Inter Bold"/>
                  <a:ea typeface="Inter Bold"/>
                  <a:cs typeface="Inter Bold"/>
                  <a:sym typeface="Inter Bold"/>
                </a:rPr>
                <a:t>on Type</a:t>
              </a:r>
            </a:p>
            <a:p>
              <a:pPr algn="just" marL="0" indent="0" lvl="0">
                <a:lnSpc>
                  <a:spcPts val="2942"/>
                </a:lnSpc>
                <a:spcBef>
                  <a:spcPct val="0"/>
                </a:spcBef>
              </a:pPr>
            </a:p>
          </p:txBody>
        </p:sp>
        <p:sp>
          <p:nvSpPr>
            <p:cNvPr name="TextBox 14" id="14"/>
            <p:cNvSpPr txBox="true"/>
            <p:nvPr/>
          </p:nvSpPr>
          <p:spPr>
            <a:xfrm rot="0">
              <a:off x="288423" y="780173"/>
              <a:ext cx="5744444" cy="671198"/>
            </a:xfrm>
            <a:prstGeom prst="rect">
              <a:avLst/>
            </a:prstGeom>
          </p:spPr>
          <p:txBody>
            <a:bodyPr anchor="t" rtlCol="false" tIns="0" lIns="0" bIns="0" rIns="0">
              <a:spAutoFit/>
            </a:bodyPr>
            <a:lstStyle/>
            <a:p>
              <a:pPr algn="just" marL="0" indent="0" lvl="0">
                <a:lnSpc>
                  <a:spcPts val="1912"/>
                </a:lnSpc>
              </a:pPr>
              <a:r>
                <a:rPr lang="en-US" sz="1912">
                  <a:solidFill>
                    <a:srgbClr val="6B7280"/>
                  </a:solidFill>
                  <a:latin typeface="Inter"/>
                  <a:ea typeface="Inter"/>
                  <a:cs typeface="Inter"/>
                  <a:sym typeface="Inter"/>
                </a:rPr>
                <a:t>77.4% Debit,</a:t>
              </a:r>
              <a:r>
                <a:rPr lang="en-US" sz="1912">
                  <a:solidFill>
                    <a:srgbClr val="6B7280"/>
                  </a:solidFill>
                  <a:latin typeface="Inter"/>
                  <a:ea typeface="Inter"/>
                  <a:cs typeface="Inter"/>
                  <a:sym typeface="Inter"/>
                </a:rPr>
                <a:t> 22.6% Credit — heavily imbalanced</a:t>
              </a:r>
            </a:p>
          </p:txBody>
        </p:sp>
      </p:grpSp>
      <p:grpSp>
        <p:nvGrpSpPr>
          <p:cNvPr name="Group 15" id="15"/>
          <p:cNvGrpSpPr/>
          <p:nvPr/>
        </p:nvGrpSpPr>
        <p:grpSpPr>
          <a:xfrm rot="0">
            <a:off x="12378012" y="5253955"/>
            <a:ext cx="4643110" cy="1582933"/>
            <a:chOff x="0" y="0"/>
            <a:chExt cx="6190813" cy="2110577"/>
          </a:xfrm>
        </p:grpSpPr>
        <p:sp>
          <p:nvSpPr>
            <p:cNvPr name="TextBox 16" id="16"/>
            <p:cNvSpPr txBox="true"/>
            <p:nvPr/>
          </p:nvSpPr>
          <p:spPr>
            <a:xfrm rot="0">
              <a:off x="1336308" y="166679"/>
              <a:ext cx="4369877" cy="458431"/>
            </a:xfrm>
            <a:prstGeom prst="rect">
              <a:avLst/>
            </a:prstGeom>
          </p:spPr>
          <p:txBody>
            <a:bodyPr anchor="t" rtlCol="false" tIns="0" lIns="0" bIns="0" rIns="0">
              <a:spAutoFit/>
            </a:bodyPr>
            <a:lstStyle/>
            <a:p>
              <a:pPr algn="just" marL="0" indent="0" lvl="0">
                <a:lnSpc>
                  <a:spcPts val="2942"/>
                </a:lnSpc>
                <a:spcBef>
                  <a:spcPct val="0"/>
                </a:spcBef>
              </a:pPr>
              <a:r>
                <a:rPr lang="en-US" b="true" sz="2101">
                  <a:solidFill>
                    <a:srgbClr val="6B7280"/>
                  </a:solidFill>
                  <a:latin typeface="Inter Bold"/>
                  <a:ea typeface="Inter Bold"/>
                  <a:cs typeface="Inter Bold"/>
                  <a:sym typeface="Inter Bold"/>
                </a:rPr>
                <a:t>Login Attempts</a:t>
              </a:r>
            </a:p>
          </p:txBody>
        </p:sp>
        <p:sp>
          <p:nvSpPr>
            <p:cNvPr name="TextBox 17" id="17"/>
            <p:cNvSpPr txBox="true"/>
            <p:nvPr/>
          </p:nvSpPr>
          <p:spPr>
            <a:xfrm rot="0">
              <a:off x="1336308" y="772169"/>
              <a:ext cx="4854505" cy="870431"/>
            </a:xfrm>
            <a:prstGeom prst="rect">
              <a:avLst/>
            </a:prstGeom>
          </p:spPr>
          <p:txBody>
            <a:bodyPr anchor="t" rtlCol="false" tIns="0" lIns="0" bIns="0" rIns="0">
              <a:spAutoFit/>
            </a:bodyPr>
            <a:lstStyle/>
            <a:p>
              <a:pPr algn="l" marL="0" indent="0" lvl="0">
                <a:lnSpc>
                  <a:spcPts val="2696"/>
                </a:lnSpc>
                <a:spcBef>
                  <a:spcPct val="0"/>
                </a:spcBef>
              </a:pPr>
              <a:r>
                <a:rPr lang="en-US" sz="1925">
                  <a:solidFill>
                    <a:srgbClr val="6B7280"/>
                  </a:solidFill>
                  <a:latin typeface="Inter"/>
                  <a:ea typeface="Inter"/>
                  <a:cs typeface="Inter"/>
                  <a:sym typeface="Inter"/>
                </a:rPr>
                <a:t>96% have 1 attempt; 2-5 attempts are potential outliers.</a:t>
              </a:r>
            </a:p>
          </p:txBody>
        </p:sp>
        <p:grpSp>
          <p:nvGrpSpPr>
            <p:cNvPr name="Group 18" id="18"/>
            <p:cNvGrpSpPr/>
            <p:nvPr/>
          </p:nvGrpSpPr>
          <p:grpSpPr>
            <a:xfrm rot="0">
              <a:off x="0" y="0"/>
              <a:ext cx="6190813" cy="2110577"/>
              <a:chOff x="0" y="0"/>
              <a:chExt cx="1453474" cy="495520"/>
            </a:xfrm>
          </p:grpSpPr>
          <p:sp>
            <p:nvSpPr>
              <p:cNvPr name="Freeform 19" id="19"/>
              <p:cNvSpPr/>
              <p:nvPr/>
            </p:nvSpPr>
            <p:spPr>
              <a:xfrm flipH="false" flipV="false" rot="0">
                <a:off x="0" y="0"/>
                <a:ext cx="1453474" cy="495520"/>
              </a:xfrm>
              <a:custGeom>
                <a:avLst/>
                <a:gdLst/>
                <a:ahLst/>
                <a:cxnLst/>
                <a:rect r="r" b="b" t="t" l="l"/>
                <a:pathLst>
                  <a:path h="495520" w="1453474">
                    <a:moveTo>
                      <a:pt x="60026" y="0"/>
                    </a:moveTo>
                    <a:lnTo>
                      <a:pt x="1393448" y="0"/>
                    </a:lnTo>
                    <a:cubicBezTo>
                      <a:pt x="1426599" y="0"/>
                      <a:pt x="1453474" y="26875"/>
                      <a:pt x="1453474" y="60026"/>
                    </a:cubicBezTo>
                    <a:lnTo>
                      <a:pt x="1453474" y="435493"/>
                    </a:lnTo>
                    <a:cubicBezTo>
                      <a:pt x="1453474" y="468645"/>
                      <a:pt x="1426599" y="495520"/>
                      <a:pt x="1393448" y="495520"/>
                    </a:cubicBezTo>
                    <a:lnTo>
                      <a:pt x="60026" y="495520"/>
                    </a:lnTo>
                    <a:cubicBezTo>
                      <a:pt x="26875" y="495520"/>
                      <a:pt x="0" y="468645"/>
                      <a:pt x="0" y="435493"/>
                    </a:cubicBezTo>
                    <a:lnTo>
                      <a:pt x="0" y="60026"/>
                    </a:lnTo>
                    <a:cubicBezTo>
                      <a:pt x="0" y="26875"/>
                      <a:pt x="26875" y="0"/>
                      <a:pt x="60026" y="0"/>
                    </a:cubicBezTo>
                    <a:close/>
                  </a:path>
                </a:pathLst>
              </a:custGeom>
              <a:solidFill>
                <a:srgbClr val="D1FAE5"/>
              </a:solidFill>
            </p:spPr>
          </p:sp>
          <p:sp>
            <p:nvSpPr>
              <p:cNvPr name="TextBox 20" id="20"/>
              <p:cNvSpPr txBox="true"/>
              <p:nvPr/>
            </p:nvSpPr>
            <p:spPr>
              <a:xfrm>
                <a:off x="0" y="-38100"/>
                <a:ext cx="1453474" cy="533620"/>
              </a:xfrm>
              <a:prstGeom prst="rect">
                <a:avLst/>
              </a:prstGeom>
            </p:spPr>
            <p:txBody>
              <a:bodyPr anchor="ctr" rtlCol="false" tIns="42740" lIns="42740" bIns="42740" rIns="42740"/>
              <a:lstStyle/>
              <a:p>
                <a:pPr algn="ctr" marL="0" indent="0" lvl="0">
                  <a:lnSpc>
                    <a:spcPts val="3499"/>
                  </a:lnSpc>
                </a:pPr>
              </a:p>
            </p:txBody>
          </p:sp>
        </p:grpSp>
        <p:sp>
          <p:nvSpPr>
            <p:cNvPr name="TextBox 21" id="21"/>
            <p:cNvSpPr txBox="true"/>
            <p:nvPr/>
          </p:nvSpPr>
          <p:spPr>
            <a:xfrm rot="0">
              <a:off x="975706" y="166679"/>
              <a:ext cx="4369877" cy="458431"/>
            </a:xfrm>
            <a:prstGeom prst="rect">
              <a:avLst/>
            </a:prstGeom>
          </p:spPr>
          <p:txBody>
            <a:bodyPr anchor="t" rtlCol="false" tIns="0" lIns="0" bIns="0" rIns="0">
              <a:spAutoFit/>
            </a:bodyPr>
            <a:lstStyle/>
            <a:p>
              <a:pPr algn="just" marL="0" indent="0" lvl="0">
                <a:lnSpc>
                  <a:spcPts val="2942"/>
                </a:lnSpc>
                <a:spcBef>
                  <a:spcPct val="0"/>
                </a:spcBef>
              </a:pPr>
              <a:r>
                <a:rPr lang="en-US" b="true" sz="2101">
                  <a:solidFill>
                    <a:srgbClr val="6B7280"/>
                  </a:solidFill>
                  <a:latin typeface="Inter Bold"/>
                  <a:ea typeface="Inter Bold"/>
                  <a:cs typeface="Inter Bold"/>
                  <a:sym typeface="Inter Bold"/>
                </a:rPr>
                <a:t>Customer Occupation</a:t>
              </a:r>
            </a:p>
          </p:txBody>
        </p:sp>
        <p:sp>
          <p:nvSpPr>
            <p:cNvPr name="TextBox 22" id="22"/>
            <p:cNvSpPr txBox="true"/>
            <p:nvPr/>
          </p:nvSpPr>
          <p:spPr>
            <a:xfrm rot="0">
              <a:off x="446370" y="838844"/>
              <a:ext cx="5744444" cy="671198"/>
            </a:xfrm>
            <a:prstGeom prst="rect">
              <a:avLst/>
            </a:prstGeom>
          </p:spPr>
          <p:txBody>
            <a:bodyPr anchor="t" rtlCol="false" tIns="0" lIns="0" bIns="0" rIns="0">
              <a:spAutoFit/>
            </a:bodyPr>
            <a:lstStyle/>
            <a:p>
              <a:pPr algn="l">
                <a:lnSpc>
                  <a:spcPts val="1912"/>
                </a:lnSpc>
              </a:pPr>
              <a:r>
                <a:rPr lang="en-US" sz="1912">
                  <a:solidFill>
                    <a:srgbClr val="6B7280"/>
                  </a:solidFill>
                  <a:latin typeface="Inter"/>
                  <a:ea typeface="Inter"/>
                  <a:cs typeface="Inter"/>
                  <a:sym typeface="Inter"/>
                </a:rPr>
                <a:t>Fairly balanced across</a:t>
              </a:r>
              <a:r>
                <a:rPr lang="en-US" sz="1912">
                  <a:solidFill>
                    <a:srgbClr val="6B7280"/>
                  </a:solidFill>
                  <a:latin typeface="Inter"/>
                  <a:ea typeface="Inter"/>
                  <a:cs typeface="Inter"/>
                  <a:sym typeface="Inter"/>
                </a:rPr>
                <a:t> Student, Doctor, Engineer, Retired.</a:t>
              </a:r>
            </a:p>
          </p:txBody>
        </p:sp>
      </p:grpSp>
      <p:grpSp>
        <p:nvGrpSpPr>
          <p:cNvPr name="Group 23" id="23"/>
          <p:cNvGrpSpPr/>
          <p:nvPr/>
        </p:nvGrpSpPr>
        <p:grpSpPr>
          <a:xfrm rot="0">
            <a:off x="5554185" y="8803606"/>
            <a:ext cx="6495152" cy="1399562"/>
            <a:chOff x="0" y="0"/>
            <a:chExt cx="8660203" cy="1866083"/>
          </a:xfrm>
        </p:grpSpPr>
        <p:sp>
          <p:nvSpPr>
            <p:cNvPr name="TextBox 24" id="24"/>
            <p:cNvSpPr txBox="true"/>
            <p:nvPr/>
          </p:nvSpPr>
          <p:spPr>
            <a:xfrm rot="0">
              <a:off x="1869334" y="-16905"/>
              <a:ext cx="6112932" cy="458431"/>
            </a:xfrm>
            <a:prstGeom prst="rect">
              <a:avLst/>
            </a:prstGeom>
          </p:spPr>
          <p:txBody>
            <a:bodyPr anchor="t" rtlCol="false" tIns="0" lIns="0" bIns="0" rIns="0">
              <a:spAutoFit/>
            </a:bodyPr>
            <a:lstStyle/>
            <a:p>
              <a:pPr algn="just" marL="0" indent="0" lvl="0">
                <a:lnSpc>
                  <a:spcPts val="2942"/>
                </a:lnSpc>
                <a:spcBef>
                  <a:spcPct val="0"/>
                </a:spcBef>
              </a:pPr>
              <a:r>
                <a:rPr lang="en-US" b="true" sz="2101">
                  <a:solidFill>
                    <a:srgbClr val="6B7280"/>
                  </a:solidFill>
                  <a:latin typeface="Inter Bold"/>
                  <a:ea typeface="Inter Bold"/>
                  <a:cs typeface="Inter Bold"/>
                  <a:sym typeface="Inter Bold"/>
                </a:rPr>
                <a:t>Login Attempts</a:t>
              </a:r>
            </a:p>
          </p:txBody>
        </p:sp>
        <p:sp>
          <p:nvSpPr>
            <p:cNvPr name="TextBox 25" id="25"/>
            <p:cNvSpPr txBox="true"/>
            <p:nvPr/>
          </p:nvSpPr>
          <p:spPr>
            <a:xfrm rot="0">
              <a:off x="1869334" y="588585"/>
              <a:ext cx="6790869" cy="870431"/>
            </a:xfrm>
            <a:prstGeom prst="rect">
              <a:avLst/>
            </a:prstGeom>
          </p:spPr>
          <p:txBody>
            <a:bodyPr anchor="t" rtlCol="false" tIns="0" lIns="0" bIns="0" rIns="0">
              <a:spAutoFit/>
            </a:bodyPr>
            <a:lstStyle/>
            <a:p>
              <a:pPr algn="l" marL="0" indent="0" lvl="0">
                <a:lnSpc>
                  <a:spcPts val="2696"/>
                </a:lnSpc>
                <a:spcBef>
                  <a:spcPct val="0"/>
                </a:spcBef>
              </a:pPr>
              <a:r>
                <a:rPr lang="en-US" sz="1925">
                  <a:solidFill>
                    <a:srgbClr val="6B7280"/>
                  </a:solidFill>
                  <a:latin typeface="Inter"/>
                  <a:ea typeface="Inter"/>
                  <a:cs typeface="Inter"/>
                  <a:sym typeface="Inter"/>
                </a:rPr>
                <a:t>96% have 1 attempt; 2-5 attempts are potential outliers.</a:t>
              </a:r>
            </a:p>
          </p:txBody>
        </p:sp>
        <p:grpSp>
          <p:nvGrpSpPr>
            <p:cNvPr name="Group 26" id="26"/>
            <p:cNvGrpSpPr/>
            <p:nvPr/>
          </p:nvGrpSpPr>
          <p:grpSpPr>
            <a:xfrm rot="0">
              <a:off x="0" y="0"/>
              <a:ext cx="8221350" cy="1866083"/>
              <a:chOff x="0" y="0"/>
              <a:chExt cx="1930201" cy="438117"/>
            </a:xfrm>
          </p:grpSpPr>
          <p:sp>
            <p:nvSpPr>
              <p:cNvPr name="Freeform 27" id="27"/>
              <p:cNvSpPr/>
              <p:nvPr/>
            </p:nvSpPr>
            <p:spPr>
              <a:xfrm flipH="false" flipV="false" rot="0">
                <a:off x="0" y="0"/>
                <a:ext cx="1930202" cy="438117"/>
              </a:xfrm>
              <a:custGeom>
                <a:avLst/>
                <a:gdLst/>
                <a:ahLst/>
                <a:cxnLst/>
                <a:rect r="r" b="b" t="t" l="l"/>
                <a:pathLst>
                  <a:path h="438117" w="1930202">
                    <a:moveTo>
                      <a:pt x="45201" y="0"/>
                    </a:moveTo>
                    <a:lnTo>
                      <a:pt x="1885001" y="0"/>
                    </a:lnTo>
                    <a:cubicBezTo>
                      <a:pt x="1896989" y="0"/>
                      <a:pt x="1908486" y="4762"/>
                      <a:pt x="1916962" y="13239"/>
                    </a:cubicBezTo>
                    <a:cubicBezTo>
                      <a:pt x="1925439" y="21716"/>
                      <a:pt x="1930202" y="33213"/>
                      <a:pt x="1930202" y="45201"/>
                    </a:cubicBezTo>
                    <a:lnTo>
                      <a:pt x="1930202" y="392917"/>
                    </a:lnTo>
                    <a:cubicBezTo>
                      <a:pt x="1930202" y="417880"/>
                      <a:pt x="1909964" y="438117"/>
                      <a:pt x="1885001" y="438117"/>
                    </a:cubicBezTo>
                    <a:lnTo>
                      <a:pt x="45201" y="438117"/>
                    </a:lnTo>
                    <a:cubicBezTo>
                      <a:pt x="33213" y="438117"/>
                      <a:pt x="21716" y="433355"/>
                      <a:pt x="13239" y="424878"/>
                    </a:cubicBezTo>
                    <a:cubicBezTo>
                      <a:pt x="4762" y="416402"/>
                      <a:pt x="0" y="404905"/>
                      <a:pt x="0" y="392917"/>
                    </a:cubicBezTo>
                    <a:lnTo>
                      <a:pt x="0" y="45201"/>
                    </a:lnTo>
                    <a:cubicBezTo>
                      <a:pt x="0" y="33213"/>
                      <a:pt x="4762" y="21716"/>
                      <a:pt x="13239" y="13239"/>
                    </a:cubicBezTo>
                    <a:cubicBezTo>
                      <a:pt x="21716" y="4762"/>
                      <a:pt x="33213" y="0"/>
                      <a:pt x="45201" y="0"/>
                    </a:cubicBezTo>
                    <a:close/>
                  </a:path>
                </a:pathLst>
              </a:custGeom>
              <a:solidFill>
                <a:srgbClr val="D1FAE5"/>
              </a:solidFill>
            </p:spPr>
          </p:sp>
          <p:sp>
            <p:nvSpPr>
              <p:cNvPr name="TextBox 28" id="28"/>
              <p:cNvSpPr txBox="true"/>
              <p:nvPr/>
            </p:nvSpPr>
            <p:spPr>
              <a:xfrm>
                <a:off x="0" y="-38100"/>
                <a:ext cx="1930201" cy="476217"/>
              </a:xfrm>
              <a:prstGeom prst="rect">
                <a:avLst/>
              </a:prstGeom>
            </p:spPr>
            <p:txBody>
              <a:bodyPr anchor="ctr" rtlCol="false" tIns="42740" lIns="42740" bIns="42740" rIns="42740"/>
              <a:lstStyle/>
              <a:p>
                <a:pPr algn="ctr" marL="0" indent="0" lvl="0">
                  <a:lnSpc>
                    <a:spcPts val="3499"/>
                  </a:lnSpc>
                </a:pPr>
              </a:p>
            </p:txBody>
          </p:sp>
        </p:grpSp>
        <p:sp>
          <p:nvSpPr>
            <p:cNvPr name="TextBox 29" id="29"/>
            <p:cNvSpPr txBox="true"/>
            <p:nvPr/>
          </p:nvSpPr>
          <p:spPr>
            <a:xfrm rot="0">
              <a:off x="2208302" y="132662"/>
              <a:ext cx="6112932" cy="949946"/>
            </a:xfrm>
            <a:prstGeom prst="rect">
              <a:avLst/>
            </a:prstGeom>
          </p:spPr>
          <p:txBody>
            <a:bodyPr anchor="t" rtlCol="false" tIns="0" lIns="0" bIns="0" rIns="0">
              <a:spAutoFit/>
            </a:bodyPr>
            <a:lstStyle/>
            <a:p>
              <a:pPr algn="just" marL="0" indent="0" lvl="0">
                <a:lnSpc>
                  <a:spcPts val="2942"/>
                </a:lnSpc>
                <a:spcBef>
                  <a:spcPct val="0"/>
                </a:spcBef>
              </a:pPr>
              <a:r>
                <a:rPr lang="en-US" b="true" sz="2101">
                  <a:solidFill>
                    <a:srgbClr val="6B7280"/>
                  </a:solidFill>
                  <a:latin typeface="Inter Bold"/>
                  <a:ea typeface="Inter Bold"/>
                  <a:cs typeface="Inter Bold"/>
                  <a:sym typeface="Inter Bold"/>
                </a:rPr>
                <a:t>Transacti</a:t>
              </a:r>
              <a:r>
                <a:rPr lang="en-US" b="true" sz="2101">
                  <a:solidFill>
                    <a:srgbClr val="6B7280"/>
                  </a:solidFill>
                  <a:latin typeface="Inter Bold"/>
                  <a:ea typeface="Inter Bold"/>
                  <a:cs typeface="Inter Bold"/>
                  <a:sym typeface="Inter Bold"/>
                </a:rPr>
                <a:t>on Channel</a:t>
              </a:r>
            </a:p>
            <a:p>
              <a:pPr algn="just" marL="0" indent="0" lvl="0">
                <a:lnSpc>
                  <a:spcPts val="2942"/>
                </a:lnSpc>
                <a:spcBef>
                  <a:spcPct val="0"/>
                </a:spcBef>
              </a:pPr>
            </a:p>
          </p:txBody>
        </p:sp>
        <p:sp>
          <p:nvSpPr>
            <p:cNvPr name="TextBox 30" id="30"/>
            <p:cNvSpPr txBox="true"/>
            <p:nvPr/>
          </p:nvSpPr>
          <p:spPr>
            <a:xfrm rot="0">
              <a:off x="212324" y="787819"/>
              <a:ext cx="7796702" cy="671198"/>
            </a:xfrm>
            <a:prstGeom prst="rect">
              <a:avLst/>
            </a:prstGeom>
          </p:spPr>
          <p:txBody>
            <a:bodyPr anchor="t" rtlCol="false" tIns="0" lIns="0" bIns="0" rIns="0">
              <a:spAutoFit/>
            </a:bodyPr>
            <a:lstStyle/>
            <a:p>
              <a:pPr algn="just" marL="0" indent="0" lvl="0">
                <a:lnSpc>
                  <a:spcPts val="1912"/>
                </a:lnSpc>
              </a:pPr>
              <a:r>
                <a:rPr lang="en-US" sz="1912">
                  <a:solidFill>
                    <a:srgbClr val="6B7280"/>
                  </a:solidFill>
                  <a:latin typeface="Inter"/>
                  <a:ea typeface="Inter"/>
                  <a:cs typeface="Inter"/>
                  <a:sym typeface="Inter"/>
                </a:rPr>
                <a:t>Nearly equal split:</a:t>
              </a:r>
              <a:r>
                <a:rPr lang="en-US" sz="1912">
                  <a:solidFill>
                    <a:srgbClr val="6B7280"/>
                  </a:solidFill>
                  <a:latin typeface="Inter"/>
                  <a:ea typeface="Inter"/>
                  <a:cs typeface="Inter"/>
                  <a:sym typeface="Inter"/>
                </a:rPr>
                <a:t> Branch 34.6%, ATM 33.2%, Online 32.3% — well balanced.</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sp>
        <p:nvSpPr>
          <p:cNvPr name="Freeform 2" id="2"/>
          <p:cNvSpPr/>
          <p:nvPr/>
        </p:nvSpPr>
        <p:spPr>
          <a:xfrm flipH="false" flipV="false" rot="0">
            <a:off x="212163" y="1123422"/>
            <a:ext cx="8207158" cy="4666058"/>
          </a:xfrm>
          <a:custGeom>
            <a:avLst/>
            <a:gdLst/>
            <a:ahLst/>
            <a:cxnLst/>
            <a:rect r="r" b="b" t="t" l="l"/>
            <a:pathLst>
              <a:path h="4666058" w="8207158">
                <a:moveTo>
                  <a:pt x="0" y="0"/>
                </a:moveTo>
                <a:lnTo>
                  <a:pt x="8207158" y="0"/>
                </a:lnTo>
                <a:lnTo>
                  <a:pt x="8207158" y="4666059"/>
                </a:lnTo>
                <a:lnTo>
                  <a:pt x="0" y="4666059"/>
                </a:lnTo>
                <a:lnTo>
                  <a:pt x="0" y="0"/>
                </a:lnTo>
                <a:close/>
              </a:path>
            </a:pathLst>
          </a:custGeom>
          <a:blipFill>
            <a:blip r:embed="rId2"/>
            <a:stretch>
              <a:fillRect l="-4048" t="-1756" r="-2345" b="0"/>
            </a:stretch>
          </a:blipFill>
          <a:ln w="38100" cap="sq">
            <a:solidFill>
              <a:srgbClr val="000000"/>
            </a:solidFill>
            <a:prstDash val="solid"/>
            <a:miter/>
          </a:ln>
        </p:spPr>
      </p:sp>
      <p:sp>
        <p:nvSpPr>
          <p:cNvPr name="Freeform 3" id="3"/>
          <p:cNvSpPr/>
          <p:nvPr/>
        </p:nvSpPr>
        <p:spPr>
          <a:xfrm flipH="false" flipV="false" rot="0">
            <a:off x="8604561" y="1123422"/>
            <a:ext cx="8062210" cy="4713419"/>
          </a:xfrm>
          <a:custGeom>
            <a:avLst/>
            <a:gdLst/>
            <a:ahLst/>
            <a:cxnLst/>
            <a:rect r="r" b="b" t="t" l="l"/>
            <a:pathLst>
              <a:path h="4713419" w="8062210">
                <a:moveTo>
                  <a:pt x="0" y="0"/>
                </a:moveTo>
                <a:lnTo>
                  <a:pt x="8062211" y="0"/>
                </a:lnTo>
                <a:lnTo>
                  <a:pt x="8062211" y="4713420"/>
                </a:lnTo>
                <a:lnTo>
                  <a:pt x="0" y="4713420"/>
                </a:lnTo>
                <a:lnTo>
                  <a:pt x="0" y="0"/>
                </a:lnTo>
                <a:close/>
              </a:path>
            </a:pathLst>
          </a:custGeom>
          <a:blipFill>
            <a:blip r:embed="rId3"/>
            <a:stretch>
              <a:fillRect l="-2769" t="-1004" r="-2650" b="-198"/>
            </a:stretch>
          </a:blipFill>
          <a:ln w="38100" cap="sq">
            <a:solidFill>
              <a:srgbClr val="000000"/>
            </a:solidFill>
            <a:prstDash val="solid"/>
            <a:miter/>
          </a:ln>
        </p:spPr>
      </p:sp>
      <p:sp>
        <p:nvSpPr>
          <p:cNvPr name="TextBox 4" id="4"/>
          <p:cNvSpPr txBox="true"/>
          <p:nvPr/>
        </p:nvSpPr>
        <p:spPr>
          <a:xfrm rot="0">
            <a:off x="2996418" y="6168820"/>
            <a:ext cx="3277408" cy="356187"/>
          </a:xfrm>
          <a:prstGeom prst="rect">
            <a:avLst/>
          </a:prstGeom>
        </p:spPr>
        <p:txBody>
          <a:bodyPr anchor="t" rtlCol="false" tIns="0" lIns="0" bIns="0" rIns="0">
            <a:spAutoFit/>
          </a:bodyPr>
          <a:lstStyle/>
          <a:p>
            <a:pPr algn="just" marL="0" indent="0" lvl="0">
              <a:lnSpc>
                <a:spcPts val="2942"/>
              </a:lnSpc>
              <a:spcBef>
                <a:spcPct val="0"/>
              </a:spcBef>
            </a:pPr>
            <a:r>
              <a:rPr lang="en-US" b="true" sz="2101">
                <a:solidFill>
                  <a:srgbClr val="6B7280"/>
                </a:solidFill>
                <a:latin typeface="Montserrat Bold"/>
                <a:ea typeface="Montserrat Bold"/>
                <a:cs typeface="Montserrat Bold"/>
                <a:sym typeface="Montserrat Bold"/>
              </a:rPr>
              <a:t>Login Attempts</a:t>
            </a:r>
          </a:p>
        </p:txBody>
      </p:sp>
      <p:sp>
        <p:nvSpPr>
          <p:cNvPr name="TextBox 5" id="5"/>
          <p:cNvSpPr txBox="true"/>
          <p:nvPr/>
        </p:nvSpPr>
        <p:spPr>
          <a:xfrm rot="0">
            <a:off x="2996418" y="6622938"/>
            <a:ext cx="3640879" cy="989311"/>
          </a:xfrm>
          <a:prstGeom prst="rect">
            <a:avLst/>
          </a:prstGeom>
        </p:spPr>
        <p:txBody>
          <a:bodyPr anchor="t" rtlCol="false" tIns="0" lIns="0" bIns="0" rIns="0">
            <a:spAutoFit/>
          </a:bodyPr>
          <a:lstStyle/>
          <a:p>
            <a:pPr algn="l" marL="0" indent="0" lvl="0">
              <a:lnSpc>
                <a:spcPts val="2696"/>
              </a:lnSpc>
              <a:spcBef>
                <a:spcPct val="0"/>
              </a:spcBef>
            </a:pPr>
            <a:r>
              <a:rPr lang="en-US" sz="1925">
                <a:solidFill>
                  <a:srgbClr val="6B7280"/>
                </a:solidFill>
                <a:latin typeface="Montserrat"/>
                <a:ea typeface="Montserrat"/>
                <a:cs typeface="Montserrat"/>
                <a:sym typeface="Montserrat"/>
              </a:rPr>
              <a:t>96% have 1 attempt; 2-5 attempts are potential outliers.</a:t>
            </a:r>
          </a:p>
        </p:txBody>
      </p:sp>
      <p:grpSp>
        <p:nvGrpSpPr>
          <p:cNvPr name="Group 6" id="6"/>
          <p:cNvGrpSpPr/>
          <p:nvPr/>
        </p:nvGrpSpPr>
        <p:grpSpPr>
          <a:xfrm rot="0">
            <a:off x="2029006" y="6071833"/>
            <a:ext cx="4826480" cy="1907184"/>
            <a:chOff x="0" y="0"/>
            <a:chExt cx="1510876" cy="597023"/>
          </a:xfrm>
        </p:grpSpPr>
        <p:sp>
          <p:nvSpPr>
            <p:cNvPr name="Freeform 7" id="7"/>
            <p:cNvSpPr/>
            <p:nvPr/>
          </p:nvSpPr>
          <p:spPr>
            <a:xfrm flipH="false" flipV="false" rot="0">
              <a:off x="0" y="0"/>
              <a:ext cx="1510876" cy="597023"/>
            </a:xfrm>
            <a:custGeom>
              <a:avLst/>
              <a:gdLst/>
              <a:ahLst/>
              <a:cxnLst/>
              <a:rect r="r" b="b" t="t" l="l"/>
              <a:pathLst>
                <a:path h="597023" w="1510876">
                  <a:moveTo>
                    <a:pt x="57746" y="0"/>
                  </a:moveTo>
                  <a:lnTo>
                    <a:pt x="1453130" y="0"/>
                  </a:lnTo>
                  <a:cubicBezTo>
                    <a:pt x="1468445" y="0"/>
                    <a:pt x="1483133" y="6084"/>
                    <a:pt x="1493963" y="16913"/>
                  </a:cubicBezTo>
                  <a:cubicBezTo>
                    <a:pt x="1504792" y="27743"/>
                    <a:pt x="1510876" y="42431"/>
                    <a:pt x="1510876" y="57746"/>
                  </a:cubicBezTo>
                  <a:lnTo>
                    <a:pt x="1510876" y="539277"/>
                  </a:lnTo>
                  <a:cubicBezTo>
                    <a:pt x="1510876" y="554592"/>
                    <a:pt x="1504792" y="569280"/>
                    <a:pt x="1493963" y="580109"/>
                  </a:cubicBezTo>
                  <a:cubicBezTo>
                    <a:pt x="1483133" y="590939"/>
                    <a:pt x="1468445" y="597023"/>
                    <a:pt x="1453130" y="597023"/>
                  </a:cubicBezTo>
                  <a:lnTo>
                    <a:pt x="57746" y="597023"/>
                  </a:lnTo>
                  <a:cubicBezTo>
                    <a:pt x="42431" y="597023"/>
                    <a:pt x="27743" y="590939"/>
                    <a:pt x="16913" y="580109"/>
                  </a:cubicBezTo>
                  <a:cubicBezTo>
                    <a:pt x="6084" y="569280"/>
                    <a:pt x="0" y="554592"/>
                    <a:pt x="0" y="539277"/>
                  </a:cubicBezTo>
                  <a:lnTo>
                    <a:pt x="0" y="57746"/>
                  </a:lnTo>
                  <a:cubicBezTo>
                    <a:pt x="0" y="42431"/>
                    <a:pt x="6084" y="27743"/>
                    <a:pt x="16913" y="16913"/>
                  </a:cubicBezTo>
                  <a:cubicBezTo>
                    <a:pt x="27743" y="6084"/>
                    <a:pt x="42431" y="0"/>
                    <a:pt x="57746" y="0"/>
                  </a:cubicBezTo>
                  <a:close/>
                </a:path>
              </a:pathLst>
            </a:custGeom>
            <a:solidFill>
              <a:srgbClr val="D1FAE5"/>
            </a:solidFill>
          </p:spPr>
        </p:sp>
        <p:sp>
          <p:nvSpPr>
            <p:cNvPr name="TextBox 8" id="8"/>
            <p:cNvSpPr txBox="true"/>
            <p:nvPr/>
          </p:nvSpPr>
          <p:spPr>
            <a:xfrm>
              <a:off x="0" y="-38100"/>
              <a:ext cx="1510876" cy="635123"/>
            </a:xfrm>
            <a:prstGeom prst="rect">
              <a:avLst/>
            </a:prstGeom>
          </p:spPr>
          <p:txBody>
            <a:bodyPr anchor="ctr" rtlCol="false" tIns="42740" lIns="42740" bIns="42740" rIns="42740"/>
            <a:lstStyle/>
            <a:p>
              <a:pPr algn="ctr" marL="0" indent="0" lvl="0">
                <a:lnSpc>
                  <a:spcPts val="3499"/>
                </a:lnSpc>
              </a:pPr>
            </a:p>
          </p:txBody>
        </p:sp>
      </p:grpSp>
      <p:sp>
        <p:nvSpPr>
          <p:cNvPr name="TextBox 9" id="9"/>
          <p:cNvSpPr txBox="true"/>
          <p:nvPr/>
        </p:nvSpPr>
        <p:spPr>
          <a:xfrm rot="0">
            <a:off x="12011303" y="6168820"/>
            <a:ext cx="3277408" cy="356187"/>
          </a:xfrm>
          <a:prstGeom prst="rect">
            <a:avLst/>
          </a:prstGeom>
        </p:spPr>
        <p:txBody>
          <a:bodyPr anchor="t" rtlCol="false" tIns="0" lIns="0" bIns="0" rIns="0">
            <a:spAutoFit/>
          </a:bodyPr>
          <a:lstStyle/>
          <a:p>
            <a:pPr algn="just" marL="0" indent="0" lvl="0">
              <a:lnSpc>
                <a:spcPts val="2942"/>
              </a:lnSpc>
              <a:spcBef>
                <a:spcPct val="0"/>
              </a:spcBef>
            </a:pPr>
            <a:r>
              <a:rPr lang="en-US" b="true" sz="2101">
                <a:solidFill>
                  <a:srgbClr val="6B7280"/>
                </a:solidFill>
                <a:latin typeface="Montserrat Bold"/>
                <a:ea typeface="Montserrat Bold"/>
                <a:cs typeface="Montserrat Bold"/>
                <a:sym typeface="Montserrat Bold"/>
              </a:rPr>
              <a:t>Login Attempts</a:t>
            </a:r>
          </a:p>
        </p:txBody>
      </p:sp>
      <p:sp>
        <p:nvSpPr>
          <p:cNvPr name="TextBox 10" id="10"/>
          <p:cNvSpPr txBox="true"/>
          <p:nvPr/>
        </p:nvSpPr>
        <p:spPr>
          <a:xfrm rot="0">
            <a:off x="12011303" y="6622938"/>
            <a:ext cx="3640879" cy="989311"/>
          </a:xfrm>
          <a:prstGeom prst="rect">
            <a:avLst/>
          </a:prstGeom>
        </p:spPr>
        <p:txBody>
          <a:bodyPr anchor="t" rtlCol="false" tIns="0" lIns="0" bIns="0" rIns="0">
            <a:spAutoFit/>
          </a:bodyPr>
          <a:lstStyle/>
          <a:p>
            <a:pPr algn="l" marL="0" indent="0" lvl="0">
              <a:lnSpc>
                <a:spcPts val="2696"/>
              </a:lnSpc>
              <a:spcBef>
                <a:spcPct val="0"/>
              </a:spcBef>
            </a:pPr>
            <a:r>
              <a:rPr lang="en-US" sz="1925">
                <a:solidFill>
                  <a:srgbClr val="6B7280"/>
                </a:solidFill>
                <a:latin typeface="Montserrat"/>
                <a:ea typeface="Montserrat"/>
                <a:cs typeface="Montserrat"/>
                <a:sym typeface="Montserrat"/>
              </a:rPr>
              <a:t>96% have 1 attempt; 2-5 attempts are potential outliers.</a:t>
            </a:r>
          </a:p>
        </p:txBody>
      </p:sp>
      <p:grpSp>
        <p:nvGrpSpPr>
          <p:cNvPr name="Group 11" id="11"/>
          <p:cNvGrpSpPr/>
          <p:nvPr/>
        </p:nvGrpSpPr>
        <p:grpSpPr>
          <a:xfrm rot="0">
            <a:off x="11009072" y="6071833"/>
            <a:ext cx="4643110" cy="1907184"/>
            <a:chOff x="0" y="0"/>
            <a:chExt cx="1453474" cy="597023"/>
          </a:xfrm>
        </p:grpSpPr>
        <p:sp>
          <p:nvSpPr>
            <p:cNvPr name="Freeform 12" id="12"/>
            <p:cNvSpPr/>
            <p:nvPr/>
          </p:nvSpPr>
          <p:spPr>
            <a:xfrm flipH="false" flipV="false" rot="0">
              <a:off x="0" y="0"/>
              <a:ext cx="1453474" cy="597023"/>
            </a:xfrm>
            <a:custGeom>
              <a:avLst/>
              <a:gdLst/>
              <a:ahLst/>
              <a:cxnLst/>
              <a:rect r="r" b="b" t="t" l="l"/>
              <a:pathLst>
                <a:path h="597023" w="1453474">
                  <a:moveTo>
                    <a:pt x="60026" y="0"/>
                  </a:moveTo>
                  <a:lnTo>
                    <a:pt x="1393448" y="0"/>
                  </a:lnTo>
                  <a:cubicBezTo>
                    <a:pt x="1426599" y="0"/>
                    <a:pt x="1453474" y="26875"/>
                    <a:pt x="1453474" y="60026"/>
                  </a:cubicBezTo>
                  <a:lnTo>
                    <a:pt x="1453474" y="536996"/>
                  </a:lnTo>
                  <a:cubicBezTo>
                    <a:pt x="1453474" y="570148"/>
                    <a:pt x="1426599" y="597023"/>
                    <a:pt x="1393448" y="597023"/>
                  </a:cubicBezTo>
                  <a:lnTo>
                    <a:pt x="60026" y="597023"/>
                  </a:lnTo>
                  <a:cubicBezTo>
                    <a:pt x="26875" y="597023"/>
                    <a:pt x="0" y="570148"/>
                    <a:pt x="0" y="536996"/>
                  </a:cubicBezTo>
                  <a:lnTo>
                    <a:pt x="0" y="60026"/>
                  </a:lnTo>
                  <a:cubicBezTo>
                    <a:pt x="0" y="26875"/>
                    <a:pt x="26875" y="0"/>
                    <a:pt x="60026" y="0"/>
                  </a:cubicBezTo>
                  <a:close/>
                </a:path>
              </a:pathLst>
            </a:custGeom>
            <a:solidFill>
              <a:srgbClr val="D1FAE5"/>
            </a:solidFill>
          </p:spPr>
        </p:sp>
        <p:sp>
          <p:nvSpPr>
            <p:cNvPr name="TextBox 13" id="13"/>
            <p:cNvSpPr txBox="true"/>
            <p:nvPr/>
          </p:nvSpPr>
          <p:spPr>
            <a:xfrm>
              <a:off x="0" y="-38100"/>
              <a:ext cx="1453474" cy="635123"/>
            </a:xfrm>
            <a:prstGeom prst="rect">
              <a:avLst/>
            </a:prstGeom>
          </p:spPr>
          <p:txBody>
            <a:bodyPr anchor="ctr" rtlCol="false" tIns="42740" lIns="42740" bIns="42740" rIns="42740"/>
            <a:lstStyle/>
            <a:p>
              <a:pPr algn="ctr" marL="0" indent="0" lvl="0">
                <a:lnSpc>
                  <a:spcPts val="3499"/>
                </a:lnSpc>
              </a:pPr>
            </a:p>
          </p:txBody>
        </p:sp>
      </p:grpSp>
      <p:sp>
        <p:nvSpPr>
          <p:cNvPr name="TextBox 14" id="14"/>
          <p:cNvSpPr txBox="true"/>
          <p:nvPr/>
        </p:nvSpPr>
        <p:spPr>
          <a:xfrm rot="0">
            <a:off x="0" y="114300"/>
            <a:ext cx="9752796" cy="869950"/>
          </a:xfrm>
          <a:prstGeom prst="rect">
            <a:avLst/>
          </a:prstGeom>
        </p:spPr>
        <p:txBody>
          <a:bodyPr anchor="t" rtlCol="false" tIns="0" lIns="0" bIns="0" rIns="0">
            <a:spAutoFit/>
          </a:bodyPr>
          <a:lstStyle/>
          <a:p>
            <a:pPr algn="just" marL="0" indent="0" lvl="0">
              <a:lnSpc>
                <a:spcPts val="6500"/>
              </a:lnSpc>
            </a:pPr>
            <a:r>
              <a:rPr lang="en-US" b="true" sz="6500">
                <a:solidFill>
                  <a:srgbClr val="1F1F1F"/>
                </a:solidFill>
                <a:latin typeface="Montserrat Bold"/>
                <a:ea typeface="Montserrat Bold"/>
                <a:cs typeface="Montserrat Bold"/>
                <a:sym typeface="Montserrat Bold"/>
              </a:rPr>
              <a:t>Bivariate</a:t>
            </a:r>
          </a:p>
        </p:txBody>
      </p:sp>
      <p:sp>
        <p:nvSpPr>
          <p:cNvPr name="TextBox 15" id="15"/>
          <p:cNvSpPr txBox="true"/>
          <p:nvPr/>
        </p:nvSpPr>
        <p:spPr>
          <a:xfrm rot="0">
            <a:off x="4110305" y="114300"/>
            <a:ext cx="7581618" cy="869950"/>
          </a:xfrm>
          <a:prstGeom prst="rect">
            <a:avLst/>
          </a:prstGeom>
        </p:spPr>
        <p:txBody>
          <a:bodyPr anchor="t" rtlCol="false" tIns="0" lIns="0" bIns="0" rIns="0">
            <a:spAutoFit/>
          </a:bodyPr>
          <a:lstStyle/>
          <a:p>
            <a:pPr algn="just" marL="0" indent="0" lvl="0">
              <a:lnSpc>
                <a:spcPts val="6500"/>
              </a:lnSpc>
            </a:pPr>
            <a:r>
              <a:rPr lang="en-US" b="true" sz="6500">
                <a:solidFill>
                  <a:srgbClr val="000000"/>
                </a:solidFill>
                <a:latin typeface="Montserrat Bold"/>
                <a:ea typeface="Montserrat Bold"/>
                <a:cs typeface="Montserrat Bold"/>
                <a:sym typeface="Montserrat Bold"/>
              </a:rPr>
              <a:t>Analysis</a:t>
            </a:r>
          </a:p>
        </p:txBody>
      </p:sp>
      <p:sp>
        <p:nvSpPr>
          <p:cNvPr name="TextBox 16" id="16"/>
          <p:cNvSpPr txBox="true"/>
          <p:nvPr/>
        </p:nvSpPr>
        <p:spPr>
          <a:xfrm rot="0">
            <a:off x="2803542" y="6245020"/>
            <a:ext cx="3277408" cy="548688"/>
          </a:xfrm>
          <a:prstGeom prst="rect">
            <a:avLst/>
          </a:prstGeom>
        </p:spPr>
        <p:txBody>
          <a:bodyPr anchor="t" rtlCol="false" tIns="0" lIns="0" bIns="0" rIns="0">
            <a:spAutoFit/>
          </a:bodyPr>
          <a:lstStyle/>
          <a:p>
            <a:pPr algn="ctr" marL="0" indent="0" lvl="0">
              <a:lnSpc>
                <a:spcPts val="2101"/>
              </a:lnSpc>
            </a:pPr>
            <a:r>
              <a:rPr lang="en-US" b="true" sz="2101">
                <a:solidFill>
                  <a:srgbClr val="6B7280"/>
                </a:solidFill>
                <a:latin typeface="Montserrat Bold"/>
                <a:ea typeface="Montserrat Bold"/>
                <a:cs typeface="Montserrat Bold"/>
                <a:sym typeface="Montserrat Bold"/>
              </a:rPr>
              <a:t>Transection Amount by Transacti</a:t>
            </a:r>
            <a:r>
              <a:rPr lang="en-US" b="true" sz="2101">
                <a:solidFill>
                  <a:srgbClr val="6B7280"/>
                </a:solidFill>
                <a:latin typeface="Montserrat Bold"/>
                <a:ea typeface="Montserrat Bold"/>
                <a:cs typeface="Montserrat Bold"/>
                <a:sym typeface="Montserrat Bold"/>
              </a:rPr>
              <a:t>onType</a:t>
            </a:r>
          </a:p>
        </p:txBody>
      </p:sp>
      <p:sp>
        <p:nvSpPr>
          <p:cNvPr name="TextBox 17" id="17"/>
          <p:cNvSpPr txBox="true"/>
          <p:nvPr/>
        </p:nvSpPr>
        <p:spPr>
          <a:xfrm rot="0">
            <a:off x="2161576" y="7063525"/>
            <a:ext cx="4308333" cy="508320"/>
          </a:xfrm>
          <a:prstGeom prst="rect">
            <a:avLst/>
          </a:prstGeom>
        </p:spPr>
        <p:txBody>
          <a:bodyPr anchor="t" rtlCol="false" tIns="0" lIns="0" bIns="0" rIns="0">
            <a:spAutoFit/>
          </a:bodyPr>
          <a:lstStyle/>
          <a:p>
            <a:pPr algn="ctr" marL="0" indent="0" lvl="0">
              <a:lnSpc>
                <a:spcPts val="2012"/>
              </a:lnSpc>
            </a:pPr>
            <a:r>
              <a:rPr lang="en-US" sz="2012">
                <a:solidFill>
                  <a:srgbClr val="6B7280"/>
                </a:solidFill>
                <a:latin typeface="Montserrat"/>
                <a:ea typeface="Montserrat"/>
                <a:cs typeface="Montserrat"/>
                <a:sym typeface="Montserrat"/>
              </a:rPr>
              <a:t>Credit</a:t>
            </a:r>
            <a:r>
              <a:rPr lang="en-US" sz="2012">
                <a:solidFill>
                  <a:srgbClr val="6B7280"/>
                </a:solidFill>
                <a:latin typeface="Montserrat"/>
                <a:ea typeface="Montserrat"/>
                <a:cs typeface="Montserrat"/>
                <a:sym typeface="Montserrat"/>
              </a:rPr>
              <a:t> is higher-value; debit is more frequent.</a:t>
            </a:r>
          </a:p>
        </p:txBody>
      </p:sp>
      <p:sp>
        <p:nvSpPr>
          <p:cNvPr name="TextBox 18" id="18"/>
          <p:cNvSpPr txBox="true"/>
          <p:nvPr/>
        </p:nvSpPr>
        <p:spPr>
          <a:xfrm rot="0">
            <a:off x="11691923" y="6245020"/>
            <a:ext cx="3277408" cy="548688"/>
          </a:xfrm>
          <a:prstGeom prst="rect">
            <a:avLst/>
          </a:prstGeom>
        </p:spPr>
        <p:txBody>
          <a:bodyPr anchor="t" rtlCol="false" tIns="0" lIns="0" bIns="0" rIns="0">
            <a:spAutoFit/>
          </a:bodyPr>
          <a:lstStyle/>
          <a:p>
            <a:pPr algn="ctr" marL="0" indent="0" lvl="0">
              <a:lnSpc>
                <a:spcPts val="2101"/>
              </a:lnSpc>
            </a:pPr>
            <a:r>
              <a:rPr lang="en-US" b="true" sz="2101">
                <a:solidFill>
                  <a:srgbClr val="6B7280"/>
                </a:solidFill>
                <a:latin typeface="Montserrat Bold"/>
                <a:ea typeface="Montserrat Bold"/>
                <a:cs typeface="Montserrat Bold"/>
                <a:sym typeface="Montserrat Bold"/>
              </a:rPr>
              <a:t>Login Attempts by Chan</a:t>
            </a:r>
            <a:r>
              <a:rPr lang="en-US" b="true" sz="2101">
                <a:solidFill>
                  <a:srgbClr val="6B7280"/>
                </a:solidFill>
                <a:latin typeface="Montserrat Bold"/>
                <a:ea typeface="Montserrat Bold"/>
                <a:cs typeface="Montserrat Bold"/>
                <a:sym typeface="Montserrat Bold"/>
              </a:rPr>
              <a:t>nel</a:t>
            </a:r>
          </a:p>
        </p:txBody>
      </p:sp>
      <p:sp>
        <p:nvSpPr>
          <p:cNvPr name="TextBox 19" id="19"/>
          <p:cNvSpPr txBox="true"/>
          <p:nvPr/>
        </p:nvSpPr>
        <p:spPr>
          <a:xfrm rot="0">
            <a:off x="11176461" y="6926351"/>
            <a:ext cx="4308333" cy="755970"/>
          </a:xfrm>
          <a:prstGeom prst="rect">
            <a:avLst/>
          </a:prstGeom>
        </p:spPr>
        <p:txBody>
          <a:bodyPr anchor="t" rtlCol="false" tIns="0" lIns="0" bIns="0" rIns="0">
            <a:spAutoFit/>
          </a:bodyPr>
          <a:lstStyle/>
          <a:p>
            <a:pPr algn="ctr" marL="0" indent="0" lvl="0">
              <a:lnSpc>
                <a:spcPts val="2012"/>
              </a:lnSpc>
            </a:pPr>
            <a:r>
              <a:rPr lang="en-US" sz="2012">
                <a:solidFill>
                  <a:srgbClr val="6B7280"/>
                </a:solidFill>
                <a:latin typeface="Montserrat"/>
                <a:ea typeface="Montserrat"/>
                <a:cs typeface="Montserrat"/>
                <a:sym typeface="Montserrat"/>
              </a:rPr>
              <a:t>More login attempts, e</a:t>
            </a:r>
            <a:r>
              <a:rPr lang="en-US" sz="2012">
                <a:solidFill>
                  <a:srgbClr val="6B7280"/>
                </a:solidFill>
                <a:latin typeface="Montserrat"/>
                <a:ea typeface="Montserrat"/>
                <a:cs typeface="Montserrat"/>
                <a:sym typeface="Montserrat"/>
              </a:rPr>
              <a:t>specially online, signal possible unauthorized access.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sp>
        <p:nvSpPr>
          <p:cNvPr name="Freeform 2" id="2"/>
          <p:cNvSpPr/>
          <p:nvPr/>
        </p:nvSpPr>
        <p:spPr>
          <a:xfrm flipH="false" flipV="false" rot="0">
            <a:off x="693781" y="984250"/>
            <a:ext cx="7618761" cy="5124617"/>
          </a:xfrm>
          <a:custGeom>
            <a:avLst/>
            <a:gdLst/>
            <a:ahLst/>
            <a:cxnLst/>
            <a:rect r="r" b="b" t="t" l="l"/>
            <a:pathLst>
              <a:path h="5124617" w="7618761">
                <a:moveTo>
                  <a:pt x="0" y="0"/>
                </a:moveTo>
                <a:lnTo>
                  <a:pt x="7618761" y="0"/>
                </a:lnTo>
                <a:lnTo>
                  <a:pt x="7618761" y="5124618"/>
                </a:lnTo>
                <a:lnTo>
                  <a:pt x="0" y="5124618"/>
                </a:lnTo>
                <a:lnTo>
                  <a:pt x="0" y="0"/>
                </a:lnTo>
                <a:close/>
              </a:path>
            </a:pathLst>
          </a:custGeom>
          <a:blipFill>
            <a:blip r:embed="rId2"/>
            <a:stretch>
              <a:fillRect l="-4082" t="0" r="0" b="0"/>
            </a:stretch>
          </a:blipFill>
          <a:ln w="38100" cap="sq">
            <a:solidFill>
              <a:srgbClr val="000000"/>
            </a:solidFill>
            <a:prstDash val="solid"/>
            <a:miter/>
          </a:ln>
        </p:spPr>
      </p:sp>
      <p:sp>
        <p:nvSpPr>
          <p:cNvPr name="Freeform 3" id="3"/>
          <p:cNvSpPr/>
          <p:nvPr/>
        </p:nvSpPr>
        <p:spPr>
          <a:xfrm flipH="false" flipV="false" rot="0">
            <a:off x="8947379" y="1148327"/>
            <a:ext cx="8684221" cy="4952159"/>
          </a:xfrm>
          <a:custGeom>
            <a:avLst/>
            <a:gdLst/>
            <a:ahLst/>
            <a:cxnLst/>
            <a:rect r="r" b="b" t="t" l="l"/>
            <a:pathLst>
              <a:path h="4952159" w="8684221">
                <a:moveTo>
                  <a:pt x="0" y="0"/>
                </a:moveTo>
                <a:lnTo>
                  <a:pt x="8684221" y="0"/>
                </a:lnTo>
                <a:lnTo>
                  <a:pt x="8684221" y="4952159"/>
                </a:lnTo>
                <a:lnTo>
                  <a:pt x="0" y="4952159"/>
                </a:lnTo>
                <a:lnTo>
                  <a:pt x="0" y="0"/>
                </a:lnTo>
                <a:close/>
              </a:path>
            </a:pathLst>
          </a:custGeom>
          <a:blipFill>
            <a:blip r:embed="rId3"/>
            <a:stretch>
              <a:fillRect l="-3796" t="-924" r="-1497" b="-169"/>
            </a:stretch>
          </a:blipFill>
          <a:ln w="38100" cap="sq">
            <a:solidFill>
              <a:srgbClr val="000000"/>
            </a:solidFill>
            <a:prstDash val="solid"/>
            <a:miter/>
          </a:ln>
        </p:spPr>
      </p:sp>
      <p:sp>
        <p:nvSpPr>
          <p:cNvPr name="TextBox 4" id="4"/>
          <p:cNvSpPr txBox="true"/>
          <p:nvPr/>
        </p:nvSpPr>
        <p:spPr>
          <a:xfrm rot="0">
            <a:off x="0" y="114300"/>
            <a:ext cx="9752796" cy="869950"/>
          </a:xfrm>
          <a:prstGeom prst="rect">
            <a:avLst/>
          </a:prstGeom>
        </p:spPr>
        <p:txBody>
          <a:bodyPr anchor="t" rtlCol="false" tIns="0" lIns="0" bIns="0" rIns="0">
            <a:spAutoFit/>
          </a:bodyPr>
          <a:lstStyle/>
          <a:p>
            <a:pPr algn="just" marL="0" indent="0" lvl="0">
              <a:lnSpc>
                <a:spcPts val="6500"/>
              </a:lnSpc>
            </a:pPr>
            <a:r>
              <a:rPr lang="en-US" b="true" sz="6500">
                <a:solidFill>
                  <a:srgbClr val="1F1F1F"/>
                </a:solidFill>
                <a:latin typeface="Montserrat Bold"/>
                <a:ea typeface="Montserrat Bold"/>
                <a:cs typeface="Montserrat Bold"/>
                <a:sym typeface="Montserrat Bold"/>
              </a:rPr>
              <a:t>Bivariate</a:t>
            </a:r>
          </a:p>
        </p:txBody>
      </p:sp>
      <p:sp>
        <p:nvSpPr>
          <p:cNvPr name="TextBox 5" id="5"/>
          <p:cNvSpPr txBox="true"/>
          <p:nvPr/>
        </p:nvSpPr>
        <p:spPr>
          <a:xfrm rot="0">
            <a:off x="4099585" y="114300"/>
            <a:ext cx="7581618" cy="869950"/>
          </a:xfrm>
          <a:prstGeom prst="rect">
            <a:avLst/>
          </a:prstGeom>
        </p:spPr>
        <p:txBody>
          <a:bodyPr anchor="t" rtlCol="false" tIns="0" lIns="0" bIns="0" rIns="0">
            <a:spAutoFit/>
          </a:bodyPr>
          <a:lstStyle/>
          <a:p>
            <a:pPr algn="just" marL="0" indent="0" lvl="0">
              <a:lnSpc>
                <a:spcPts val="6500"/>
              </a:lnSpc>
            </a:pPr>
            <a:r>
              <a:rPr lang="en-US" b="true" sz="6500">
                <a:solidFill>
                  <a:srgbClr val="10B981"/>
                </a:solidFill>
                <a:latin typeface="Montserrat Bold"/>
                <a:ea typeface="Montserrat Bold"/>
                <a:cs typeface="Montserrat Bold"/>
                <a:sym typeface="Montserrat Bold"/>
              </a:rPr>
              <a:t>Analysis</a:t>
            </a:r>
          </a:p>
        </p:txBody>
      </p:sp>
      <p:sp>
        <p:nvSpPr>
          <p:cNvPr name="TextBox 6" id="6"/>
          <p:cNvSpPr txBox="true"/>
          <p:nvPr/>
        </p:nvSpPr>
        <p:spPr>
          <a:xfrm rot="0">
            <a:off x="3331538" y="6524674"/>
            <a:ext cx="3277408" cy="353348"/>
          </a:xfrm>
          <a:prstGeom prst="rect">
            <a:avLst/>
          </a:prstGeom>
        </p:spPr>
        <p:txBody>
          <a:bodyPr anchor="t" rtlCol="false" tIns="0" lIns="0" bIns="0" rIns="0">
            <a:spAutoFit/>
          </a:bodyPr>
          <a:lstStyle/>
          <a:p>
            <a:pPr algn="just" marL="0" indent="0" lvl="0">
              <a:lnSpc>
                <a:spcPts val="2942"/>
              </a:lnSpc>
              <a:spcBef>
                <a:spcPct val="0"/>
              </a:spcBef>
            </a:pPr>
            <a:r>
              <a:rPr lang="en-US" b="true" sz="2101">
                <a:solidFill>
                  <a:srgbClr val="6B7280"/>
                </a:solidFill>
                <a:latin typeface="Inter Bold"/>
                <a:ea typeface="Inter Bold"/>
                <a:cs typeface="Inter Bold"/>
                <a:sym typeface="Inter Bold"/>
              </a:rPr>
              <a:t>Login Attempts</a:t>
            </a:r>
          </a:p>
        </p:txBody>
      </p:sp>
      <p:sp>
        <p:nvSpPr>
          <p:cNvPr name="TextBox 7" id="7"/>
          <p:cNvSpPr txBox="true"/>
          <p:nvPr/>
        </p:nvSpPr>
        <p:spPr>
          <a:xfrm rot="0">
            <a:off x="3331538" y="6978791"/>
            <a:ext cx="3640879" cy="662349"/>
          </a:xfrm>
          <a:prstGeom prst="rect">
            <a:avLst/>
          </a:prstGeom>
        </p:spPr>
        <p:txBody>
          <a:bodyPr anchor="t" rtlCol="false" tIns="0" lIns="0" bIns="0" rIns="0">
            <a:spAutoFit/>
          </a:bodyPr>
          <a:lstStyle/>
          <a:p>
            <a:pPr algn="l" marL="0" indent="0" lvl="0">
              <a:lnSpc>
                <a:spcPts val="2696"/>
              </a:lnSpc>
              <a:spcBef>
                <a:spcPct val="0"/>
              </a:spcBef>
            </a:pPr>
            <a:r>
              <a:rPr lang="en-US" sz="1925">
                <a:solidFill>
                  <a:srgbClr val="6B7280"/>
                </a:solidFill>
                <a:latin typeface="Inter"/>
                <a:ea typeface="Inter"/>
                <a:cs typeface="Inter"/>
                <a:sym typeface="Inter"/>
              </a:rPr>
              <a:t>96% have 1 attempt; 2-5 attempts are potential outliers.</a:t>
            </a:r>
          </a:p>
        </p:txBody>
      </p:sp>
      <p:grpSp>
        <p:nvGrpSpPr>
          <p:cNvPr name="Group 8" id="8"/>
          <p:cNvGrpSpPr/>
          <p:nvPr/>
        </p:nvGrpSpPr>
        <p:grpSpPr>
          <a:xfrm rot="0">
            <a:off x="1980903" y="6409190"/>
            <a:ext cx="5138210" cy="2261404"/>
            <a:chOff x="0" y="0"/>
            <a:chExt cx="1608460" cy="707907"/>
          </a:xfrm>
        </p:grpSpPr>
        <p:sp>
          <p:nvSpPr>
            <p:cNvPr name="Freeform 9" id="9"/>
            <p:cNvSpPr/>
            <p:nvPr/>
          </p:nvSpPr>
          <p:spPr>
            <a:xfrm flipH="false" flipV="false" rot="0">
              <a:off x="0" y="0"/>
              <a:ext cx="1608459" cy="707907"/>
            </a:xfrm>
            <a:custGeom>
              <a:avLst/>
              <a:gdLst/>
              <a:ahLst/>
              <a:cxnLst/>
              <a:rect r="r" b="b" t="t" l="l"/>
              <a:pathLst>
                <a:path h="707907" w="1608459">
                  <a:moveTo>
                    <a:pt x="54242" y="0"/>
                  </a:moveTo>
                  <a:lnTo>
                    <a:pt x="1554217" y="0"/>
                  </a:lnTo>
                  <a:cubicBezTo>
                    <a:pt x="1568603" y="0"/>
                    <a:pt x="1582400" y="5715"/>
                    <a:pt x="1592572" y="15887"/>
                  </a:cubicBezTo>
                  <a:cubicBezTo>
                    <a:pt x="1602745" y="26060"/>
                    <a:pt x="1608459" y="39856"/>
                    <a:pt x="1608459" y="54242"/>
                  </a:cubicBezTo>
                  <a:lnTo>
                    <a:pt x="1608459" y="653665"/>
                  </a:lnTo>
                  <a:cubicBezTo>
                    <a:pt x="1608459" y="668051"/>
                    <a:pt x="1602745" y="681848"/>
                    <a:pt x="1592572" y="692020"/>
                  </a:cubicBezTo>
                  <a:cubicBezTo>
                    <a:pt x="1582400" y="702192"/>
                    <a:pt x="1568603" y="707907"/>
                    <a:pt x="1554217" y="707907"/>
                  </a:cubicBezTo>
                  <a:lnTo>
                    <a:pt x="54242" y="707907"/>
                  </a:lnTo>
                  <a:cubicBezTo>
                    <a:pt x="39856" y="707907"/>
                    <a:pt x="26060" y="702192"/>
                    <a:pt x="15887" y="692020"/>
                  </a:cubicBezTo>
                  <a:cubicBezTo>
                    <a:pt x="5715" y="681848"/>
                    <a:pt x="0" y="668051"/>
                    <a:pt x="0" y="653665"/>
                  </a:cubicBezTo>
                  <a:lnTo>
                    <a:pt x="0" y="54242"/>
                  </a:lnTo>
                  <a:cubicBezTo>
                    <a:pt x="0" y="39856"/>
                    <a:pt x="5715" y="26060"/>
                    <a:pt x="15887" y="15887"/>
                  </a:cubicBezTo>
                  <a:cubicBezTo>
                    <a:pt x="26060" y="5715"/>
                    <a:pt x="39856" y="0"/>
                    <a:pt x="54242" y="0"/>
                  </a:cubicBezTo>
                  <a:close/>
                </a:path>
              </a:pathLst>
            </a:custGeom>
            <a:solidFill>
              <a:srgbClr val="D1FAE5"/>
            </a:solidFill>
          </p:spPr>
        </p:sp>
        <p:sp>
          <p:nvSpPr>
            <p:cNvPr name="TextBox 10" id="10"/>
            <p:cNvSpPr txBox="true"/>
            <p:nvPr/>
          </p:nvSpPr>
          <p:spPr>
            <a:xfrm>
              <a:off x="0" y="-38100"/>
              <a:ext cx="1608460" cy="746007"/>
            </a:xfrm>
            <a:prstGeom prst="rect">
              <a:avLst/>
            </a:prstGeom>
          </p:spPr>
          <p:txBody>
            <a:bodyPr anchor="ctr" rtlCol="false" tIns="42740" lIns="42740" bIns="42740" rIns="42740"/>
            <a:lstStyle/>
            <a:p>
              <a:pPr algn="ctr" marL="0" indent="0" lvl="0">
                <a:lnSpc>
                  <a:spcPts val="3499"/>
                </a:lnSpc>
              </a:pPr>
            </a:p>
          </p:txBody>
        </p:sp>
      </p:grpSp>
      <p:sp>
        <p:nvSpPr>
          <p:cNvPr name="TextBox 11" id="11"/>
          <p:cNvSpPr txBox="true"/>
          <p:nvPr/>
        </p:nvSpPr>
        <p:spPr>
          <a:xfrm rot="0">
            <a:off x="2545624" y="6524674"/>
            <a:ext cx="3914776" cy="353348"/>
          </a:xfrm>
          <a:prstGeom prst="rect">
            <a:avLst/>
          </a:prstGeom>
        </p:spPr>
        <p:txBody>
          <a:bodyPr anchor="t" rtlCol="false" tIns="0" lIns="0" bIns="0" rIns="0">
            <a:spAutoFit/>
          </a:bodyPr>
          <a:lstStyle/>
          <a:p>
            <a:pPr algn="just" marL="0" indent="0" lvl="0">
              <a:lnSpc>
                <a:spcPts val="2942"/>
              </a:lnSpc>
              <a:spcBef>
                <a:spcPct val="0"/>
              </a:spcBef>
            </a:pPr>
            <a:r>
              <a:rPr lang="en-US" b="true" sz="2101">
                <a:solidFill>
                  <a:srgbClr val="6B7280"/>
                </a:solidFill>
                <a:latin typeface="Inter Bold"/>
                <a:ea typeface="Inter Bold"/>
                <a:cs typeface="Inter Bold"/>
                <a:sym typeface="Inter Bold"/>
              </a:rPr>
              <a:t>Channel vs Transection Type</a:t>
            </a:r>
          </a:p>
        </p:txBody>
      </p:sp>
      <p:sp>
        <p:nvSpPr>
          <p:cNvPr name="TextBox 12" id="12"/>
          <p:cNvSpPr txBox="true"/>
          <p:nvPr/>
        </p:nvSpPr>
        <p:spPr>
          <a:xfrm rot="0">
            <a:off x="2545624" y="6953285"/>
            <a:ext cx="4308333" cy="656270"/>
          </a:xfrm>
          <a:prstGeom prst="rect">
            <a:avLst/>
          </a:prstGeom>
        </p:spPr>
        <p:txBody>
          <a:bodyPr anchor="t" rtlCol="false" tIns="0" lIns="0" bIns="0" rIns="0">
            <a:spAutoFit/>
          </a:bodyPr>
          <a:lstStyle/>
          <a:p>
            <a:pPr algn="l">
              <a:lnSpc>
                <a:spcPts val="2677"/>
              </a:lnSpc>
              <a:spcBef>
                <a:spcPct val="0"/>
              </a:spcBef>
            </a:pPr>
          </a:p>
          <a:p>
            <a:pPr algn="l" marL="0" indent="0" lvl="0">
              <a:lnSpc>
                <a:spcPts val="2677"/>
              </a:lnSpc>
              <a:spcBef>
                <a:spcPct val="0"/>
              </a:spcBef>
            </a:pPr>
          </a:p>
        </p:txBody>
      </p:sp>
      <p:grpSp>
        <p:nvGrpSpPr>
          <p:cNvPr name="Group 13" id="13"/>
          <p:cNvGrpSpPr/>
          <p:nvPr/>
        </p:nvGrpSpPr>
        <p:grpSpPr>
          <a:xfrm rot="0">
            <a:off x="11497833" y="6409190"/>
            <a:ext cx="4826480" cy="2133044"/>
            <a:chOff x="0" y="0"/>
            <a:chExt cx="6435307" cy="2844059"/>
          </a:xfrm>
        </p:grpSpPr>
        <p:sp>
          <p:nvSpPr>
            <p:cNvPr name="TextBox 14" id="14"/>
            <p:cNvSpPr txBox="true"/>
            <p:nvPr/>
          </p:nvSpPr>
          <p:spPr>
            <a:xfrm rot="0">
              <a:off x="1389083" y="166679"/>
              <a:ext cx="4542457" cy="458431"/>
            </a:xfrm>
            <a:prstGeom prst="rect">
              <a:avLst/>
            </a:prstGeom>
          </p:spPr>
          <p:txBody>
            <a:bodyPr anchor="t" rtlCol="false" tIns="0" lIns="0" bIns="0" rIns="0">
              <a:spAutoFit/>
            </a:bodyPr>
            <a:lstStyle/>
            <a:p>
              <a:pPr algn="just" marL="0" indent="0" lvl="0">
                <a:lnSpc>
                  <a:spcPts val="2942"/>
                </a:lnSpc>
                <a:spcBef>
                  <a:spcPct val="0"/>
                </a:spcBef>
              </a:pPr>
              <a:r>
                <a:rPr lang="en-US" b="true" sz="2101">
                  <a:solidFill>
                    <a:srgbClr val="6B7280"/>
                  </a:solidFill>
                  <a:latin typeface="Inter Bold"/>
                  <a:ea typeface="Inter Bold"/>
                  <a:cs typeface="Inter Bold"/>
                  <a:sym typeface="Inter Bold"/>
                </a:rPr>
                <a:t>Login Attempts</a:t>
              </a:r>
            </a:p>
          </p:txBody>
        </p:sp>
        <p:sp>
          <p:nvSpPr>
            <p:cNvPr name="TextBox 15" id="15"/>
            <p:cNvSpPr txBox="true"/>
            <p:nvPr/>
          </p:nvSpPr>
          <p:spPr>
            <a:xfrm rot="0">
              <a:off x="1389083" y="772169"/>
              <a:ext cx="5046224" cy="870431"/>
            </a:xfrm>
            <a:prstGeom prst="rect">
              <a:avLst/>
            </a:prstGeom>
          </p:spPr>
          <p:txBody>
            <a:bodyPr anchor="t" rtlCol="false" tIns="0" lIns="0" bIns="0" rIns="0">
              <a:spAutoFit/>
            </a:bodyPr>
            <a:lstStyle/>
            <a:p>
              <a:pPr algn="l" marL="0" indent="0" lvl="0">
                <a:lnSpc>
                  <a:spcPts val="2696"/>
                </a:lnSpc>
                <a:spcBef>
                  <a:spcPct val="0"/>
                </a:spcBef>
              </a:pPr>
              <a:r>
                <a:rPr lang="en-US" sz="1925">
                  <a:solidFill>
                    <a:srgbClr val="6B7280"/>
                  </a:solidFill>
                  <a:latin typeface="Inter"/>
                  <a:ea typeface="Inter"/>
                  <a:cs typeface="Inter"/>
                  <a:sym typeface="Inter"/>
                </a:rPr>
                <a:t>96% have 1 attempt; 2-5 attempts are potential outliers.</a:t>
              </a:r>
            </a:p>
          </p:txBody>
        </p:sp>
        <p:grpSp>
          <p:nvGrpSpPr>
            <p:cNvPr name="Group 16" id="16"/>
            <p:cNvGrpSpPr/>
            <p:nvPr/>
          </p:nvGrpSpPr>
          <p:grpSpPr>
            <a:xfrm rot="0">
              <a:off x="0" y="0"/>
              <a:ext cx="6109200" cy="2844059"/>
              <a:chOff x="0" y="0"/>
              <a:chExt cx="1434313" cy="667726"/>
            </a:xfrm>
          </p:grpSpPr>
          <p:sp>
            <p:nvSpPr>
              <p:cNvPr name="Freeform 17" id="17"/>
              <p:cNvSpPr/>
              <p:nvPr/>
            </p:nvSpPr>
            <p:spPr>
              <a:xfrm flipH="false" flipV="false" rot="0">
                <a:off x="0" y="0"/>
                <a:ext cx="1434313" cy="667726"/>
              </a:xfrm>
              <a:custGeom>
                <a:avLst/>
                <a:gdLst/>
                <a:ahLst/>
                <a:cxnLst/>
                <a:rect r="r" b="b" t="t" l="l"/>
                <a:pathLst>
                  <a:path h="667726" w="1434313">
                    <a:moveTo>
                      <a:pt x="60828" y="0"/>
                    </a:moveTo>
                    <a:lnTo>
                      <a:pt x="1373485" y="0"/>
                    </a:lnTo>
                    <a:cubicBezTo>
                      <a:pt x="1389617" y="0"/>
                      <a:pt x="1405089" y="6409"/>
                      <a:pt x="1416497" y="17816"/>
                    </a:cubicBezTo>
                    <a:cubicBezTo>
                      <a:pt x="1427904" y="29224"/>
                      <a:pt x="1434313" y="44696"/>
                      <a:pt x="1434313" y="60828"/>
                    </a:cubicBezTo>
                    <a:lnTo>
                      <a:pt x="1434313" y="606898"/>
                    </a:lnTo>
                    <a:cubicBezTo>
                      <a:pt x="1434313" y="640492"/>
                      <a:pt x="1407079" y="667726"/>
                      <a:pt x="1373485" y="667726"/>
                    </a:cubicBezTo>
                    <a:lnTo>
                      <a:pt x="60828" y="667726"/>
                    </a:lnTo>
                    <a:cubicBezTo>
                      <a:pt x="44696" y="667726"/>
                      <a:pt x="29224" y="661317"/>
                      <a:pt x="17816" y="649910"/>
                    </a:cubicBezTo>
                    <a:cubicBezTo>
                      <a:pt x="6409" y="638502"/>
                      <a:pt x="0" y="623030"/>
                      <a:pt x="0" y="606898"/>
                    </a:cubicBezTo>
                    <a:lnTo>
                      <a:pt x="0" y="60828"/>
                    </a:lnTo>
                    <a:cubicBezTo>
                      <a:pt x="0" y="44696"/>
                      <a:pt x="6409" y="29224"/>
                      <a:pt x="17816" y="17816"/>
                    </a:cubicBezTo>
                    <a:cubicBezTo>
                      <a:pt x="29224" y="6409"/>
                      <a:pt x="44696" y="0"/>
                      <a:pt x="60828" y="0"/>
                    </a:cubicBezTo>
                    <a:close/>
                  </a:path>
                </a:pathLst>
              </a:custGeom>
              <a:solidFill>
                <a:srgbClr val="D1FAE5"/>
              </a:solidFill>
            </p:spPr>
          </p:sp>
          <p:sp>
            <p:nvSpPr>
              <p:cNvPr name="TextBox 18" id="18"/>
              <p:cNvSpPr txBox="true"/>
              <p:nvPr/>
            </p:nvSpPr>
            <p:spPr>
              <a:xfrm>
                <a:off x="0" y="-38100"/>
                <a:ext cx="1434313" cy="705826"/>
              </a:xfrm>
              <a:prstGeom prst="rect">
                <a:avLst/>
              </a:prstGeom>
            </p:spPr>
            <p:txBody>
              <a:bodyPr anchor="ctr" rtlCol="false" tIns="42740" lIns="42740" bIns="42740" rIns="42740"/>
              <a:lstStyle/>
              <a:p>
                <a:pPr algn="ctr" marL="0" indent="0" lvl="0">
                  <a:lnSpc>
                    <a:spcPts val="3499"/>
                  </a:lnSpc>
                </a:pPr>
              </a:p>
            </p:txBody>
          </p:sp>
        </p:grpSp>
        <p:sp>
          <p:nvSpPr>
            <p:cNvPr name="TextBox 19" id="19"/>
            <p:cNvSpPr txBox="true"/>
            <p:nvPr/>
          </p:nvSpPr>
          <p:spPr>
            <a:xfrm rot="0">
              <a:off x="526653" y="166679"/>
              <a:ext cx="5055894" cy="458431"/>
            </a:xfrm>
            <a:prstGeom prst="rect">
              <a:avLst/>
            </a:prstGeom>
          </p:spPr>
          <p:txBody>
            <a:bodyPr anchor="t" rtlCol="false" tIns="0" lIns="0" bIns="0" rIns="0">
              <a:spAutoFit/>
            </a:bodyPr>
            <a:lstStyle/>
            <a:p>
              <a:pPr algn="just" marL="0" indent="0" lvl="0">
                <a:lnSpc>
                  <a:spcPts val="2942"/>
                </a:lnSpc>
                <a:spcBef>
                  <a:spcPct val="0"/>
                </a:spcBef>
              </a:pPr>
              <a:r>
                <a:rPr lang="en-US" b="true" sz="2101">
                  <a:solidFill>
                    <a:srgbClr val="6B7280"/>
                  </a:solidFill>
                  <a:latin typeface="Inter Bold"/>
                  <a:ea typeface="Inter Bold"/>
                  <a:cs typeface="Inter Bold"/>
                  <a:sym typeface="Inter Bold"/>
                </a:rPr>
                <a:t>Account Balance by Channel</a:t>
              </a:r>
            </a:p>
          </p:txBody>
        </p:sp>
        <p:sp>
          <p:nvSpPr>
            <p:cNvPr name="TextBox 20" id="20"/>
            <p:cNvSpPr txBox="true"/>
            <p:nvPr/>
          </p:nvSpPr>
          <p:spPr>
            <a:xfrm rot="0">
              <a:off x="299813" y="738160"/>
              <a:ext cx="5971309" cy="1770780"/>
            </a:xfrm>
            <a:prstGeom prst="rect">
              <a:avLst/>
            </a:prstGeom>
          </p:spPr>
          <p:txBody>
            <a:bodyPr anchor="t" rtlCol="false" tIns="0" lIns="0" bIns="0" rIns="0">
              <a:spAutoFit/>
            </a:bodyPr>
            <a:lstStyle/>
            <a:p>
              <a:pPr algn="l" marL="0" indent="0" lvl="0">
                <a:lnSpc>
                  <a:spcPts val="2677"/>
                </a:lnSpc>
                <a:spcBef>
                  <a:spcPct val="0"/>
                </a:spcBef>
              </a:pPr>
              <a:r>
                <a:rPr lang="en-US" sz="1912">
                  <a:solidFill>
                    <a:srgbClr val="6B7280"/>
                  </a:solidFill>
                  <a:latin typeface="Inter"/>
                  <a:ea typeface="Inter"/>
                  <a:cs typeface="Inter"/>
                  <a:sym typeface="Inter"/>
                </a:rPr>
                <a:t>Account balances show similar</a:t>
              </a:r>
              <a:r>
                <a:rPr lang="en-US" sz="1912">
                  <a:solidFill>
                    <a:srgbClr val="6B7280"/>
                  </a:solidFill>
                  <a:latin typeface="Inter"/>
                  <a:ea typeface="Inter"/>
                  <a:cs typeface="Inter"/>
                  <a:sym typeface="Inter"/>
                </a:rPr>
                <a:t> distributions across all channels, indicating no significant difference in customer profiles</a:t>
              </a:r>
            </a:p>
          </p:txBody>
        </p:sp>
      </p:grpSp>
      <p:sp>
        <p:nvSpPr>
          <p:cNvPr name="TextBox 21" id="21"/>
          <p:cNvSpPr txBox="true"/>
          <p:nvPr/>
        </p:nvSpPr>
        <p:spPr>
          <a:xfrm rot="0">
            <a:off x="2054252" y="6997263"/>
            <a:ext cx="4918166" cy="1433413"/>
          </a:xfrm>
          <a:prstGeom prst="rect">
            <a:avLst/>
          </a:prstGeom>
        </p:spPr>
        <p:txBody>
          <a:bodyPr anchor="t" rtlCol="false" tIns="0" lIns="0" bIns="0" rIns="0">
            <a:spAutoFit/>
          </a:bodyPr>
          <a:lstStyle/>
          <a:p>
            <a:pPr algn="ctr">
              <a:lnSpc>
                <a:spcPts val="2892"/>
              </a:lnSpc>
              <a:spcBef>
                <a:spcPct val="0"/>
              </a:spcBef>
            </a:pPr>
            <a:r>
              <a:rPr lang="en-US" sz="2066">
                <a:solidFill>
                  <a:srgbClr val="6B7280"/>
                </a:solidFill>
                <a:latin typeface="Inter"/>
                <a:ea typeface="Inter"/>
                <a:cs typeface="Inter"/>
                <a:sym typeface="Inter"/>
              </a:rPr>
              <a:t>Debit transactions d</a:t>
            </a:r>
            <a:r>
              <a:rPr lang="en-US" sz="2066">
                <a:solidFill>
                  <a:srgbClr val="6B7280"/>
                </a:solidFill>
                <a:latin typeface="Inter"/>
                <a:ea typeface="Inter"/>
                <a:cs typeface="Inter"/>
                <a:sym typeface="Inter"/>
              </a:rPr>
              <a:t>ominate across all channels, especially in ATM, while credit transactions are more balanced in Online and Branch</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sp>
        <p:nvSpPr>
          <p:cNvPr name="Freeform 2" id="2"/>
          <p:cNvSpPr/>
          <p:nvPr/>
        </p:nvSpPr>
        <p:spPr>
          <a:xfrm flipH="false" flipV="false" rot="0">
            <a:off x="300009" y="1395441"/>
            <a:ext cx="17687982" cy="4797865"/>
          </a:xfrm>
          <a:custGeom>
            <a:avLst/>
            <a:gdLst/>
            <a:ahLst/>
            <a:cxnLst/>
            <a:rect r="r" b="b" t="t" l="l"/>
            <a:pathLst>
              <a:path h="4797865" w="17687982">
                <a:moveTo>
                  <a:pt x="0" y="0"/>
                </a:moveTo>
                <a:lnTo>
                  <a:pt x="17687982" y="0"/>
                </a:lnTo>
                <a:lnTo>
                  <a:pt x="17687982" y="4797865"/>
                </a:lnTo>
                <a:lnTo>
                  <a:pt x="0" y="4797865"/>
                </a:lnTo>
                <a:lnTo>
                  <a:pt x="0" y="0"/>
                </a:lnTo>
                <a:close/>
              </a:path>
            </a:pathLst>
          </a:custGeom>
          <a:blipFill>
            <a:blip r:embed="rId2"/>
            <a:stretch>
              <a:fillRect l="0" t="0" r="0" b="0"/>
            </a:stretch>
          </a:blipFill>
          <a:ln w="38100" cap="sq">
            <a:solidFill>
              <a:srgbClr val="000000"/>
            </a:solidFill>
            <a:prstDash val="solid"/>
            <a:miter/>
          </a:ln>
        </p:spPr>
      </p:sp>
      <p:sp>
        <p:nvSpPr>
          <p:cNvPr name="TextBox 3" id="3"/>
          <p:cNvSpPr txBox="true"/>
          <p:nvPr/>
        </p:nvSpPr>
        <p:spPr>
          <a:xfrm rot="0">
            <a:off x="0" y="114300"/>
            <a:ext cx="9628056" cy="869950"/>
          </a:xfrm>
          <a:prstGeom prst="rect">
            <a:avLst/>
          </a:prstGeom>
        </p:spPr>
        <p:txBody>
          <a:bodyPr anchor="t" rtlCol="false" tIns="0" lIns="0" bIns="0" rIns="0">
            <a:spAutoFit/>
          </a:bodyPr>
          <a:lstStyle/>
          <a:p>
            <a:pPr algn="just" marL="0" indent="0" lvl="0">
              <a:lnSpc>
                <a:spcPts val="6500"/>
              </a:lnSpc>
            </a:pPr>
            <a:r>
              <a:rPr lang="en-US" b="true" sz="6500">
                <a:solidFill>
                  <a:srgbClr val="000000"/>
                </a:solidFill>
                <a:latin typeface="Montserrat Bold"/>
                <a:ea typeface="Montserrat Bold"/>
                <a:cs typeface="Montserrat Bold"/>
                <a:sym typeface="Montserrat Bold"/>
              </a:rPr>
              <a:t>Multivariate Analysis</a:t>
            </a:r>
          </a:p>
        </p:txBody>
      </p:sp>
      <p:grpSp>
        <p:nvGrpSpPr>
          <p:cNvPr name="Group 4" id="4"/>
          <p:cNvGrpSpPr/>
          <p:nvPr/>
        </p:nvGrpSpPr>
        <p:grpSpPr>
          <a:xfrm rot="0">
            <a:off x="1079338" y="6409190"/>
            <a:ext cx="16694020" cy="2133044"/>
            <a:chOff x="0" y="0"/>
            <a:chExt cx="22258694" cy="2844059"/>
          </a:xfrm>
        </p:grpSpPr>
        <p:sp>
          <p:nvSpPr>
            <p:cNvPr name="TextBox 5" id="5"/>
            <p:cNvSpPr txBox="true"/>
            <p:nvPr/>
          </p:nvSpPr>
          <p:spPr>
            <a:xfrm rot="0">
              <a:off x="4804614" y="166679"/>
              <a:ext cx="15711628" cy="458431"/>
            </a:xfrm>
            <a:prstGeom prst="rect">
              <a:avLst/>
            </a:prstGeom>
          </p:spPr>
          <p:txBody>
            <a:bodyPr anchor="t" rtlCol="false" tIns="0" lIns="0" bIns="0" rIns="0">
              <a:spAutoFit/>
            </a:bodyPr>
            <a:lstStyle/>
            <a:p>
              <a:pPr algn="just" marL="0" indent="0" lvl="0">
                <a:lnSpc>
                  <a:spcPts val="2942"/>
                </a:lnSpc>
                <a:spcBef>
                  <a:spcPct val="0"/>
                </a:spcBef>
              </a:pPr>
              <a:r>
                <a:rPr lang="en-US" b="true" sz="2101">
                  <a:solidFill>
                    <a:srgbClr val="6B7280"/>
                  </a:solidFill>
                  <a:latin typeface="Inter Bold"/>
                  <a:ea typeface="Inter Bold"/>
                  <a:cs typeface="Inter Bold"/>
                  <a:sym typeface="Inter Bold"/>
                </a:rPr>
                <a:t>Login Attempts</a:t>
              </a:r>
            </a:p>
          </p:txBody>
        </p:sp>
        <p:sp>
          <p:nvSpPr>
            <p:cNvPr name="TextBox 6" id="6"/>
            <p:cNvSpPr txBox="true"/>
            <p:nvPr/>
          </p:nvSpPr>
          <p:spPr>
            <a:xfrm rot="0">
              <a:off x="4804614" y="772169"/>
              <a:ext cx="17454080" cy="421657"/>
            </a:xfrm>
            <a:prstGeom prst="rect">
              <a:avLst/>
            </a:prstGeom>
          </p:spPr>
          <p:txBody>
            <a:bodyPr anchor="t" rtlCol="false" tIns="0" lIns="0" bIns="0" rIns="0">
              <a:spAutoFit/>
            </a:bodyPr>
            <a:lstStyle/>
            <a:p>
              <a:pPr algn="l" marL="0" indent="0" lvl="0">
                <a:lnSpc>
                  <a:spcPts val="2696"/>
                </a:lnSpc>
                <a:spcBef>
                  <a:spcPct val="0"/>
                </a:spcBef>
              </a:pPr>
              <a:r>
                <a:rPr lang="en-US" sz="1925">
                  <a:solidFill>
                    <a:srgbClr val="6B7280"/>
                  </a:solidFill>
                  <a:latin typeface="Inter"/>
                  <a:ea typeface="Inter"/>
                  <a:cs typeface="Inter"/>
                  <a:sym typeface="Inter"/>
                </a:rPr>
                <a:t>96% have 1 attempt; 2-5 attempts are potential outliers.</a:t>
              </a:r>
            </a:p>
          </p:txBody>
        </p:sp>
        <p:grpSp>
          <p:nvGrpSpPr>
            <p:cNvPr name="Group 7" id="7"/>
            <p:cNvGrpSpPr/>
            <p:nvPr/>
          </p:nvGrpSpPr>
          <p:grpSpPr>
            <a:xfrm rot="0">
              <a:off x="0" y="0"/>
              <a:ext cx="21130742" cy="2844059"/>
              <a:chOff x="0" y="0"/>
              <a:chExt cx="4961058" cy="667726"/>
            </a:xfrm>
          </p:grpSpPr>
          <p:sp>
            <p:nvSpPr>
              <p:cNvPr name="Freeform 8" id="8"/>
              <p:cNvSpPr/>
              <p:nvPr/>
            </p:nvSpPr>
            <p:spPr>
              <a:xfrm flipH="false" flipV="false" rot="0">
                <a:off x="0" y="0"/>
                <a:ext cx="4961058" cy="667726"/>
              </a:xfrm>
              <a:custGeom>
                <a:avLst/>
                <a:gdLst/>
                <a:ahLst/>
                <a:cxnLst/>
                <a:rect r="r" b="b" t="t" l="l"/>
                <a:pathLst>
                  <a:path h="667726" w="4961058">
                    <a:moveTo>
                      <a:pt x="17586" y="0"/>
                    </a:moveTo>
                    <a:lnTo>
                      <a:pt x="4943472" y="0"/>
                    </a:lnTo>
                    <a:cubicBezTo>
                      <a:pt x="4953184" y="0"/>
                      <a:pt x="4961058" y="7874"/>
                      <a:pt x="4961058" y="17586"/>
                    </a:cubicBezTo>
                    <a:lnTo>
                      <a:pt x="4961058" y="650139"/>
                    </a:lnTo>
                    <a:cubicBezTo>
                      <a:pt x="4961058" y="659852"/>
                      <a:pt x="4953184" y="667726"/>
                      <a:pt x="4943472" y="667726"/>
                    </a:cubicBezTo>
                    <a:lnTo>
                      <a:pt x="17586" y="667726"/>
                    </a:lnTo>
                    <a:cubicBezTo>
                      <a:pt x="7874" y="667726"/>
                      <a:pt x="0" y="659852"/>
                      <a:pt x="0" y="650139"/>
                    </a:cubicBezTo>
                    <a:lnTo>
                      <a:pt x="0" y="17586"/>
                    </a:lnTo>
                    <a:cubicBezTo>
                      <a:pt x="0" y="7874"/>
                      <a:pt x="7874" y="0"/>
                      <a:pt x="17586" y="0"/>
                    </a:cubicBezTo>
                    <a:close/>
                  </a:path>
                </a:pathLst>
              </a:custGeom>
              <a:solidFill>
                <a:srgbClr val="D1FAE5"/>
              </a:solidFill>
            </p:spPr>
          </p:sp>
          <p:sp>
            <p:nvSpPr>
              <p:cNvPr name="TextBox 9" id="9"/>
              <p:cNvSpPr txBox="true"/>
              <p:nvPr/>
            </p:nvSpPr>
            <p:spPr>
              <a:xfrm>
                <a:off x="0" y="-38100"/>
                <a:ext cx="4961058" cy="705826"/>
              </a:xfrm>
              <a:prstGeom prst="rect">
                <a:avLst/>
              </a:prstGeom>
            </p:spPr>
            <p:txBody>
              <a:bodyPr anchor="ctr" rtlCol="false" tIns="42740" lIns="42740" bIns="42740" rIns="42740"/>
              <a:lstStyle/>
              <a:p>
                <a:pPr algn="ctr" marL="0" indent="0" lvl="0">
                  <a:lnSpc>
                    <a:spcPts val="3499"/>
                  </a:lnSpc>
                </a:pPr>
              </a:p>
            </p:txBody>
          </p:sp>
        </p:grpSp>
        <p:sp>
          <p:nvSpPr>
            <p:cNvPr name="TextBox 10" id="10"/>
            <p:cNvSpPr txBox="true"/>
            <p:nvPr/>
          </p:nvSpPr>
          <p:spPr>
            <a:xfrm rot="0">
              <a:off x="4092499" y="166679"/>
              <a:ext cx="15711628" cy="458431"/>
            </a:xfrm>
            <a:prstGeom prst="rect">
              <a:avLst/>
            </a:prstGeom>
          </p:spPr>
          <p:txBody>
            <a:bodyPr anchor="t" rtlCol="false" tIns="0" lIns="0" bIns="0" rIns="0">
              <a:spAutoFit/>
            </a:bodyPr>
            <a:lstStyle/>
            <a:p>
              <a:pPr algn="just" marL="0" indent="0" lvl="0">
                <a:lnSpc>
                  <a:spcPts val="2942"/>
                </a:lnSpc>
                <a:spcBef>
                  <a:spcPct val="0"/>
                </a:spcBef>
              </a:pPr>
            </a:p>
          </p:txBody>
        </p:sp>
        <p:sp>
          <p:nvSpPr>
            <p:cNvPr name="TextBox 11" id="11"/>
            <p:cNvSpPr txBox="true"/>
            <p:nvPr/>
          </p:nvSpPr>
          <p:spPr>
            <a:xfrm rot="0">
              <a:off x="1037006" y="738160"/>
              <a:ext cx="20653799" cy="862327"/>
            </a:xfrm>
            <a:prstGeom prst="rect">
              <a:avLst/>
            </a:prstGeom>
          </p:spPr>
          <p:txBody>
            <a:bodyPr anchor="t" rtlCol="false" tIns="0" lIns="0" bIns="0" rIns="0">
              <a:spAutoFit/>
            </a:bodyPr>
            <a:lstStyle/>
            <a:p>
              <a:pPr algn="l">
                <a:lnSpc>
                  <a:spcPts val="2677"/>
                </a:lnSpc>
                <a:spcBef>
                  <a:spcPct val="0"/>
                </a:spcBef>
              </a:pPr>
            </a:p>
            <a:p>
              <a:pPr algn="l" marL="0" indent="0" lvl="0">
                <a:lnSpc>
                  <a:spcPts val="2677"/>
                </a:lnSpc>
                <a:spcBef>
                  <a:spcPct val="0"/>
                </a:spcBef>
              </a:pPr>
            </a:p>
          </p:txBody>
        </p:sp>
      </p:grpSp>
      <p:sp>
        <p:nvSpPr>
          <p:cNvPr name="TextBox 12" id="12"/>
          <p:cNvSpPr txBox="true"/>
          <p:nvPr/>
        </p:nvSpPr>
        <p:spPr>
          <a:xfrm rot="0">
            <a:off x="1833135" y="6739955"/>
            <a:ext cx="14621731" cy="1433413"/>
          </a:xfrm>
          <a:prstGeom prst="rect">
            <a:avLst/>
          </a:prstGeom>
        </p:spPr>
        <p:txBody>
          <a:bodyPr anchor="t" rtlCol="false" tIns="0" lIns="0" bIns="0" rIns="0">
            <a:spAutoFit/>
          </a:bodyPr>
          <a:lstStyle/>
          <a:p>
            <a:pPr algn="l">
              <a:lnSpc>
                <a:spcPts val="2892"/>
              </a:lnSpc>
              <a:spcBef>
                <a:spcPct val="0"/>
              </a:spcBef>
            </a:pPr>
            <a:r>
              <a:rPr lang="en-US" sz="2066">
                <a:solidFill>
                  <a:srgbClr val="6B7280"/>
                </a:solidFill>
                <a:latin typeface="Montserrat"/>
                <a:ea typeface="Montserrat"/>
                <a:cs typeface="Montserrat"/>
                <a:sym typeface="Montserrat"/>
              </a:rPr>
              <a:t>The analysis of Transaction Amount vs Account Balance across different channels shows no strong relationship between the variables. The pattern is similar for ATM, Online, and Branch transactions, indicating channel-independent behavior. However, a few high-amount transactions at low balances appear as outliers, which may indicate potential fraud.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sp>
        <p:nvSpPr>
          <p:cNvPr name="Freeform 2" id="2"/>
          <p:cNvSpPr/>
          <p:nvPr/>
        </p:nvSpPr>
        <p:spPr>
          <a:xfrm flipH="false" flipV="false" rot="0">
            <a:off x="237109" y="984250"/>
            <a:ext cx="9690213" cy="9048236"/>
          </a:xfrm>
          <a:custGeom>
            <a:avLst/>
            <a:gdLst/>
            <a:ahLst/>
            <a:cxnLst/>
            <a:rect r="r" b="b" t="t" l="l"/>
            <a:pathLst>
              <a:path h="9048236" w="9690213">
                <a:moveTo>
                  <a:pt x="0" y="0"/>
                </a:moveTo>
                <a:lnTo>
                  <a:pt x="9690213" y="0"/>
                </a:lnTo>
                <a:lnTo>
                  <a:pt x="9690213" y="9048236"/>
                </a:lnTo>
                <a:lnTo>
                  <a:pt x="0" y="9048236"/>
                </a:lnTo>
                <a:lnTo>
                  <a:pt x="0" y="0"/>
                </a:lnTo>
                <a:close/>
              </a:path>
            </a:pathLst>
          </a:custGeom>
          <a:blipFill>
            <a:blip r:embed="rId2"/>
            <a:stretch>
              <a:fillRect l="0" t="0" r="0" b="0"/>
            </a:stretch>
          </a:blipFill>
          <a:ln w="38100" cap="sq">
            <a:solidFill>
              <a:srgbClr val="000000"/>
            </a:solidFill>
            <a:prstDash val="solid"/>
            <a:miter/>
          </a:ln>
        </p:spPr>
      </p:sp>
      <p:sp>
        <p:nvSpPr>
          <p:cNvPr name="TextBox 3" id="3"/>
          <p:cNvSpPr txBox="true"/>
          <p:nvPr/>
        </p:nvSpPr>
        <p:spPr>
          <a:xfrm rot="0">
            <a:off x="0" y="114300"/>
            <a:ext cx="9628056" cy="869950"/>
          </a:xfrm>
          <a:prstGeom prst="rect">
            <a:avLst/>
          </a:prstGeom>
        </p:spPr>
        <p:txBody>
          <a:bodyPr anchor="t" rtlCol="false" tIns="0" lIns="0" bIns="0" rIns="0">
            <a:spAutoFit/>
          </a:bodyPr>
          <a:lstStyle/>
          <a:p>
            <a:pPr algn="just" marL="0" indent="0" lvl="0">
              <a:lnSpc>
                <a:spcPts val="6500"/>
              </a:lnSpc>
            </a:pPr>
            <a:r>
              <a:rPr lang="en-US" b="true" sz="6500">
                <a:solidFill>
                  <a:srgbClr val="000000"/>
                </a:solidFill>
                <a:latin typeface="Montserrat Bold"/>
                <a:ea typeface="Montserrat Bold"/>
                <a:cs typeface="Montserrat Bold"/>
                <a:sym typeface="Montserrat Bold"/>
              </a:rPr>
              <a:t>Multivariate Analysis</a:t>
            </a:r>
          </a:p>
        </p:txBody>
      </p:sp>
      <p:grpSp>
        <p:nvGrpSpPr>
          <p:cNvPr name="Group 4" id="4"/>
          <p:cNvGrpSpPr/>
          <p:nvPr/>
        </p:nvGrpSpPr>
        <p:grpSpPr>
          <a:xfrm rot="0">
            <a:off x="10575034" y="2214143"/>
            <a:ext cx="6032760" cy="3294225"/>
            <a:chOff x="0" y="0"/>
            <a:chExt cx="1888488" cy="1031221"/>
          </a:xfrm>
        </p:grpSpPr>
        <p:sp>
          <p:nvSpPr>
            <p:cNvPr name="Freeform 5" id="5"/>
            <p:cNvSpPr/>
            <p:nvPr/>
          </p:nvSpPr>
          <p:spPr>
            <a:xfrm flipH="false" flipV="false" rot="0">
              <a:off x="0" y="0"/>
              <a:ext cx="1888488" cy="1031220"/>
            </a:xfrm>
            <a:custGeom>
              <a:avLst/>
              <a:gdLst/>
              <a:ahLst/>
              <a:cxnLst/>
              <a:rect r="r" b="b" t="t" l="l"/>
              <a:pathLst>
                <a:path h="1031220" w="1888488">
                  <a:moveTo>
                    <a:pt x="46199" y="0"/>
                  </a:moveTo>
                  <a:lnTo>
                    <a:pt x="1842289" y="0"/>
                  </a:lnTo>
                  <a:cubicBezTo>
                    <a:pt x="1854542" y="0"/>
                    <a:pt x="1866293" y="4867"/>
                    <a:pt x="1874957" y="13531"/>
                  </a:cubicBezTo>
                  <a:cubicBezTo>
                    <a:pt x="1883621" y="22195"/>
                    <a:pt x="1888488" y="33946"/>
                    <a:pt x="1888488" y="46199"/>
                  </a:cubicBezTo>
                  <a:lnTo>
                    <a:pt x="1888488" y="985021"/>
                  </a:lnTo>
                  <a:cubicBezTo>
                    <a:pt x="1888488" y="1010536"/>
                    <a:pt x="1867804" y="1031220"/>
                    <a:pt x="1842289" y="1031220"/>
                  </a:cubicBezTo>
                  <a:lnTo>
                    <a:pt x="46199" y="1031220"/>
                  </a:lnTo>
                  <a:cubicBezTo>
                    <a:pt x="20684" y="1031220"/>
                    <a:pt x="0" y="1010536"/>
                    <a:pt x="0" y="985021"/>
                  </a:cubicBezTo>
                  <a:lnTo>
                    <a:pt x="0" y="46199"/>
                  </a:lnTo>
                  <a:cubicBezTo>
                    <a:pt x="0" y="20684"/>
                    <a:pt x="20684" y="0"/>
                    <a:pt x="46199" y="0"/>
                  </a:cubicBezTo>
                  <a:close/>
                </a:path>
              </a:pathLst>
            </a:custGeom>
            <a:solidFill>
              <a:srgbClr val="D1FAE5"/>
            </a:solidFill>
          </p:spPr>
        </p:sp>
        <p:sp>
          <p:nvSpPr>
            <p:cNvPr name="TextBox 6" id="6"/>
            <p:cNvSpPr txBox="true"/>
            <p:nvPr/>
          </p:nvSpPr>
          <p:spPr>
            <a:xfrm>
              <a:off x="0" y="-38100"/>
              <a:ext cx="1888488" cy="1069321"/>
            </a:xfrm>
            <a:prstGeom prst="rect">
              <a:avLst/>
            </a:prstGeom>
          </p:spPr>
          <p:txBody>
            <a:bodyPr anchor="ctr" rtlCol="false" tIns="42740" lIns="42740" bIns="42740" rIns="42740"/>
            <a:lstStyle/>
            <a:p>
              <a:pPr algn="ctr" marL="0" indent="0" lvl="0">
                <a:lnSpc>
                  <a:spcPts val="3499"/>
                </a:lnSpc>
              </a:pPr>
            </a:p>
          </p:txBody>
        </p:sp>
      </p:grpSp>
      <p:sp>
        <p:nvSpPr>
          <p:cNvPr name="TextBox 7" id="7"/>
          <p:cNvSpPr txBox="true"/>
          <p:nvPr/>
        </p:nvSpPr>
        <p:spPr>
          <a:xfrm rot="0">
            <a:off x="10777444" y="2421827"/>
            <a:ext cx="5554041" cy="2881213"/>
          </a:xfrm>
          <a:prstGeom prst="rect">
            <a:avLst/>
          </a:prstGeom>
        </p:spPr>
        <p:txBody>
          <a:bodyPr anchor="t" rtlCol="false" tIns="0" lIns="0" bIns="0" rIns="0">
            <a:spAutoFit/>
          </a:bodyPr>
          <a:lstStyle/>
          <a:p>
            <a:pPr algn="just">
              <a:lnSpc>
                <a:spcPts val="2892"/>
              </a:lnSpc>
              <a:spcBef>
                <a:spcPct val="0"/>
              </a:spcBef>
            </a:pPr>
            <a:r>
              <a:rPr lang="en-US" sz="2066">
                <a:solidFill>
                  <a:srgbClr val="6B7280"/>
                </a:solidFill>
                <a:latin typeface="Montserrat"/>
                <a:ea typeface="Montserrat"/>
                <a:cs typeface="Montserrat"/>
                <a:sym typeface="Montserrat"/>
              </a:rPr>
              <a:t>Th</a:t>
            </a:r>
            <a:r>
              <a:rPr lang="en-US" sz="2066">
                <a:solidFill>
                  <a:srgbClr val="6B7280"/>
                </a:solidFill>
                <a:latin typeface="Montserrat"/>
                <a:ea typeface="Montserrat"/>
                <a:cs typeface="Montserrat"/>
                <a:sym typeface="Montserrat"/>
              </a:rPr>
              <a:t>e strong overlap indicates that individual features cannot clearly separate transaction types or fraud patterns; however, high transaction amounts and multiple login attempts appear as potential anomaly indicators, requiring machine learning for effective fraud detection.</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3F4F6"/>
        </a:solidFill>
      </p:bgPr>
    </p:bg>
    <p:spTree>
      <p:nvGrpSpPr>
        <p:cNvPr id="1" name=""/>
        <p:cNvGrpSpPr/>
        <p:nvPr/>
      </p:nvGrpSpPr>
      <p:grpSpPr>
        <a:xfrm>
          <a:off x="0" y="0"/>
          <a:ext cx="0" cy="0"/>
          <a:chOff x="0" y="0"/>
          <a:chExt cx="0" cy="0"/>
        </a:xfrm>
      </p:grpSpPr>
      <p:sp>
        <p:nvSpPr>
          <p:cNvPr name="TextBox 2" id="2"/>
          <p:cNvSpPr txBox="true"/>
          <p:nvPr/>
        </p:nvSpPr>
        <p:spPr>
          <a:xfrm rot="0">
            <a:off x="405240" y="96619"/>
            <a:ext cx="10766246" cy="1402438"/>
          </a:xfrm>
          <a:prstGeom prst="rect">
            <a:avLst/>
          </a:prstGeom>
        </p:spPr>
        <p:txBody>
          <a:bodyPr anchor="t" rtlCol="false" tIns="0" lIns="0" bIns="0" rIns="0">
            <a:spAutoFit/>
          </a:bodyPr>
          <a:lstStyle/>
          <a:p>
            <a:pPr algn="l" marL="0" indent="0" lvl="0">
              <a:lnSpc>
                <a:spcPts val="11425"/>
              </a:lnSpc>
            </a:pPr>
            <a:r>
              <a:rPr lang="en-US" b="true" sz="8160">
                <a:solidFill>
                  <a:srgbClr val="1F1F1F"/>
                </a:solidFill>
                <a:latin typeface="Montserrat Bold"/>
                <a:ea typeface="Montserrat Bold"/>
                <a:cs typeface="Montserrat Bold"/>
                <a:sym typeface="Montserrat Bold"/>
              </a:rPr>
              <a:t>K-Means Clustering</a:t>
            </a:r>
          </a:p>
        </p:txBody>
      </p:sp>
      <p:grpSp>
        <p:nvGrpSpPr>
          <p:cNvPr name="Group 3" id="3"/>
          <p:cNvGrpSpPr/>
          <p:nvPr/>
        </p:nvGrpSpPr>
        <p:grpSpPr>
          <a:xfrm rot="0">
            <a:off x="405240" y="1499057"/>
            <a:ext cx="16883659" cy="3117467"/>
            <a:chOff x="0" y="0"/>
            <a:chExt cx="22511546" cy="4156623"/>
          </a:xfrm>
        </p:grpSpPr>
        <p:grpSp>
          <p:nvGrpSpPr>
            <p:cNvPr name="Group 4" id="4"/>
            <p:cNvGrpSpPr/>
            <p:nvPr/>
          </p:nvGrpSpPr>
          <p:grpSpPr>
            <a:xfrm rot="0">
              <a:off x="0" y="0"/>
              <a:ext cx="22511546" cy="4156623"/>
              <a:chOff x="0" y="0"/>
              <a:chExt cx="4446725" cy="821061"/>
            </a:xfrm>
          </p:grpSpPr>
          <p:sp>
            <p:nvSpPr>
              <p:cNvPr name="Freeform 5" id="5"/>
              <p:cNvSpPr/>
              <p:nvPr/>
            </p:nvSpPr>
            <p:spPr>
              <a:xfrm flipH="false" flipV="false" rot="0">
                <a:off x="0" y="0"/>
                <a:ext cx="4446725" cy="821061"/>
              </a:xfrm>
              <a:custGeom>
                <a:avLst/>
                <a:gdLst/>
                <a:ahLst/>
                <a:cxnLst/>
                <a:rect r="r" b="b" t="t" l="l"/>
                <a:pathLst>
                  <a:path h="821061" w="4446725">
                    <a:moveTo>
                      <a:pt x="16508" y="0"/>
                    </a:moveTo>
                    <a:lnTo>
                      <a:pt x="4430218" y="0"/>
                    </a:lnTo>
                    <a:cubicBezTo>
                      <a:pt x="4434596" y="0"/>
                      <a:pt x="4438794" y="1739"/>
                      <a:pt x="4441890" y="4835"/>
                    </a:cubicBezTo>
                    <a:cubicBezTo>
                      <a:pt x="4444986" y="7931"/>
                      <a:pt x="4446725" y="12130"/>
                      <a:pt x="4446725" y="16508"/>
                    </a:cubicBezTo>
                    <a:lnTo>
                      <a:pt x="4446725" y="804554"/>
                    </a:lnTo>
                    <a:cubicBezTo>
                      <a:pt x="4446725" y="808932"/>
                      <a:pt x="4444986" y="813131"/>
                      <a:pt x="4441890" y="816226"/>
                    </a:cubicBezTo>
                    <a:cubicBezTo>
                      <a:pt x="4438794" y="819322"/>
                      <a:pt x="4434596" y="821061"/>
                      <a:pt x="4430218" y="821061"/>
                    </a:cubicBezTo>
                    <a:lnTo>
                      <a:pt x="16508" y="821061"/>
                    </a:lnTo>
                    <a:cubicBezTo>
                      <a:pt x="12130" y="821061"/>
                      <a:pt x="7931" y="819322"/>
                      <a:pt x="4835" y="816226"/>
                    </a:cubicBezTo>
                    <a:cubicBezTo>
                      <a:pt x="1739" y="813131"/>
                      <a:pt x="0" y="808932"/>
                      <a:pt x="0" y="804554"/>
                    </a:cubicBezTo>
                    <a:lnTo>
                      <a:pt x="0" y="16508"/>
                    </a:lnTo>
                    <a:cubicBezTo>
                      <a:pt x="0" y="12130"/>
                      <a:pt x="1739" y="7931"/>
                      <a:pt x="4835" y="4835"/>
                    </a:cubicBezTo>
                    <a:cubicBezTo>
                      <a:pt x="7931" y="1739"/>
                      <a:pt x="12130" y="0"/>
                      <a:pt x="16508" y="0"/>
                    </a:cubicBezTo>
                    <a:close/>
                  </a:path>
                </a:pathLst>
              </a:custGeom>
              <a:solidFill>
                <a:srgbClr val="D1FAE5"/>
              </a:solidFill>
            </p:spPr>
          </p:sp>
          <p:sp>
            <p:nvSpPr>
              <p:cNvPr name="TextBox 6" id="6"/>
              <p:cNvSpPr txBox="true"/>
              <p:nvPr/>
            </p:nvSpPr>
            <p:spPr>
              <a:xfrm>
                <a:off x="0" y="-38100"/>
                <a:ext cx="4446725" cy="859161"/>
              </a:xfrm>
              <a:prstGeom prst="rect">
                <a:avLst/>
              </a:prstGeom>
            </p:spPr>
            <p:txBody>
              <a:bodyPr anchor="ctr" rtlCol="false" tIns="50800" lIns="50800" bIns="50800" rIns="50800"/>
              <a:lstStyle/>
              <a:p>
                <a:pPr algn="ctr" marL="0" indent="0" lvl="0">
                  <a:lnSpc>
                    <a:spcPts val="3499"/>
                  </a:lnSpc>
                </a:pPr>
              </a:p>
            </p:txBody>
          </p:sp>
        </p:grpSp>
        <p:sp>
          <p:nvSpPr>
            <p:cNvPr name="TextBox 7" id="7"/>
            <p:cNvSpPr txBox="true"/>
            <p:nvPr/>
          </p:nvSpPr>
          <p:spPr>
            <a:xfrm rot="0">
              <a:off x="562468" y="544133"/>
              <a:ext cx="4977758" cy="1121893"/>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6B7280"/>
                  </a:solidFill>
                  <a:latin typeface="Montserrat Bold"/>
                  <a:ea typeface="Montserrat Bold"/>
                  <a:cs typeface="Montserrat Bold"/>
                  <a:sym typeface="Montserrat Bold"/>
                </a:rPr>
                <a:t>Unsupervised Learning Approach</a:t>
              </a:r>
            </a:p>
          </p:txBody>
        </p:sp>
        <p:sp>
          <p:nvSpPr>
            <p:cNvPr name="TextBox 8" id="8"/>
            <p:cNvSpPr txBox="true"/>
            <p:nvPr/>
          </p:nvSpPr>
          <p:spPr>
            <a:xfrm rot="0">
              <a:off x="6171007" y="544133"/>
              <a:ext cx="4085491" cy="1121893"/>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6B7280"/>
                  </a:solidFill>
                  <a:latin typeface="Montserrat Bold"/>
                  <a:ea typeface="Montserrat Bold"/>
                  <a:cs typeface="Montserrat Bold"/>
                  <a:sym typeface="Montserrat Bold"/>
                </a:rPr>
                <a:t>Standardized Features</a:t>
              </a:r>
            </a:p>
          </p:txBody>
        </p:sp>
        <p:sp>
          <p:nvSpPr>
            <p:cNvPr name="TextBox 9" id="9"/>
            <p:cNvSpPr txBox="true"/>
            <p:nvPr/>
          </p:nvSpPr>
          <p:spPr>
            <a:xfrm rot="0">
              <a:off x="11381128" y="544133"/>
              <a:ext cx="4321768" cy="1121893"/>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6B7280"/>
                  </a:solidFill>
                  <a:latin typeface="Montserrat Bold"/>
                  <a:ea typeface="Montserrat Bold"/>
                  <a:cs typeface="Montserrat Bold"/>
                  <a:sym typeface="Montserrat Bold"/>
                </a:rPr>
                <a:t>Fraud Detection Rule</a:t>
              </a:r>
            </a:p>
          </p:txBody>
        </p:sp>
        <p:sp>
          <p:nvSpPr>
            <p:cNvPr name="TextBox 10" id="10"/>
            <p:cNvSpPr txBox="true"/>
            <p:nvPr/>
          </p:nvSpPr>
          <p:spPr>
            <a:xfrm rot="0">
              <a:off x="17396524" y="544133"/>
              <a:ext cx="3841318" cy="537693"/>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6B7280"/>
                  </a:solidFill>
                  <a:latin typeface="Montserrat Bold"/>
                  <a:ea typeface="Montserrat Bold"/>
                  <a:cs typeface="Montserrat Bold"/>
                  <a:sym typeface="Montserrat Bold"/>
                </a:rPr>
                <a:t>Key Results</a:t>
              </a:r>
            </a:p>
          </p:txBody>
        </p:sp>
        <p:sp>
          <p:nvSpPr>
            <p:cNvPr name="TextBox 11" id="11"/>
            <p:cNvSpPr txBox="true"/>
            <p:nvPr/>
          </p:nvSpPr>
          <p:spPr>
            <a:xfrm rot="0">
              <a:off x="562468" y="2040212"/>
              <a:ext cx="4620199" cy="1415918"/>
            </a:xfrm>
            <a:prstGeom prst="rect">
              <a:avLst/>
            </a:prstGeom>
          </p:spPr>
          <p:txBody>
            <a:bodyPr anchor="t" rtlCol="false" tIns="0" lIns="0" bIns="0" rIns="0">
              <a:spAutoFit/>
            </a:bodyPr>
            <a:lstStyle/>
            <a:p>
              <a:pPr algn="ctr" marL="0" indent="0" lvl="0">
                <a:lnSpc>
                  <a:spcPts val="2892"/>
                </a:lnSpc>
                <a:spcBef>
                  <a:spcPct val="0"/>
                </a:spcBef>
              </a:pPr>
              <a:r>
                <a:rPr lang="en-US" sz="2066">
                  <a:solidFill>
                    <a:srgbClr val="6B7280"/>
                  </a:solidFill>
                  <a:latin typeface="Montserrat"/>
                  <a:ea typeface="Montserrat"/>
                  <a:cs typeface="Montserrat"/>
                  <a:sym typeface="Montserrat"/>
                </a:rPr>
                <a:t>5 clusters applied to numeric features without requiring labeled data.</a:t>
              </a:r>
            </a:p>
          </p:txBody>
        </p:sp>
        <p:sp>
          <p:nvSpPr>
            <p:cNvPr name="TextBox 12" id="12"/>
            <p:cNvSpPr txBox="true"/>
            <p:nvPr/>
          </p:nvSpPr>
          <p:spPr>
            <a:xfrm rot="0">
              <a:off x="6171007" y="2040212"/>
              <a:ext cx="4085491" cy="1898518"/>
            </a:xfrm>
            <a:prstGeom prst="rect">
              <a:avLst/>
            </a:prstGeom>
          </p:spPr>
          <p:txBody>
            <a:bodyPr anchor="t" rtlCol="false" tIns="0" lIns="0" bIns="0" rIns="0">
              <a:spAutoFit/>
            </a:bodyPr>
            <a:lstStyle/>
            <a:p>
              <a:pPr algn="ctr" marL="0" indent="0" lvl="0">
                <a:lnSpc>
                  <a:spcPts val="2892"/>
                </a:lnSpc>
                <a:spcBef>
                  <a:spcPct val="0"/>
                </a:spcBef>
              </a:pPr>
              <a:r>
                <a:rPr lang="en-US" sz="2066">
                  <a:solidFill>
                    <a:srgbClr val="6B7280"/>
                  </a:solidFill>
                  <a:latin typeface="Montserrat"/>
                  <a:ea typeface="Montserrat"/>
                  <a:cs typeface="Montserrat"/>
                  <a:sym typeface="Montserrat"/>
                </a:rPr>
                <a:t>Amount, Duration, Login Attempts, Balance, Age normalized.</a:t>
              </a:r>
            </a:p>
          </p:txBody>
        </p:sp>
        <p:sp>
          <p:nvSpPr>
            <p:cNvPr name="TextBox 13" id="13"/>
            <p:cNvSpPr txBox="true"/>
            <p:nvPr/>
          </p:nvSpPr>
          <p:spPr>
            <a:xfrm rot="0">
              <a:off x="11773647" y="2040212"/>
              <a:ext cx="3536731" cy="1415918"/>
            </a:xfrm>
            <a:prstGeom prst="rect">
              <a:avLst/>
            </a:prstGeom>
          </p:spPr>
          <p:txBody>
            <a:bodyPr anchor="t" rtlCol="false" tIns="0" lIns="0" bIns="0" rIns="0">
              <a:spAutoFit/>
            </a:bodyPr>
            <a:lstStyle/>
            <a:p>
              <a:pPr algn="ctr" marL="0" indent="0" lvl="0">
                <a:lnSpc>
                  <a:spcPts val="2892"/>
                </a:lnSpc>
                <a:spcBef>
                  <a:spcPct val="0"/>
                </a:spcBef>
              </a:pPr>
              <a:r>
                <a:rPr lang="en-US" sz="2066">
                  <a:solidFill>
                    <a:srgbClr val="6B7280"/>
                  </a:solidFill>
                  <a:latin typeface="Montserrat"/>
                  <a:ea typeface="Montserrat"/>
                  <a:cs typeface="Montserrat"/>
                  <a:sym typeface="Montserrat"/>
                </a:rPr>
                <a:t>Flag if distance &gt; Mean + 3×SD from cluster center.</a:t>
              </a:r>
            </a:p>
          </p:txBody>
        </p:sp>
        <p:sp>
          <p:nvSpPr>
            <p:cNvPr name="TextBox 14" id="14"/>
            <p:cNvSpPr txBox="true"/>
            <p:nvPr/>
          </p:nvSpPr>
          <p:spPr>
            <a:xfrm rot="0">
              <a:off x="17548817" y="2040212"/>
              <a:ext cx="3536731" cy="1898518"/>
            </a:xfrm>
            <a:prstGeom prst="rect">
              <a:avLst/>
            </a:prstGeom>
          </p:spPr>
          <p:txBody>
            <a:bodyPr anchor="t" rtlCol="false" tIns="0" lIns="0" bIns="0" rIns="0">
              <a:spAutoFit/>
            </a:bodyPr>
            <a:lstStyle/>
            <a:p>
              <a:pPr algn="ctr" marL="0" indent="0" lvl="0">
                <a:lnSpc>
                  <a:spcPts val="2892"/>
                </a:lnSpc>
                <a:spcBef>
                  <a:spcPct val="0"/>
                </a:spcBef>
              </a:pPr>
              <a:r>
                <a:rPr lang="en-US" sz="2066">
                  <a:solidFill>
                    <a:srgbClr val="6B7280"/>
                  </a:solidFill>
                  <a:latin typeface="Montserrat"/>
                  <a:ea typeface="Montserrat"/>
                  <a:cs typeface="Montserrat"/>
                  <a:sym typeface="Montserrat"/>
                </a:rPr>
                <a:t>20 fraudulent transactions detected (0.8% of total).</a:t>
              </a:r>
            </a:p>
          </p:txBody>
        </p:sp>
      </p:grpSp>
      <p:grpSp>
        <p:nvGrpSpPr>
          <p:cNvPr name="Group 15" id="15"/>
          <p:cNvGrpSpPr/>
          <p:nvPr/>
        </p:nvGrpSpPr>
        <p:grpSpPr>
          <a:xfrm rot="0">
            <a:off x="375641" y="6139366"/>
            <a:ext cx="16883659" cy="3497636"/>
            <a:chOff x="0" y="0"/>
            <a:chExt cx="22511546" cy="4663515"/>
          </a:xfrm>
        </p:grpSpPr>
        <p:grpSp>
          <p:nvGrpSpPr>
            <p:cNvPr name="Group 16" id="16"/>
            <p:cNvGrpSpPr/>
            <p:nvPr/>
          </p:nvGrpSpPr>
          <p:grpSpPr>
            <a:xfrm rot="0">
              <a:off x="0" y="0"/>
              <a:ext cx="22511546" cy="4645611"/>
              <a:chOff x="0" y="0"/>
              <a:chExt cx="4446725" cy="917652"/>
            </a:xfrm>
          </p:grpSpPr>
          <p:sp>
            <p:nvSpPr>
              <p:cNvPr name="Freeform 17" id="17"/>
              <p:cNvSpPr/>
              <p:nvPr/>
            </p:nvSpPr>
            <p:spPr>
              <a:xfrm flipH="false" flipV="false" rot="0">
                <a:off x="0" y="0"/>
                <a:ext cx="4446725" cy="917652"/>
              </a:xfrm>
              <a:custGeom>
                <a:avLst/>
                <a:gdLst/>
                <a:ahLst/>
                <a:cxnLst/>
                <a:rect r="r" b="b" t="t" l="l"/>
                <a:pathLst>
                  <a:path h="917652" w="4446725">
                    <a:moveTo>
                      <a:pt x="16508" y="0"/>
                    </a:moveTo>
                    <a:lnTo>
                      <a:pt x="4430218" y="0"/>
                    </a:lnTo>
                    <a:cubicBezTo>
                      <a:pt x="4434596" y="0"/>
                      <a:pt x="4438794" y="1739"/>
                      <a:pt x="4441890" y="4835"/>
                    </a:cubicBezTo>
                    <a:cubicBezTo>
                      <a:pt x="4444986" y="7931"/>
                      <a:pt x="4446725" y="12130"/>
                      <a:pt x="4446725" y="16508"/>
                    </a:cubicBezTo>
                    <a:lnTo>
                      <a:pt x="4446725" y="901144"/>
                    </a:lnTo>
                    <a:cubicBezTo>
                      <a:pt x="4446725" y="905522"/>
                      <a:pt x="4444986" y="909721"/>
                      <a:pt x="4441890" y="912817"/>
                    </a:cubicBezTo>
                    <a:cubicBezTo>
                      <a:pt x="4438794" y="915912"/>
                      <a:pt x="4434596" y="917652"/>
                      <a:pt x="4430218" y="917652"/>
                    </a:cubicBezTo>
                    <a:lnTo>
                      <a:pt x="16508" y="917652"/>
                    </a:lnTo>
                    <a:cubicBezTo>
                      <a:pt x="12130" y="917652"/>
                      <a:pt x="7931" y="915912"/>
                      <a:pt x="4835" y="912817"/>
                    </a:cubicBezTo>
                    <a:cubicBezTo>
                      <a:pt x="1739" y="909721"/>
                      <a:pt x="0" y="905522"/>
                      <a:pt x="0" y="901144"/>
                    </a:cubicBezTo>
                    <a:lnTo>
                      <a:pt x="0" y="16508"/>
                    </a:lnTo>
                    <a:cubicBezTo>
                      <a:pt x="0" y="12130"/>
                      <a:pt x="1739" y="7931"/>
                      <a:pt x="4835" y="4835"/>
                    </a:cubicBezTo>
                    <a:cubicBezTo>
                      <a:pt x="7931" y="1739"/>
                      <a:pt x="12130" y="0"/>
                      <a:pt x="16508" y="0"/>
                    </a:cubicBezTo>
                    <a:close/>
                  </a:path>
                </a:pathLst>
              </a:custGeom>
              <a:solidFill>
                <a:srgbClr val="D1FAE5"/>
              </a:solidFill>
            </p:spPr>
          </p:sp>
          <p:sp>
            <p:nvSpPr>
              <p:cNvPr name="TextBox 18" id="18"/>
              <p:cNvSpPr txBox="true"/>
              <p:nvPr/>
            </p:nvSpPr>
            <p:spPr>
              <a:xfrm>
                <a:off x="0" y="-38100"/>
                <a:ext cx="4446725" cy="955752"/>
              </a:xfrm>
              <a:prstGeom prst="rect">
                <a:avLst/>
              </a:prstGeom>
            </p:spPr>
            <p:txBody>
              <a:bodyPr anchor="ctr" rtlCol="false" tIns="50800" lIns="50800" bIns="50800" rIns="50800"/>
              <a:lstStyle/>
              <a:p>
                <a:pPr algn="ctr" marL="0" indent="0" lvl="0">
                  <a:lnSpc>
                    <a:spcPts val="3499"/>
                  </a:lnSpc>
                </a:pPr>
              </a:p>
            </p:txBody>
          </p:sp>
        </p:grpSp>
        <p:sp>
          <p:nvSpPr>
            <p:cNvPr name="TextBox 19" id="19"/>
            <p:cNvSpPr txBox="true"/>
            <p:nvPr/>
          </p:nvSpPr>
          <p:spPr>
            <a:xfrm rot="0">
              <a:off x="699732" y="545018"/>
              <a:ext cx="4977758" cy="537693"/>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6B7280"/>
                  </a:solidFill>
                  <a:latin typeface="Montserrat Bold"/>
                  <a:ea typeface="Montserrat Bold"/>
                  <a:cs typeface="Montserrat Bold"/>
                  <a:sym typeface="Montserrat Bold"/>
                </a:rPr>
                <a:t>Stat</a:t>
              </a:r>
              <a:r>
                <a:rPr lang="en-US" b="true" sz="2498">
                  <a:solidFill>
                    <a:srgbClr val="6B7280"/>
                  </a:solidFill>
                  <a:latin typeface="Montserrat Bold"/>
                  <a:ea typeface="Montserrat Bold"/>
                  <a:cs typeface="Montserrat Bold"/>
                  <a:sym typeface="Montserrat Bold"/>
                </a:rPr>
                <a:t>istical Approach</a:t>
              </a:r>
            </a:p>
          </p:txBody>
        </p:sp>
        <p:sp>
          <p:nvSpPr>
            <p:cNvPr name="TextBox 20" id="20"/>
            <p:cNvSpPr txBox="true"/>
            <p:nvPr/>
          </p:nvSpPr>
          <p:spPr>
            <a:xfrm rot="0">
              <a:off x="6308271" y="545018"/>
              <a:ext cx="4085491" cy="1121893"/>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6B7280"/>
                  </a:solidFill>
                  <a:latin typeface="Montserrat Bold"/>
                  <a:ea typeface="Montserrat Bold"/>
                  <a:cs typeface="Montserrat Bold"/>
                  <a:sym typeface="Montserrat Bold"/>
                </a:rPr>
                <a:t>Standardized Features</a:t>
              </a:r>
            </a:p>
          </p:txBody>
        </p:sp>
        <p:sp>
          <p:nvSpPr>
            <p:cNvPr name="TextBox 21" id="21"/>
            <p:cNvSpPr txBox="true"/>
            <p:nvPr/>
          </p:nvSpPr>
          <p:spPr>
            <a:xfrm rot="0">
              <a:off x="11518392" y="545018"/>
              <a:ext cx="4321768" cy="1121893"/>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6B7280"/>
                  </a:solidFill>
                  <a:latin typeface="Montserrat Bold"/>
                  <a:ea typeface="Montserrat Bold"/>
                  <a:cs typeface="Montserrat Bold"/>
                  <a:sym typeface="Montserrat Bold"/>
                </a:rPr>
                <a:t>Fraud Detection Rule</a:t>
              </a:r>
            </a:p>
          </p:txBody>
        </p:sp>
        <p:sp>
          <p:nvSpPr>
            <p:cNvPr name="TextBox 22" id="22"/>
            <p:cNvSpPr txBox="true"/>
            <p:nvPr/>
          </p:nvSpPr>
          <p:spPr>
            <a:xfrm rot="0">
              <a:off x="17533787" y="545018"/>
              <a:ext cx="3841318" cy="537693"/>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6B7280"/>
                  </a:solidFill>
                  <a:latin typeface="Montserrat Bold"/>
                  <a:ea typeface="Montserrat Bold"/>
                  <a:cs typeface="Montserrat Bold"/>
                  <a:sym typeface="Montserrat Bold"/>
                </a:rPr>
                <a:t>Key Results</a:t>
              </a:r>
            </a:p>
          </p:txBody>
        </p:sp>
        <p:sp>
          <p:nvSpPr>
            <p:cNvPr name="TextBox 23" id="23"/>
            <p:cNvSpPr txBox="true"/>
            <p:nvPr/>
          </p:nvSpPr>
          <p:spPr>
            <a:xfrm rot="0">
              <a:off x="699732" y="1799797"/>
              <a:ext cx="4620199" cy="2381118"/>
            </a:xfrm>
            <a:prstGeom prst="rect">
              <a:avLst/>
            </a:prstGeom>
          </p:spPr>
          <p:txBody>
            <a:bodyPr anchor="t" rtlCol="false" tIns="0" lIns="0" bIns="0" rIns="0">
              <a:spAutoFit/>
            </a:bodyPr>
            <a:lstStyle/>
            <a:p>
              <a:pPr algn="ctr" marL="0" indent="0" lvl="0">
                <a:lnSpc>
                  <a:spcPts val="2892"/>
                </a:lnSpc>
                <a:spcBef>
                  <a:spcPct val="0"/>
                </a:spcBef>
              </a:pPr>
              <a:r>
                <a:rPr lang="en-US" sz="2066">
                  <a:solidFill>
                    <a:srgbClr val="6B7280"/>
                  </a:solidFill>
                  <a:latin typeface="Montserrat"/>
                  <a:ea typeface="Montserrat"/>
                  <a:cs typeface="Montserrat"/>
                  <a:sym typeface="Montserrat"/>
                </a:rPr>
                <a:t>De</a:t>
              </a:r>
              <a:r>
                <a:rPr lang="en-US" sz="2066">
                  <a:solidFill>
                    <a:srgbClr val="6B7280"/>
                  </a:solidFill>
                  <a:latin typeface="Montserrat"/>
                  <a:ea typeface="Montserrat"/>
                  <a:cs typeface="Montserrat"/>
                  <a:sym typeface="Montserrat"/>
                </a:rPr>
                <a:t>tects fraud by identifying extreme deviations in individual features using statistical standardization.</a:t>
              </a:r>
            </a:p>
          </p:txBody>
        </p:sp>
        <p:sp>
          <p:nvSpPr>
            <p:cNvPr name="TextBox 24" id="24"/>
            <p:cNvSpPr txBox="true"/>
            <p:nvPr/>
          </p:nvSpPr>
          <p:spPr>
            <a:xfrm rot="0">
              <a:off x="6308271" y="1799797"/>
              <a:ext cx="4085491" cy="2863718"/>
            </a:xfrm>
            <a:prstGeom prst="rect">
              <a:avLst/>
            </a:prstGeom>
          </p:spPr>
          <p:txBody>
            <a:bodyPr anchor="t" rtlCol="false" tIns="0" lIns="0" bIns="0" rIns="0">
              <a:spAutoFit/>
            </a:bodyPr>
            <a:lstStyle/>
            <a:p>
              <a:pPr algn="ctr" marL="0" indent="0" lvl="0">
                <a:lnSpc>
                  <a:spcPts val="2892"/>
                </a:lnSpc>
                <a:spcBef>
                  <a:spcPct val="0"/>
                </a:spcBef>
              </a:pPr>
              <a:r>
                <a:rPr lang="en-US" sz="2066">
                  <a:solidFill>
                    <a:srgbClr val="6B7280"/>
                  </a:solidFill>
                  <a:latin typeface="Montserrat"/>
                  <a:ea typeface="Montserrat"/>
                  <a:cs typeface="Montserrat"/>
                  <a:sym typeface="Montserrat"/>
                </a:rPr>
                <a:t>Amount, Duration, Login Attempts, Balance, Age converted into Z-scores.</a:t>
              </a:r>
            </a:p>
            <a:p>
              <a:pPr algn="ctr" marL="0" indent="0" lvl="0">
                <a:lnSpc>
                  <a:spcPts val="2892"/>
                </a:lnSpc>
                <a:spcBef>
                  <a:spcPct val="0"/>
                </a:spcBef>
              </a:pPr>
            </a:p>
          </p:txBody>
        </p:sp>
        <p:sp>
          <p:nvSpPr>
            <p:cNvPr name="TextBox 25" id="25"/>
            <p:cNvSpPr txBox="true"/>
            <p:nvPr/>
          </p:nvSpPr>
          <p:spPr>
            <a:xfrm rot="0">
              <a:off x="11910911" y="1799797"/>
              <a:ext cx="3536731" cy="1898518"/>
            </a:xfrm>
            <a:prstGeom prst="rect">
              <a:avLst/>
            </a:prstGeom>
          </p:spPr>
          <p:txBody>
            <a:bodyPr anchor="t" rtlCol="false" tIns="0" lIns="0" bIns="0" rIns="0">
              <a:spAutoFit/>
            </a:bodyPr>
            <a:lstStyle/>
            <a:p>
              <a:pPr algn="ctr" marL="0" indent="0" lvl="0">
                <a:lnSpc>
                  <a:spcPts val="2892"/>
                </a:lnSpc>
                <a:spcBef>
                  <a:spcPct val="0"/>
                </a:spcBef>
              </a:pPr>
              <a:r>
                <a:rPr lang="en-US" sz="2066">
                  <a:solidFill>
                    <a:srgbClr val="6B7280"/>
                  </a:solidFill>
                  <a:latin typeface="Montserrat"/>
                  <a:ea typeface="Montserrat"/>
                  <a:cs typeface="Montserrat"/>
                  <a:sym typeface="Montserrat"/>
                </a:rPr>
                <a:t>Flag transactions far from mean</a:t>
              </a:r>
            </a:p>
            <a:p>
              <a:pPr algn="ctr" marL="0" indent="0" lvl="0">
                <a:lnSpc>
                  <a:spcPts val="2892"/>
                </a:lnSpc>
                <a:spcBef>
                  <a:spcPct val="0"/>
                </a:spcBef>
              </a:pPr>
              <a:r>
                <a:rPr lang="en-US" sz="2066">
                  <a:solidFill>
                    <a:srgbClr val="6B7280"/>
                  </a:solidFill>
                  <a:latin typeface="Montserrat"/>
                  <a:ea typeface="Montserrat"/>
                  <a:cs typeface="Montserrat"/>
                  <a:sym typeface="Montserrat"/>
                </a:rPr>
                <a:t>(|Z| &gt; 3 standard deviations)</a:t>
              </a:r>
            </a:p>
          </p:txBody>
        </p:sp>
        <p:sp>
          <p:nvSpPr>
            <p:cNvPr name="TextBox 26" id="26"/>
            <p:cNvSpPr txBox="true"/>
            <p:nvPr/>
          </p:nvSpPr>
          <p:spPr>
            <a:xfrm rot="0">
              <a:off x="17686081" y="1799797"/>
              <a:ext cx="3536731" cy="1898518"/>
            </a:xfrm>
            <a:prstGeom prst="rect">
              <a:avLst/>
            </a:prstGeom>
          </p:spPr>
          <p:txBody>
            <a:bodyPr anchor="t" rtlCol="false" tIns="0" lIns="0" bIns="0" rIns="0">
              <a:spAutoFit/>
            </a:bodyPr>
            <a:lstStyle/>
            <a:p>
              <a:pPr algn="ctr" marL="0" indent="0" lvl="0">
                <a:lnSpc>
                  <a:spcPts val="2892"/>
                </a:lnSpc>
                <a:spcBef>
                  <a:spcPct val="0"/>
                </a:spcBef>
              </a:pPr>
              <a:r>
                <a:rPr lang="en-US" sz="2066">
                  <a:solidFill>
                    <a:srgbClr val="6B7280"/>
                  </a:solidFill>
                  <a:latin typeface="Montserrat"/>
                  <a:ea typeface="Montserrat"/>
                  <a:cs typeface="Montserrat"/>
                  <a:sym typeface="Montserrat"/>
                </a:rPr>
                <a:t>14</a:t>
              </a:r>
              <a:r>
                <a:rPr lang="en-US" sz="2066">
                  <a:solidFill>
                    <a:srgbClr val="6B7280"/>
                  </a:solidFill>
                  <a:latin typeface="Montserrat"/>
                  <a:ea typeface="Montserrat"/>
                  <a:cs typeface="Montserrat"/>
                  <a:sym typeface="Montserrat"/>
                </a:rPr>
                <a:t>0 fraudulent transactions detected</a:t>
              </a:r>
            </a:p>
            <a:p>
              <a:pPr algn="ctr" marL="0" indent="0" lvl="0">
                <a:lnSpc>
                  <a:spcPts val="2892"/>
                </a:lnSpc>
                <a:spcBef>
                  <a:spcPct val="0"/>
                </a:spcBef>
              </a:pPr>
              <a:r>
                <a:rPr lang="en-US" sz="2066">
                  <a:solidFill>
                    <a:srgbClr val="6B7280"/>
                  </a:solidFill>
                  <a:latin typeface="Montserrat"/>
                  <a:ea typeface="Montserrat"/>
                  <a:cs typeface="Montserrat"/>
                  <a:sym typeface="Montserrat"/>
                </a:rPr>
                <a:t>(5.6% of total data)</a:t>
              </a:r>
            </a:p>
          </p:txBody>
        </p:sp>
      </p:grpSp>
      <p:sp>
        <p:nvSpPr>
          <p:cNvPr name="TextBox 27" id="27"/>
          <p:cNvSpPr txBox="true"/>
          <p:nvPr/>
        </p:nvSpPr>
        <p:spPr>
          <a:xfrm rot="0">
            <a:off x="405240" y="5169593"/>
            <a:ext cx="7882440" cy="869950"/>
          </a:xfrm>
          <a:prstGeom prst="rect">
            <a:avLst/>
          </a:prstGeom>
        </p:spPr>
        <p:txBody>
          <a:bodyPr anchor="t" rtlCol="false" tIns="0" lIns="0" bIns="0" rIns="0">
            <a:spAutoFit/>
          </a:bodyPr>
          <a:lstStyle/>
          <a:p>
            <a:pPr algn="just" marL="0" indent="0" lvl="0">
              <a:lnSpc>
                <a:spcPts val="6500"/>
              </a:lnSpc>
            </a:pPr>
            <a:r>
              <a:rPr lang="en-US" b="true" sz="6500">
                <a:solidFill>
                  <a:srgbClr val="000000"/>
                </a:solidFill>
                <a:latin typeface="Montserrat Bold"/>
                <a:ea typeface="Montserrat Bold"/>
                <a:cs typeface="Montserrat Bold"/>
                <a:sym typeface="Montserrat Bold"/>
              </a:rPr>
              <a:t>Z-Score Analysis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sp>
        <p:nvSpPr>
          <p:cNvPr name="Freeform 2" id="2"/>
          <p:cNvSpPr/>
          <p:nvPr/>
        </p:nvSpPr>
        <p:spPr>
          <a:xfrm flipH="false" flipV="false" rot="0">
            <a:off x="371588" y="1573943"/>
            <a:ext cx="17584546" cy="8308698"/>
          </a:xfrm>
          <a:custGeom>
            <a:avLst/>
            <a:gdLst/>
            <a:ahLst/>
            <a:cxnLst/>
            <a:rect r="r" b="b" t="t" l="l"/>
            <a:pathLst>
              <a:path h="8308698" w="17584546">
                <a:moveTo>
                  <a:pt x="0" y="0"/>
                </a:moveTo>
                <a:lnTo>
                  <a:pt x="17584546" y="0"/>
                </a:lnTo>
                <a:lnTo>
                  <a:pt x="17584546" y="8308699"/>
                </a:lnTo>
                <a:lnTo>
                  <a:pt x="0" y="8308699"/>
                </a:lnTo>
                <a:lnTo>
                  <a:pt x="0" y="0"/>
                </a:lnTo>
                <a:close/>
              </a:path>
            </a:pathLst>
          </a:custGeom>
          <a:blipFill>
            <a:blip r:embed="rId2"/>
            <a:stretch>
              <a:fillRect l="0" t="0" r="0" b="0"/>
            </a:stretch>
          </a:blipFill>
          <a:ln w="38100" cap="sq">
            <a:solidFill>
              <a:srgbClr val="000000"/>
            </a:solidFill>
            <a:prstDash val="solid"/>
            <a:miter/>
          </a:ln>
        </p:spPr>
      </p:sp>
      <p:sp>
        <p:nvSpPr>
          <p:cNvPr name="TextBox 3" id="3"/>
          <p:cNvSpPr txBox="true"/>
          <p:nvPr/>
        </p:nvSpPr>
        <p:spPr>
          <a:xfrm rot="0">
            <a:off x="371588" y="484782"/>
            <a:ext cx="11892137" cy="869950"/>
          </a:xfrm>
          <a:prstGeom prst="rect">
            <a:avLst/>
          </a:prstGeom>
        </p:spPr>
        <p:txBody>
          <a:bodyPr anchor="t" rtlCol="false" tIns="0" lIns="0" bIns="0" rIns="0">
            <a:spAutoFit/>
          </a:bodyPr>
          <a:lstStyle/>
          <a:p>
            <a:pPr algn="just" marL="0" indent="0" lvl="0">
              <a:lnSpc>
                <a:spcPts val="6500"/>
              </a:lnSpc>
            </a:pPr>
            <a:r>
              <a:rPr lang="en-US" b="true" sz="6500">
                <a:solidFill>
                  <a:srgbClr val="1F1F1F"/>
                </a:solidFill>
                <a:latin typeface="Montserrat Bold"/>
                <a:ea typeface="Montserrat Bold"/>
                <a:cs typeface="Montserrat Bold"/>
                <a:sym typeface="Montserrat Bold"/>
              </a:rPr>
              <a:t>Prediction on Unseen data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375641" y="1723515"/>
            <a:ext cx="16883659" cy="4040561"/>
            <a:chOff x="0" y="0"/>
            <a:chExt cx="22511546" cy="5387415"/>
          </a:xfrm>
        </p:grpSpPr>
        <p:grpSp>
          <p:nvGrpSpPr>
            <p:cNvPr name="Group 3" id="3"/>
            <p:cNvGrpSpPr/>
            <p:nvPr/>
          </p:nvGrpSpPr>
          <p:grpSpPr>
            <a:xfrm rot="0">
              <a:off x="0" y="0"/>
              <a:ext cx="22511546" cy="4425567"/>
              <a:chOff x="0" y="0"/>
              <a:chExt cx="4446725" cy="874186"/>
            </a:xfrm>
          </p:grpSpPr>
          <p:sp>
            <p:nvSpPr>
              <p:cNvPr name="Freeform 4" id="4"/>
              <p:cNvSpPr/>
              <p:nvPr/>
            </p:nvSpPr>
            <p:spPr>
              <a:xfrm flipH="false" flipV="false" rot="0">
                <a:off x="0" y="0"/>
                <a:ext cx="4446725" cy="874186"/>
              </a:xfrm>
              <a:custGeom>
                <a:avLst/>
                <a:gdLst/>
                <a:ahLst/>
                <a:cxnLst/>
                <a:rect r="r" b="b" t="t" l="l"/>
                <a:pathLst>
                  <a:path h="874186" w="4446725">
                    <a:moveTo>
                      <a:pt x="16508" y="0"/>
                    </a:moveTo>
                    <a:lnTo>
                      <a:pt x="4430218" y="0"/>
                    </a:lnTo>
                    <a:cubicBezTo>
                      <a:pt x="4434596" y="0"/>
                      <a:pt x="4438794" y="1739"/>
                      <a:pt x="4441890" y="4835"/>
                    </a:cubicBezTo>
                    <a:cubicBezTo>
                      <a:pt x="4444986" y="7931"/>
                      <a:pt x="4446725" y="12130"/>
                      <a:pt x="4446725" y="16508"/>
                    </a:cubicBezTo>
                    <a:lnTo>
                      <a:pt x="4446725" y="857678"/>
                    </a:lnTo>
                    <a:cubicBezTo>
                      <a:pt x="4446725" y="862056"/>
                      <a:pt x="4444986" y="866255"/>
                      <a:pt x="4441890" y="869351"/>
                    </a:cubicBezTo>
                    <a:cubicBezTo>
                      <a:pt x="4438794" y="872447"/>
                      <a:pt x="4434596" y="874186"/>
                      <a:pt x="4430218" y="874186"/>
                    </a:cubicBezTo>
                    <a:lnTo>
                      <a:pt x="16508" y="874186"/>
                    </a:lnTo>
                    <a:cubicBezTo>
                      <a:pt x="12130" y="874186"/>
                      <a:pt x="7931" y="872447"/>
                      <a:pt x="4835" y="869351"/>
                    </a:cubicBezTo>
                    <a:cubicBezTo>
                      <a:pt x="1739" y="866255"/>
                      <a:pt x="0" y="862056"/>
                      <a:pt x="0" y="857678"/>
                    </a:cubicBezTo>
                    <a:lnTo>
                      <a:pt x="0" y="16508"/>
                    </a:lnTo>
                    <a:cubicBezTo>
                      <a:pt x="0" y="12130"/>
                      <a:pt x="1739" y="7931"/>
                      <a:pt x="4835" y="4835"/>
                    </a:cubicBezTo>
                    <a:cubicBezTo>
                      <a:pt x="7931" y="1739"/>
                      <a:pt x="12130" y="0"/>
                      <a:pt x="16508" y="0"/>
                    </a:cubicBezTo>
                    <a:close/>
                  </a:path>
                </a:pathLst>
              </a:custGeom>
              <a:solidFill>
                <a:srgbClr val="D1FAE5"/>
              </a:solidFill>
            </p:spPr>
          </p:sp>
          <p:sp>
            <p:nvSpPr>
              <p:cNvPr name="TextBox 5" id="5"/>
              <p:cNvSpPr txBox="true"/>
              <p:nvPr/>
            </p:nvSpPr>
            <p:spPr>
              <a:xfrm>
                <a:off x="0" y="-38100"/>
                <a:ext cx="4446725" cy="912286"/>
              </a:xfrm>
              <a:prstGeom prst="rect">
                <a:avLst/>
              </a:prstGeom>
            </p:spPr>
            <p:txBody>
              <a:bodyPr anchor="ctr" rtlCol="false" tIns="50800" lIns="50800" bIns="50800" rIns="50800"/>
              <a:lstStyle/>
              <a:p>
                <a:pPr algn="ctr" marL="0" indent="0" lvl="0">
                  <a:lnSpc>
                    <a:spcPts val="3499"/>
                  </a:lnSpc>
                </a:pPr>
              </a:p>
            </p:txBody>
          </p:sp>
        </p:grpSp>
        <p:sp>
          <p:nvSpPr>
            <p:cNvPr name="TextBox 6" id="6"/>
            <p:cNvSpPr txBox="true"/>
            <p:nvPr/>
          </p:nvSpPr>
          <p:spPr>
            <a:xfrm rot="0">
              <a:off x="699732" y="545018"/>
              <a:ext cx="4977758" cy="1121893"/>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6B7280"/>
                  </a:solidFill>
                  <a:latin typeface="Inter Bold"/>
                  <a:ea typeface="Inter Bold"/>
                  <a:cs typeface="Inter Bold"/>
                  <a:sym typeface="Inter Bold"/>
                </a:rPr>
                <a:t>S</a:t>
              </a:r>
              <a:r>
                <a:rPr lang="en-US" b="true" sz="2498">
                  <a:solidFill>
                    <a:srgbClr val="6B7280"/>
                  </a:solidFill>
                  <a:latin typeface="Inter Bold"/>
                  <a:ea typeface="Inter Bold"/>
                  <a:cs typeface="Inter Bold"/>
                  <a:sym typeface="Inter Bold"/>
                </a:rPr>
                <a:t>upervised Learning Approach</a:t>
              </a:r>
            </a:p>
          </p:txBody>
        </p:sp>
        <p:sp>
          <p:nvSpPr>
            <p:cNvPr name="TextBox 7" id="7"/>
            <p:cNvSpPr txBox="true"/>
            <p:nvPr/>
          </p:nvSpPr>
          <p:spPr>
            <a:xfrm rot="0">
              <a:off x="6308271" y="545018"/>
              <a:ext cx="4085491" cy="537693"/>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6B7280"/>
                  </a:solidFill>
                  <a:latin typeface="Inter Bold"/>
                  <a:ea typeface="Inter Bold"/>
                  <a:cs typeface="Inter Bold"/>
                  <a:sym typeface="Inter Bold"/>
                </a:rPr>
                <a:t>I</a:t>
              </a:r>
              <a:r>
                <a:rPr lang="en-US" b="true" sz="2498">
                  <a:solidFill>
                    <a:srgbClr val="6B7280"/>
                  </a:solidFill>
                  <a:latin typeface="Inter Bold"/>
                  <a:ea typeface="Inter Bold"/>
                  <a:cs typeface="Inter Bold"/>
                  <a:sym typeface="Inter Bold"/>
                </a:rPr>
                <a:t>nput Features</a:t>
              </a:r>
            </a:p>
          </p:txBody>
        </p:sp>
        <p:sp>
          <p:nvSpPr>
            <p:cNvPr name="TextBox 8" id="8"/>
            <p:cNvSpPr txBox="true"/>
            <p:nvPr/>
          </p:nvSpPr>
          <p:spPr>
            <a:xfrm rot="0">
              <a:off x="11518392" y="545018"/>
              <a:ext cx="4321768" cy="537693"/>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6B7280"/>
                  </a:solidFill>
                  <a:latin typeface="Inter Bold"/>
                  <a:ea typeface="Inter Bold"/>
                  <a:cs typeface="Inter Bold"/>
                  <a:sym typeface="Inter Bold"/>
                </a:rPr>
                <a:t>Mo</a:t>
              </a:r>
              <a:r>
                <a:rPr lang="en-US" b="true" sz="2498">
                  <a:solidFill>
                    <a:srgbClr val="6B7280"/>
                  </a:solidFill>
                  <a:latin typeface="Inter Bold"/>
                  <a:ea typeface="Inter Bold"/>
                  <a:cs typeface="Inter Bold"/>
                  <a:sym typeface="Inter Bold"/>
                </a:rPr>
                <a:t>del Objective</a:t>
              </a:r>
            </a:p>
          </p:txBody>
        </p:sp>
        <p:sp>
          <p:nvSpPr>
            <p:cNvPr name="TextBox 9" id="9"/>
            <p:cNvSpPr txBox="true"/>
            <p:nvPr/>
          </p:nvSpPr>
          <p:spPr>
            <a:xfrm rot="0">
              <a:off x="17533787" y="545018"/>
              <a:ext cx="3841318" cy="537693"/>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6B7280"/>
                  </a:solidFill>
                  <a:latin typeface="Inter Bold"/>
                  <a:ea typeface="Inter Bold"/>
                  <a:cs typeface="Inter Bold"/>
                  <a:sym typeface="Inter Bold"/>
                </a:rPr>
                <a:t>Key Results</a:t>
              </a:r>
            </a:p>
          </p:txBody>
        </p:sp>
        <p:sp>
          <p:nvSpPr>
            <p:cNvPr name="TextBox 10" id="10"/>
            <p:cNvSpPr txBox="true"/>
            <p:nvPr/>
          </p:nvSpPr>
          <p:spPr>
            <a:xfrm rot="0">
              <a:off x="699732" y="2041097"/>
              <a:ext cx="4620199" cy="1415918"/>
            </a:xfrm>
            <a:prstGeom prst="rect">
              <a:avLst/>
            </a:prstGeom>
          </p:spPr>
          <p:txBody>
            <a:bodyPr anchor="t" rtlCol="false" tIns="0" lIns="0" bIns="0" rIns="0">
              <a:spAutoFit/>
            </a:bodyPr>
            <a:lstStyle/>
            <a:p>
              <a:pPr algn="ctr" marL="0" indent="0" lvl="0">
                <a:lnSpc>
                  <a:spcPts val="2892"/>
                </a:lnSpc>
                <a:spcBef>
                  <a:spcPct val="0"/>
                </a:spcBef>
              </a:pPr>
              <a:r>
                <a:rPr lang="en-US" sz="2066">
                  <a:solidFill>
                    <a:srgbClr val="6B7280"/>
                  </a:solidFill>
                  <a:latin typeface="Inter"/>
                  <a:ea typeface="Inter"/>
                  <a:cs typeface="Inter"/>
                  <a:sym typeface="Inter"/>
                </a:rPr>
                <a:t>U</a:t>
              </a:r>
              <a:r>
                <a:rPr lang="en-US" sz="2066">
                  <a:solidFill>
                    <a:srgbClr val="6B7280"/>
                  </a:solidFill>
                  <a:latin typeface="Inter"/>
                  <a:ea typeface="Inter"/>
                  <a:cs typeface="Inter"/>
                  <a:sym typeface="Inter"/>
                </a:rPr>
                <a:t>ses labeled data to classify transactions as fraud or non-fraud.</a:t>
              </a:r>
            </a:p>
          </p:txBody>
        </p:sp>
        <p:sp>
          <p:nvSpPr>
            <p:cNvPr name="TextBox 11" id="11"/>
            <p:cNvSpPr txBox="true"/>
            <p:nvPr/>
          </p:nvSpPr>
          <p:spPr>
            <a:xfrm rot="0">
              <a:off x="6308271" y="2041097"/>
              <a:ext cx="4085491" cy="1898518"/>
            </a:xfrm>
            <a:prstGeom prst="rect">
              <a:avLst/>
            </a:prstGeom>
          </p:spPr>
          <p:txBody>
            <a:bodyPr anchor="t" rtlCol="false" tIns="0" lIns="0" bIns="0" rIns="0">
              <a:spAutoFit/>
            </a:bodyPr>
            <a:lstStyle/>
            <a:p>
              <a:pPr algn="ctr" marL="0" indent="0" lvl="0">
                <a:lnSpc>
                  <a:spcPts val="2892"/>
                </a:lnSpc>
                <a:spcBef>
                  <a:spcPct val="0"/>
                </a:spcBef>
              </a:pPr>
              <a:r>
                <a:rPr lang="en-US" sz="2066">
                  <a:solidFill>
                    <a:srgbClr val="6B7280"/>
                  </a:solidFill>
                  <a:latin typeface="Inter"/>
                  <a:ea typeface="Inter"/>
                  <a:cs typeface="Inter"/>
                  <a:sym typeface="Inter"/>
                </a:rPr>
                <a:t>Amount, Duration, Login Attempts, Balance, Age, Time Since Last Transaction.</a:t>
              </a:r>
            </a:p>
          </p:txBody>
        </p:sp>
        <p:sp>
          <p:nvSpPr>
            <p:cNvPr name="TextBox 12" id="12"/>
            <p:cNvSpPr txBox="true"/>
            <p:nvPr/>
          </p:nvSpPr>
          <p:spPr>
            <a:xfrm rot="0">
              <a:off x="11910911" y="2041097"/>
              <a:ext cx="3536731" cy="3346318"/>
            </a:xfrm>
            <a:prstGeom prst="rect">
              <a:avLst/>
            </a:prstGeom>
          </p:spPr>
          <p:txBody>
            <a:bodyPr anchor="t" rtlCol="false" tIns="0" lIns="0" bIns="0" rIns="0">
              <a:spAutoFit/>
            </a:bodyPr>
            <a:lstStyle/>
            <a:p>
              <a:pPr algn="ctr" marL="0" indent="0" lvl="0">
                <a:lnSpc>
                  <a:spcPts val="2892"/>
                </a:lnSpc>
                <a:spcBef>
                  <a:spcPct val="0"/>
                </a:spcBef>
              </a:pPr>
              <a:r>
                <a:rPr lang="en-US" sz="2066">
                  <a:solidFill>
                    <a:srgbClr val="6B7280"/>
                  </a:solidFill>
                  <a:latin typeface="Inter"/>
                  <a:ea typeface="Inter"/>
                  <a:cs typeface="Inter"/>
                  <a:sym typeface="Inter"/>
                </a:rPr>
                <a:t>Predict</a:t>
              </a:r>
              <a:r>
                <a:rPr lang="en-US" sz="2066">
                  <a:solidFill>
                    <a:srgbClr val="6B7280"/>
                  </a:solidFill>
                  <a:latin typeface="Inter"/>
                  <a:ea typeface="Inter"/>
                  <a:cs typeface="Inter"/>
                  <a:sym typeface="Inter"/>
                </a:rPr>
                <a:t> probability of fraud based on combined feature influence.</a:t>
              </a:r>
            </a:p>
            <a:p>
              <a:pPr algn="ctr" marL="0" indent="0" lvl="0">
                <a:lnSpc>
                  <a:spcPts val="2892"/>
                </a:lnSpc>
                <a:spcBef>
                  <a:spcPct val="0"/>
                </a:spcBef>
              </a:pPr>
            </a:p>
            <a:p>
              <a:pPr algn="ctr" marL="0" indent="0" lvl="0">
                <a:lnSpc>
                  <a:spcPts val="2892"/>
                </a:lnSpc>
                <a:spcBef>
                  <a:spcPct val="0"/>
                </a:spcBef>
              </a:pPr>
            </a:p>
            <a:p>
              <a:pPr algn="ctr" marL="0" indent="0" lvl="0">
                <a:lnSpc>
                  <a:spcPts val="2892"/>
                </a:lnSpc>
                <a:spcBef>
                  <a:spcPct val="0"/>
                </a:spcBef>
              </a:pPr>
            </a:p>
          </p:txBody>
        </p:sp>
        <p:sp>
          <p:nvSpPr>
            <p:cNvPr name="TextBox 13" id="13"/>
            <p:cNvSpPr txBox="true"/>
            <p:nvPr/>
          </p:nvSpPr>
          <p:spPr>
            <a:xfrm rot="0">
              <a:off x="17686081" y="2041097"/>
              <a:ext cx="3536731" cy="1898518"/>
            </a:xfrm>
            <a:prstGeom prst="rect">
              <a:avLst/>
            </a:prstGeom>
          </p:spPr>
          <p:txBody>
            <a:bodyPr anchor="t" rtlCol="false" tIns="0" lIns="0" bIns="0" rIns="0">
              <a:spAutoFit/>
            </a:bodyPr>
            <a:lstStyle/>
            <a:p>
              <a:pPr algn="ctr" marL="0" indent="0" lvl="0">
                <a:lnSpc>
                  <a:spcPts val="2892"/>
                </a:lnSpc>
                <a:spcBef>
                  <a:spcPct val="0"/>
                </a:spcBef>
              </a:pPr>
              <a:r>
                <a:rPr lang="en-US" sz="2066">
                  <a:solidFill>
                    <a:srgbClr val="6B7280"/>
                  </a:solidFill>
                  <a:latin typeface="Inter"/>
                  <a:ea typeface="Inter"/>
                  <a:cs typeface="Inter"/>
                  <a:sym typeface="Inter"/>
                </a:rPr>
                <a:t>14</a:t>
              </a:r>
              <a:r>
                <a:rPr lang="en-US" sz="2066">
                  <a:solidFill>
                    <a:srgbClr val="6B7280"/>
                  </a:solidFill>
                  <a:latin typeface="Inter"/>
                  <a:ea typeface="Inter"/>
                  <a:cs typeface="Inter"/>
                  <a:sym typeface="Inter"/>
                </a:rPr>
                <a:t>0 frauds detecte</a:t>
              </a:r>
            </a:p>
            <a:p>
              <a:pPr algn="ctr" marL="0" indent="0" lvl="0">
                <a:lnSpc>
                  <a:spcPts val="2892"/>
                </a:lnSpc>
                <a:spcBef>
                  <a:spcPct val="0"/>
                </a:spcBef>
              </a:pPr>
              <a:r>
                <a:rPr lang="en-US" sz="2066">
                  <a:solidFill>
                    <a:srgbClr val="6B7280"/>
                  </a:solidFill>
                  <a:latin typeface="Inter"/>
                  <a:ea typeface="Inter"/>
                  <a:cs typeface="Inter"/>
                  <a:sym typeface="Inter"/>
                </a:rPr>
                <a:t>Accuracy: 99%   Precision: 100%  Recall: 88%</a:t>
              </a:r>
            </a:p>
          </p:txBody>
        </p:sp>
      </p:grpSp>
      <p:sp>
        <p:nvSpPr>
          <p:cNvPr name="Freeform 14" id="14"/>
          <p:cNvSpPr/>
          <p:nvPr/>
        </p:nvSpPr>
        <p:spPr>
          <a:xfrm flipH="false" flipV="false" rot="0">
            <a:off x="10391313" y="5143500"/>
            <a:ext cx="7203522" cy="2884949"/>
          </a:xfrm>
          <a:custGeom>
            <a:avLst/>
            <a:gdLst/>
            <a:ahLst/>
            <a:cxnLst/>
            <a:rect r="r" b="b" t="t" l="l"/>
            <a:pathLst>
              <a:path h="2884949" w="7203522">
                <a:moveTo>
                  <a:pt x="0" y="0"/>
                </a:moveTo>
                <a:lnTo>
                  <a:pt x="7203522" y="0"/>
                </a:lnTo>
                <a:lnTo>
                  <a:pt x="7203522" y="2884949"/>
                </a:lnTo>
                <a:lnTo>
                  <a:pt x="0" y="2884949"/>
                </a:lnTo>
                <a:lnTo>
                  <a:pt x="0" y="0"/>
                </a:lnTo>
                <a:close/>
              </a:path>
            </a:pathLst>
          </a:custGeom>
          <a:blipFill>
            <a:blip r:embed="rId2"/>
            <a:stretch>
              <a:fillRect l="0" t="0" r="0" b="0"/>
            </a:stretch>
          </a:blipFill>
          <a:ln w="38100" cap="sq">
            <a:solidFill>
              <a:srgbClr val="000000"/>
            </a:solidFill>
            <a:prstDash val="solid"/>
            <a:miter/>
          </a:ln>
        </p:spPr>
      </p:sp>
      <p:sp>
        <p:nvSpPr>
          <p:cNvPr name="Freeform 15" id="15"/>
          <p:cNvSpPr/>
          <p:nvPr/>
        </p:nvSpPr>
        <p:spPr>
          <a:xfrm flipH="false" flipV="false" rot="0">
            <a:off x="1146044" y="5143500"/>
            <a:ext cx="6067070" cy="5029084"/>
          </a:xfrm>
          <a:custGeom>
            <a:avLst/>
            <a:gdLst/>
            <a:ahLst/>
            <a:cxnLst/>
            <a:rect r="r" b="b" t="t" l="l"/>
            <a:pathLst>
              <a:path h="5029084" w="6067070">
                <a:moveTo>
                  <a:pt x="0" y="0"/>
                </a:moveTo>
                <a:lnTo>
                  <a:pt x="6067070" y="0"/>
                </a:lnTo>
                <a:lnTo>
                  <a:pt x="6067070" y="5029084"/>
                </a:lnTo>
                <a:lnTo>
                  <a:pt x="0" y="5029084"/>
                </a:lnTo>
                <a:lnTo>
                  <a:pt x="0" y="0"/>
                </a:lnTo>
                <a:close/>
              </a:path>
            </a:pathLst>
          </a:custGeom>
          <a:blipFill>
            <a:blip r:embed="rId3"/>
            <a:stretch>
              <a:fillRect l="-1934" t="0" r="0" b="0"/>
            </a:stretch>
          </a:blipFill>
          <a:ln w="38100" cap="sq">
            <a:solidFill>
              <a:srgbClr val="000000"/>
            </a:solidFill>
            <a:prstDash val="solid"/>
            <a:miter/>
          </a:ln>
        </p:spPr>
      </p:sp>
      <p:sp>
        <p:nvSpPr>
          <p:cNvPr name="TextBox 16" id="16"/>
          <p:cNvSpPr txBox="true"/>
          <p:nvPr/>
        </p:nvSpPr>
        <p:spPr>
          <a:xfrm rot="0">
            <a:off x="187185" y="371497"/>
            <a:ext cx="9238080" cy="869950"/>
          </a:xfrm>
          <a:prstGeom prst="rect">
            <a:avLst/>
          </a:prstGeom>
        </p:spPr>
        <p:txBody>
          <a:bodyPr anchor="t" rtlCol="false" tIns="0" lIns="0" bIns="0" rIns="0">
            <a:spAutoFit/>
          </a:bodyPr>
          <a:lstStyle/>
          <a:p>
            <a:pPr algn="just" marL="0" indent="0" lvl="0">
              <a:lnSpc>
                <a:spcPts val="6500"/>
              </a:lnSpc>
            </a:pPr>
            <a:r>
              <a:rPr lang="en-US" b="true" sz="6500">
                <a:solidFill>
                  <a:srgbClr val="1F1F1F"/>
                </a:solidFill>
                <a:latin typeface="Montserrat Bold"/>
                <a:ea typeface="Montserrat Bold"/>
                <a:cs typeface="Montserrat Bold"/>
                <a:sym typeface="Montserrat Bold"/>
              </a:rPr>
              <a:t>Logistic Regression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sp>
        <p:nvSpPr>
          <p:cNvPr name="TextBox 2" id="2"/>
          <p:cNvSpPr txBox="true"/>
          <p:nvPr/>
        </p:nvSpPr>
        <p:spPr>
          <a:xfrm rot="0">
            <a:off x="0" y="99040"/>
            <a:ext cx="6238930" cy="1120775"/>
          </a:xfrm>
          <a:prstGeom prst="rect">
            <a:avLst/>
          </a:prstGeom>
        </p:spPr>
        <p:txBody>
          <a:bodyPr anchor="t" rtlCol="false" tIns="0" lIns="0" bIns="0" rIns="0">
            <a:spAutoFit/>
          </a:bodyPr>
          <a:lstStyle/>
          <a:p>
            <a:pPr algn="ctr">
              <a:lnSpc>
                <a:spcPts val="9100"/>
              </a:lnSpc>
              <a:spcBef>
                <a:spcPct val="0"/>
              </a:spcBef>
            </a:pPr>
            <a:r>
              <a:rPr lang="en-US" b="true" sz="6500">
                <a:solidFill>
                  <a:srgbClr val="000000"/>
                </a:solidFill>
                <a:latin typeface="Montserrat Bold"/>
                <a:ea typeface="Montserrat Bold"/>
                <a:cs typeface="Montserrat Bold"/>
                <a:sym typeface="Montserrat Bold"/>
              </a:rPr>
              <a:t>Observations</a:t>
            </a:r>
          </a:p>
        </p:txBody>
      </p:sp>
      <p:sp>
        <p:nvSpPr>
          <p:cNvPr name="Freeform 3" id="3"/>
          <p:cNvSpPr/>
          <p:nvPr/>
        </p:nvSpPr>
        <p:spPr>
          <a:xfrm flipH="false" flipV="false" rot="0">
            <a:off x="363048" y="1359362"/>
            <a:ext cx="11134742" cy="6472069"/>
          </a:xfrm>
          <a:custGeom>
            <a:avLst/>
            <a:gdLst/>
            <a:ahLst/>
            <a:cxnLst/>
            <a:rect r="r" b="b" t="t" l="l"/>
            <a:pathLst>
              <a:path h="6472069" w="11134742">
                <a:moveTo>
                  <a:pt x="0" y="0"/>
                </a:moveTo>
                <a:lnTo>
                  <a:pt x="11134741" y="0"/>
                </a:lnTo>
                <a:lnTo>
                  <a:pt x="11134741" y="6472069"/>
                </a:lnTo>
                <a:lnTo>
                  <a:pt x="0" y="6472069"/>
                </a:lnTo>
                <a:lnTo>
                  <a:pt x="0" y="0"/>
                </a:lnTo>
                <a:close/>
              </a:path>
            </a:pathLst>
          </a:custGeom>
          <a:blipFill>
            <a:blip r:embed="rId2"/>
            <a:stretch>
              <a:fillRect l="0" t="0" r="0" b="0"/>
            </a:stretch>
          </a:blipFill>
          <a:ln w="38100" cap="sq">
            <a:solidFill>
              <a:srgbClr val="000000"/>
            </a:solidFill>
            <a:prstDash val="solid"/>
            <a:miter/>
          </a:ln>
        </p:spPr>
      </p:sp>
      <p:sp>
        <p:nvSpPr>
          <p:cNvPr name="TextBox 4" id="4"/>
          <p:cNvSpPr txBox="true"/>
          <p:nvPr/>
        </p:nvSpPr>
        <p:spPr>
          <a:xfrm rot="0">
            <a:off x="3977182" y="7775956"/>
            <a:ext cx="5597684" cy="353348"/>
          </a:xfrm>
          <a:prstGeom prst="rect">
            <a:avLst/>
          </a:prstGeom>
        </p:spPr>
        <p:txBody>
          <a:bodyPr anchor="t" rtlCol="false" tIns="0" lIns="0" bIns="0" rIns="0">
            <a:spAutoFit/>
          </a:bodyPr>
          <a:lstStyle/>
          <a:p>
            <a:pPr algn="just" marL="0" indent="0" lvl="0">
              <a:lnSpc>
                <a:spcPts val="2942"/>
              </a:lnSpc>
              <a:spcBef>
                <a:spcPct val="0"/>
              </a:spcBef>
            </a:pPr>
          </a:p>
        </p:txBody>
      </p:sp>
      <p:sp>
        <p:nvSpPr>
          <p:cNvPr name="TextBox 5" id="5"/>
          <p:cNvSpPr txBox="true"/>
          <p:nvPr/>
        </p:nvSpPr>
        <p:spPr>
          <a:xfrm rot="0">
            <a:off x="3977182" y="8230073"/>
            <a:ext cx="6218479" cy="662349"/>
          </a:xfrm>
          <a:prstGeom prst="rect">
            <a:avLst/>
          </a:prstGeom>
        </p:spPr>
        <p:txBody>
          <a:bodyPr anchor="t" rtlCol="false" tIns="0" lIns="0" bIns="0" rIns="0">
            <a:spAutoFit/>
          </a:bodyPr>
          <a:lstStyle/>
          <a:p>
            <a:pPr algn="l" marL="0" indent="0" lvl="0">
              <a:lnSpc>
                <a:spcPts val="2696"/>
              </a:lnSpc>
              <a:spcBef>
                <a:spcPct val="0"/>
              </a:spcBef>
            </a:pPr>
            <a:r>
              <a:rPr lang="en-US" sz="1925">
                <a:solidFill>
                  <a:srgbClr val="6B7280"/>
                </a:solidFill>
                <a:latin typeface="Inter"/>
                <a:ea typeface="Inter"/>
                <a:cs typeface="Inter"/>
                <a:sym typeface="Inter"/>
              </a:rPr>
              <a:t>96% have 1 attempt; 2-5 attempts are potential outliers.</a:t>
            </a:r>
          </a:p>
        </p:txBody>
      </p:sp>
      <p:grpSp>
        <p:nvGrpSpPr>
          <p:cNvPr name="Group 6" id="6"/>
          <p:cNvGrpSpPr/>
          <p:nvPr/>
        </p:nvGrpSpPr>
        <p:grpSpPr>
          <a:xfrm rot="0">
            <a:off x="1670351" y="8129304"/>
            <a:ext cx="8775862" cy="1538327"/>
            <a:chOff x="0" y="0"/>
            <a:chExt cx="2747186" cy="481556"/>
          </a:xfrm>
        </p:grpSpPr>
        <p:sp>
          <p:nvSpPr>
            <p:cNvPr name="Freeform 7" id="7"/>
            <p:cNvSpPr/>
            <p:nvPr/>
          </p:nvSpPr>
          <p:spPr>
            <a:xfrm flipH="false" flipV="false" rot="0">
              <a:off x="0" y="0"/>
              <a:ext cx="2747186" cy="481556"/>
            </a:xfrm>
            <a:custGeom>
              <a:avLst/>
              <a:gdLst/>
              <a:ahLst/>
              <a:cxnLst/>
              <a:rect r="r" b="b" t="t" l="l"/>
              <a:pathLst>
                <a:path h="481556" w="2747186">
                  <a:moveTo>
                    <a:pt x="31759" y="0"/>
                  </a:moveTo>
                  <a:lnTo>
                    <a:pt x="2715427" y="0"/>
                  </a:lnTo>
                  <a:cubicBezTo>
                    <a:pt x="2732967" y="0"/>
                    <a:pt x="2747186" y="14219"/>
                    <a:pt x="2747186" y="31759"/>
                  </a:cubicBezTo>
                  <a:lnTo>
                    <a:pt x="2747186" y="449798"/>
                  </a:lnTo>
                  <a:cubicBezTo>
                    <a:pt x="2747186" y="467337"/>
                    <a:pt x="2732967" y="481556"/>
                    <a:pt x="2715427" y="481556"/>
                  </a:cubicBezTo>
                  <a:lnTo>
                    <a:pt x="31759" y="481556"/>
                  </a:lnTo>
                  <a:cubicBezTo>
                    <a:pt x="14219" y="481556"/>
                    <a:pt x="0" y="467337"/>
                    <a:pt x="0" y="449798"/>
                  </a:cubicBezTo>
                  <a:lnTo>
                    <a:pt x="0" y="31759"/>
                  </a:lnTo>
                  <a:cubicBezTo>
                    <a:pt x="0" y="14219"/>
                    <a:pt x="14219" y="0"/>
                    <a:pt x="31759" y="0"/>
                  </a:cubicBezTo>
                  <a:close/>
                </a:path>
              </a:pathLst>
            </a:custGeom>
            <a:solidFill>
              <a:srgbClr val="D1FAE5"/>
            </a:solidFill>
          </p:spPr>
        </p:sp>
        <p:sp>
          <p:nvSpPr>
            <p:cNvPr name="TextBox 8" id="8"/>
            <p:cNvSpPr txBox="true"/>
            <p:nvPr/>
          </p:nvSpPr>
          <p:spPr>
            <a:xfrm>
              <a:off x="0" y="-38100"/>
              <a:ext cx="2747186" cy="519656"/>
            </a:xfrm>
            <a:prstGeom prst="rect">
              <a:avLst/>
            </a:prstGeom>
          </p:spPr>
          <p:txBody>
            <a:bodyPr anchor="ctr" rtlCol="false" tIns="42740" lIns="42740" bIns="42740" rIns="42740"/>
            <a:lstStyle/>
            <a:p>
              <a:pPr algn="ctr" marL="0" indent="0" lvl="0">
                <a:lnSpc>
                  <a:spcPts val="3499"/>
                </a:lnSpc>
              </a:pPr>
            </a:p>
          </p:txBody>
        </p:sp>
      </p:grpSp>
      <p:sp>
        <p:nvSpPr>
          <p:cNvPr name="TextBox 9" id="9"/>
          <p:cNvSpPr txBox="true"/>
          <p:nvPr/>
        </p:nvSpPr>
        <p:spPr>
          <a:xfrm rot="0">
            <a:off x="4121224" y="5957130"/>
            <a:ext cx="6686284" cy="353348"/>
          </a:xfrm>
          <a:prstGeom prst="rect">
            <a:avLst/>
          </a:prstGeom>
        </p:spPr>
        <p:txBody>
          <a:bodyPr anchor="t" rtlCol="false" tIns="0" lIns="0" bIns="0" rIns="0">
            <a:spAutoFit/>
          </a:bodyPr>
          <a:lstStyle/>
          <a:p>
            <a:pPr algn="just" marL="0" indent="0" lvl="0">
              <a:lnSpc>
                <a:spcPts val="2942"/>
              </a:lnSpc>
              <a:spcBef>
                <a:spcPct val="0"/>
              </a:spcBef>
            </a:pPr>
          </a:p>
        </p:txBody>
      </p:sp>
      <p:sp>
        <p:nvSpPr>
          <p:cNvPr name="TextBox 10" id="10"/>
          <p:cNvSpPr txBox="true"/>
          <p:nvPr/>
        </p:nvSpPr>
        <p:spPr>
          <a:xfrm rot="0">
            <a:off x="2634872" y="8204567"/>
            <a:ext cx="7358463" cy="656270"/>
          </a:xfrm>
          <a:prstGeom prst="rect">
            <a:avLst/>
          </a:prstGeom>
        </p:spPr>
        <p:txBody>
          <a:bodyPr anchor="t" rtlCol="false" tIns="0" lIns="0" bIns="0" rIns="0">
            <a:spAutoFit/>
          </a:bodyPr>
          <a:lstStyle/>
          <a:p>
            <a:pPr algn="l">
              <a:lnSpc>
                <a:spcPts val="2677"/>
              </a:lnSpc>
              <a:spcBef>
                <a:spcPct val="0"/>
              </a:spcBef>
            </a:pPr>
          </a:p>
          <a:p>
            <a:pPr algn="l" marL="0" indent="0" lvl="0">
              <a:lnSpc>
                <a:spcPts val="2677"/>
              </a:lnSpc>
              <a:spcBef>
                <a:spcPct val="0"/>
              </a:spcBef>
            </a:pPr>
          </a:p>
        </p:txBody>
      </p:sp>
      <p:sp>
        <p:nvSpPr>
          <p:cNvPr name="TextBox 11" id="11"/>
          <p:cNvSpPr txBox="true"/>
          <p:nvPr/>
        </p:nvSpPr>
        <p:spPr>
          <a:xfrm rot="0">
            <a:off x="1930949" y="8314621"/>
            <a:ext cx="7922192" cy="1071463"/>
          </a:xfrm>
          <a:prstGeom prst="rect">
            <a:avLst/>
          </a:prstGeom>
        </p:spPr>
        <p:txBody>
          <a:bodyPr anchor="t" rtlCol="false" tIns="0" lIns="0" bIns="0" rIns="0">
            <a:spAutoFit/>
          </a:bodyPr>
          <a:lstStyle/>
          <a:p>
            <a:pPr algn="ctr">
              <a:lnSpc>
                <a:spcPts val="2892"/>
              </a:lnSpc>
              <a:spcBef>
                <a:spcPct val="0"/>
              </a:spcBef>
            </a:pPr>
            <a:r>
              <a:rPr lang="en-US" sz="2066">
                <a:solidFill>
                  <a:srgbClr val="6B7280"/>
                </a:solidFill>
                <a:latin typeface="Montserrat"/>
                <a:ea typeface="Montserrat"/>
                <a:cs typeface="Montserrat"/>
                <a:sym typeface="Montserrat"/>
              </a:rPr>
              <a:t>The analysis shows that Login Attempts and Transaction Amount are the most important features influencing fraud detection.</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458114" y="1616592"/>
            <a:ext cx="8518382" cy="4155476"/>
            <a:chOff x="0" y="0"/>
            <a:chExt cx="11357843" cy="5540634"/>
          </a:xfrm>
        </p:grpSpPr>
        <p:sp>
          <p:nvSpPr>
            <p:cNvPr name="TextBox 3" id="3"/>
            <p:cNvSpPr txBox="true"/>
            <p:nvPr/>
          </p:nvSpPr>
          <p:spPr>
            <a:xfrm rot="0">
              <a:off x="2949722" y="860144"/>
              <a:ext cx="7568733" cy="622619"/>
            </a:xfrm>
            <a:prstGeom prst="rect">
              <a:avLst/>
            </a:prstGeom>
          </p:spPr>
          <p:txBody>
            <a:bodyPr anchor="t" rtlCol="false" tIns="0" lIns="0" bIns="0" rIns="0">
              <a:spAutoFit/>
            </a:bodyPr>
            <a:lstStyle/>
            <a:p>
              <a:pPr algn="just" marL="0" indent="0" lvl="0">
                <a:lnSpc>
                  <a:spcPts val="3958"/>
                </a:lnSpc>
                <a:spcBef>
                  <a:spcPct val="0"/>
                </a:spcBef>
              </a:pPr>
              <a:r>
                <a:rPr lang="en-US" b="true" sz="2827">
                  <a:solidFill>
                    <a:srgbClr val="6B7280"/>
                  </a:solidFill>
                  <a:latin typeface="Inter Bold"/>
                  <a:ea typeface="Inter Bold"/>
                  <a:cs typeface="Inter Bold"/>
                  <a:sym typeface="Inter Bold"/>
                </a:rPr>
                <a:t>Login Attempts</a:t>
              </a:r>
            </a:p>
          </p:txBody>
        </p:sp>
        <p:sp>
          <p:nvSpPr>
            <p:cNvPr name="TextBox 4" id="4"/>
            <p:cNvSpPr txBox="true"/>
            <p:nvPr/>
          </p:nvSpPr>
          <p:spPr>
            <a:xfrm rot="0">
              <a:off x="2949722" y="1684231"/>
              <a:ext cx="8408121" cy="1167356"/>
            </a:xfrm>
            <a:prstGeom prst="rect">
              <a:avLst/>
            </a:prstGeom>
          </p:spPr>
          <p:txBody>
            <a:bodyPr anchor="t" rtlCol="false" tIns="0" lIns="0" bIns="0" rIns="0">
              <a:spAutoFit/>
            </a:bodyPr>
            <a:lstStyle/>
            <a:p>
              <a:pPr algn="l" marL="0" indent="0" lvl="0">
                <a:lnSpc>
                  <a:spcPts val="3626"/>
                </a:lnSpc>
                <a:spcBef>
                  <a:spcPct val="0"/>
                </a:spcBef>
              </a:pPr>
              <a:r>
                <a:rPr lang="en-US" sz="2590">
                  <a:solidFill>
                    <a:srgbClr val="6B7280"/>
                  </a:solidFill>
                  <a:latin typeface="Inter"/>
                  <a:ea typeface="Inter"/>
                  <a:cs typeface="Inter"/>
                  <a:sym typeface="Inter"/>
                </a:rPr>
                <a:t>96% have 1 attempt; 2-5 attempts are potential outliers.</a:t>
              </a:r>
            </a:p>
          </p:txBody>
        </p:sp>
        <p:grpSp>
          <p:nvGrpSpPr>
            <p:cNvPr name="Group 5" id="5"/>
            <p:cNvGrpSpPr/>
            <p:nvPr/>
          </p:nvGrpSpPr>
          <p:grpSpPr>
            <a:xfrm rot="0">
              <a:off x="0" y="0"/>
              <a:ext cx="11357843" cy="5540634"/>
              <a:chOff x="0" y="0"/>
              <a:chExt cx="1982158" cy="966945"/>
            </a:xfrm>
          </p:grpSpPr>
          <p:sp>
            <p:nvSpPr>
              <p:cNvPr name="Freeform 6" id="6"/>
              <p:cNvSpPr/>
              <p:nvPr/>
            </p:nvSpPr>
            <p:spPr>
              <a:xfrm flipH="false" flipV="false" rot="0">
                <a:off x="0" y="0"/>
                <a:ext cx="1982157" cy="966945"/>
              </a:xfrm>
              <a:custGeom>
                <a:avLst/>
                <a:gdLst/>
                <a:ahLst/>
                <a:cxnLst/>
                <a:rect r="r" b="b" t="t" l="l"/>
                <a:pathLst>
                  <a:path h="966945" w="1982157">
                    <a:moveTo>
                      <a:pt x="44016" y="0"/>
                    </a:moveTo>
                    <a:lnTo>
                      <a:pt x="1938141" y="0"/>
                    </a:lnTo>
                    <a:cubicBezTo>
                      <a:pt x="1949815" y="0"/>
                      <a:pt x="1961011" y="4637"/>
                      <a:pt x="1969265" y="12892"/>
                    </a:cubicBezTo>
                    <a:cubicBezTo>
                      <a:pt x="1977520" y="21147"/>
                      <a:pt x="1982157" y="32342"/>
                      <a:pt x="1982157" y="44016"/>
                    </a:cubicBezTo>
                    <a:lnTo>
                      <a:pt x="1982157" y="922929"/>
                    </a:lnTo>
                    <a:cubicBezTo>
                      <a:pt x="1982157" y="934603"/>
                      <a:pt x="1977520" y="945798"/>
                      <a:pt x="1969265" y="954053"/>
                    </a:cubicBezTo>
                    <a:cubicBezTo>
                      <a:pt x="1961011" y="962308"/>
                      <a:pt x="1949815" y="966945"/>
                      <a:pt x="1938141" y="966945"/>
                    </a:cubicBezTo>
                    <a:lnTo>
                      <a:pt x="44016" y="966945"/>
                    </a:lnTo>
                    <a:cubicBezTo>
                      <a:pt x="19707" y="966945"/>
                      <a:pt x="0" y="947238"/>
                      <a:pt x="0" y="922929"/>
                    </a:cubicBezTo>
                    <a:lnTo>
                      <a:pt x="0" y="44016"/>
                    </a:lnTo>
                    <a:cubicBezTo>
                      <a:pt x="0" y="19707"/>
                      <a:pt x="19707" y="0"/>
                      <a:pt x="44016" y="0"/>
                    </a:cubicBezTo>
                    <a:close/>
                  </a:path>
                </a:pathLst>
              </a:custGeom>
              <a:solidFill>
                <a:srgbClr val="D1FAE5"/>
              </a:solidFill>
              <a:ln cap="rnd">
                <a:noFill/>
                <a:prstDash val="solid"/>
                <a:round/>
              </a:ln>
            </p:spPr>
          </p:sp>
          <p:sp>
            <p:nvSpPr>
              <p:cNvPr name="TextBox 7" id="7"/>
              <p:cNvSpPr txBox="true"/>
              <p:nvPr/>
            </p:nvSpPr>
            <p:spPr>
              <a:xfrm>
                <a:off x="0" y="-38100"/>
                <a:ext cx="1982158" cy="1005045"/>
              </a:xfrm>
              <a:prstGeom prst="rect">
                <a:avLst/>
              </a:prstGeom>
            </p:spPr>
            <p:txBody>
              <a:bodyPr anchor="ctr" rtlCol="false" tIns="42740" lIns="42740" bIns="42740" rIns="42740"/>
              <a:lstStyle/>
              <a:p>
                <a:pPr algn="ctr" marL="0" indent="0" lvl="0">
                  <a:lnSpc>
                    <a:spcPts val="3499"/>
                  </a:lnSpc>
                </a:pPr>
              </a:p>
            </p:txBody>
          </p:sp>
        </p:grpSp>
        <p:sp>
          <p:nvSpPr>
            <p:cNvPr name="TextBox 8" id="8"/>
            <p:cNvSpPr txBox="true"/>
            <p:nvPr/>
          </p:nvSpPr>
          <p:spPr>
            <a:xfrm rot="0">
              <a:off x="1134759" y="1628954"/>
              <a:ext cx="9949516" cy="1165978"/>
            </a:xfrm>
            <a:prstGeom prst="rect">
              <a:avLst/>
            </a:prstGeom>
          </p:spPr>
          <p:txBody>
            <a:bodyPr anchor="t" rtlCol="false" tIns="0" lIns="0" bIns="0" rIns="0">
              <a:spAutoFit/>
            </a:bodyPr>
            <a:lstStyle/>
            <a:p>
              <a:pPr algn="l">
                <a:lnSpc>
                  <a:spcPts val="3602"/>
                </a:lnSpc>
                <a:spcBef>
                  <a:spcPct val="0"/>
                </a:spcBef>
              </a:pPr>
            </a:p>
            <a:p>
              <a:pPr algn="l" marL="0" indent="0" lvl="0">
                <a:lnSpc>
                  <a:spcPts val="3602"/>
                </a:lnSpc>
                <a:spcBef>
                  <a:spcPct val="0"/>
                </a:spcBef>
              </a:pPr>
            </a:p>
          </p:txBody>
        </p:sp>
        <p:sp>
          <p:nvSpPr>
            <p:cNvPr name="TextBox 9" id="9"/>
            <p:cNvSpPr txBox="true"/>
            <p:nvPr/>
          </p:nvSpPr>
          <p:spPr>
            <a:xfrm rot="0">
              <a:off x="382106" y="381388"/>
              <a:ext cx="10476786" cy="4537584"/>
            </a:xfrm>
            <a:prstGeom prst="rect">
              <a:avLst/>
            </a:prstGeom>
          </p:spPr>
          <p:txBody>
            <a:bodyPr anchor="t" rtlCol="false" tIns="0" lIns="0" bIns="0" rIns="0">
              <a:spAutoFit/>
            </a:bodyPr>
            <a:lstStyle/>
            <a:p>
              <a:pPr algn="just">
                <a:lnSpc>
                  <a:spcPts val="3391"/>
                </a:lnSpc>
                <a:spcBef>
                  <a:spcPct val="0"/>
                </a:spcBef>
              </a:pPr>
              <a:r>
                <a:rPr lang="en-US" sz="2422">
                  <a:solidFill>
                    <a:srgbClr val="6B7280"/>
                  </a:solidFill>
                  <a:latin typeface="Inter"/>
                  <a:ea typeface="Inter"/>
                  <a:cs typeface="Inter"/>
                  <a:sym typeface="Inter"/>
                </a:rPr>
                <a:t>K-Means clustering identified 20 anomalous transactions (0.8%), while Z-Score analysis detected 140 statistical outliers (5.6%). Logistic Regression, which considers all features together, achieved the best performance with 99% accuracy, high precision, and strong recall. Overall, fraud detection is driven by extreme transaction behavior and the combined effect of multiple features rather than any single variable.</a:t>
              </a:r>
            </a:p>
          </p:txBody>
        </p:sp>
      </p:grpSp>
      <p:sp>
        <p:nvSpPr>
          <p:cNvPr name="TextBox 10" id="10"/>
          <p:cNvSpPr txBox="true"/>
          <p:nvPr/>
        </p:nvSpPr>
        <p:spPr>
          <a:xfrm rot="0">
            <a:off x="0" y="66571"/>
            <a:ext cx="9752796" cy="1120775"/>
          </a:xfrm>
          <a:prstGeom prst="rect">
            <a:avLst/>
          </a:prstGeom>
        </p:spPr>
        <p:txBody>
          <a:bodyPr anchor="t" rtlCol="false" tIns="0" lIns="0" bIns="0" rIns="0">
            <a:spAutoFit/>
          </a:bodyPr>
          <a:lstStyle/>
          <a:p>
            <a:pPr algn="l" marL="0" indent="0" lvl="0">
              <a:lnSpc>
                <a:spcPts val="9100"/>
              </a:lnSpc>
            </a:pPr>
            <a:r>
              <a:rPr lang="en-US" b="true" sz="6500">
                <a:solidFill>
                  <a:srgbClr val="1F1F1F"/>
                </a:solidFill>
                <a:latin typeface="Montserrat Bold"/>
                <a:ea typeface="Montserrat Bold"/>
                <a:cs typeface="Montserrat Bold"/>
                <a:sym typeface="Montserrat Bold"/>
              </a:rPr>
              <a:t>Conclusions</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4034298" y="2563710"/>
            <a:ext cx="11319155" cy="3552748"/>
            <a:chOff x="0" y="0"/>
            <a:chExt cx="15092206" cy="4736997"/>
          </a:xfrm>
        </p:grpSpPr>
        <p:sp>
          <p:nvSpPr>
            <p:cNvPr name="TextBox 3" id="3"/>
            <p:cNvSpPr txBox="true"/>
            <p:nvPr/>
          </p:nvSpPr>
          <p:spPr>
            <a:xfrm rot="0">
              <a:off x="0" y="-247650"/>
              <a:ext cx="13360357" cy="2881094"/>
            </a:xfrm>
            <a:prstGeom prst="rect">
              <a:avLst/>
            </a:prstGeom>
          </p:spPr>
          <p:txBody>
            <a:bodyPr anchor="t" rtlCol="false" tIns="0" lIns="0" bIns="0" rIns="0">
              <a:spAutoFit/>
            </a:bodyPr>
            <a:lstStyle/>
            <a:p>
              <a:pPr algn="ctr" marL="0" indent="0" lvl="0">
                <a:lnSpc>
                  <a:spcPts val="18187"/>
                </a:lnSpc>
              </a:pPr>
              <a:r>
                <a:rPr lang="en-US" b="true" sz="12990">
                  <a:solidFill>
                    <a:srgbClr val="1F1F1F"/>
                  </a:solidFill>
                  <a:latin typeface="Montserrat Bold"/>
                  <a:ea typeface="Montserrat Bold"/>
                  <a:cs typeface="Montserrat Bold"/>
                  <a:sym typeface="Montserrat Bold"/>
                </a:rPr>
                <a:t>Thank</a:t>
              </a:r>
            </a:p>
          </p:txBody>
        </p:sp>
        <p:sp>
          <p:nvSpPr>
            <p:cNvPr name="TextBox 4" id="4"/>
            <p:cNvSpPr txBox="true"/>
            <p:nvPr/>
          </p:nvSpPr>
          <p:spPr>
            <a:xfrm rot="0">
              <a:off x="0" y="1855903"/>
              <a:ext cx="15092206" cy="2881094"/>
            </a:xfrm>
            <a:prstGeom prst="rect">
              <a:avLst/>
            </a:prstGeom>
          </p:spPr>
          <p:txBody>
            <a:bodyPr anchor="t" rtlCol="false" tIns="0" lIns="0" bIns="0" rIns="0">
              <a:spAutoFit/>
            </a:bodyPr>
            <a:lstStyle/>
            <a:p>
              <a:pPr algn="ctr" marL="0" indent="0" lvl="0">
                <a:lnSpc>
                  <a:spcPts val="18187"/>
                </a:lnSpc>
              </a:pPr>
              <a:r>
                <a:rPr lang="en-US" b="true" sz="12990">
                  <a:solidFill>
                    <a:srgbClr val="10B981"/>
                  </a:solidFill>
                  <a:latin typeface="Montserrat Bold"/>
                  <a:ea typeface="Montserrat Bold"/>
                  <a:cs typeface="Montserrat Bold"/>
                  <a:sym typeface="Montserrat Bold"/>
                </a:rPr>
                <a:t>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DAHGJI5tgko</dc:identifier>
  <dcterms:modified xsi:type="dcterms:W3CDTF">2011-08-01T06:04:30Z</dcterms:modified>
  <cp:revision>1</cp:revision>
  <dc:title>Banking Fraud Detection: EDA &amp; ML Summary</dc:title>
</cp:coreProperties>
</file>